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6" r:id="rId7"/>
    <p:sldId id="272" r:id="rId8"/>
    <p:sldId id="273" r:id="rId9"/>
    <p:sldId id="279" r:id="rId10"/>
    <p:sldId id="274" r:id="rId11"/>
    <p:sldId id="275" r:id="rId12"/>
    <p:sldId id="276" r:id="rId13"/>
    <p:sldId id="277" r:id="rId14"/>
    <p:sldId id="278" r:id="rId15"/>
    <p:sldId id="280" r:id="rId16"/>
    <p:sldId id="281" r:id="rId17"/>
    <p:sldId id="282" r:id="rId18"/>
    <p:sldId id="283" r:id="rId19"/>
    <p:sldId id="284" r:id="rId20"/>
    <p:sldId id="285" r:id="rId21"/>
    <p:sldId id="286" r:id="rId22"/>
    <p:sldId id="267" r:id="rId23"/>
    <p:sldId id="261" r:id="rId24"/>
    <p:sldId id="262" r:id="rId25"/>
    <p:sldId id="263" r:id="rId26"/>
    <p:sldId id="269" r:id="rId27"/>
    <p:sldId id="264" r:id="rId28"/>
    <p:sldId id="265" r:id="rId29"/>
    <p:sldId id="270" r:id="rId30"/>
    <p:sldId id="271" r:id="rId31"/>
    <p:sldId id="26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1" d="100"/>
          <a:sy n="51" d="100"/>
        </p:scale>
        <p:origin x="1256"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3267A-F441-4AE0-8248-0ABAEF50A240}" type="datetimeFigureOut">
              <a:rPr lang="en-IN" smtClean="0"/>
              <a:t>01-09-2024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752858-B227-49AF-8D78-A60E1DD95C0E}" type="slidenum">
              <a:rPr lang="en-IN" smtClean="0"/>
              <a:t>‹#›</a:t>
            </a:fld>
            <a:endParaRPr lang="en-IN"/>
          </a:p>
        </p:txBody>
      </p:sp>
    </p:spTree>
    <p:extLst>
      <p:ext uri="{BB962C8B-B14F-4D97-AF65-F5344CB8AC3E}">
        <p14:creationId xmlns:p14="http://schemas.microsoft.com/office/powerpoint/2010/main" val="658326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752858-B227-49AF-8D78-A60E1DD95C0E}" type="slidenum">
              <a:rPr lang="en-IN" smtClean="0"/>
              <a:t>1</a:t>
            </a:fld>
            <a:endParaRPr lang="en-IN"/>
          </a:p>
        </p:txBody>
      </p:sp>
    </p:spTree>
    <p:extLst>
      <p:ext uri="{BB962C8B-B14F-4D97-AF65-F5344CB8AC3E}">
        <p14:creationId xmlns:p14="http://schemas.microsoft.com/office/powerpoint/2010/main" val="3273837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752858-B227-49AF-8D78-A60E1DD95C0E}" type="slidenum">
              <a:rPr lang="en-IN" smtClean="0"/>
              <a:t>2</a:t>
            </a:fld>
            <a:endParaRPr lang="en-IN"/>
          </a:p>
        </p:txBody>
      </p:sp>
    </p:spTree>
    <p:extLst>
      <p:ext uri="{BB962C8B-B14F-4D97-AF65-F5344CB8AC3E}">
        <p14:creationId xmlns:p14="http://schemas.microsoft.com/office/powerpoint/2010/main" val="706178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3471E-F66B-9C18-CD14-C489BCF697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2C6ACBA-7706-2842-1CF4-5B7E6E760F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D9BC164-9A7D-D212-E165-4D6C0AB160C7}"/>
              </a:ext>
            </a:extLst>
          </p:cNvPr>
          <p:cNvSpPr>
            <a:spLocks noGrp="1"/>
          </p:cNvSpPr>
          <p:nvPr>
            <p:ph type="dt" sz="half" idx="10"/>
          </p:nvPr>
        </p:nvSpPr>
        <p:spPr/>
        <p:txBody>
          <a:bodyPr/>
          <a:lstStyle/>
          <a:p>
            <a:fld id="{FB84FBB2-C1B7-4EAF-B9EB-6395268400D7}" type="datetimeFigureOut">
              <a:rPr lang="en-IN" smtClean="0"/>
              <a:t>01-09-2024</a:t>
            </a:fld>
            <a:endParaRPr lang="en-IN"/>
          </a:p>
        </p:txBody>
      </p:sp>
      <p:sp>
        <p:nvSpPr>
          <p:cNvPr id="5" name="Footer Placeholder 4">
            <a:extLst>
              <a:ext uri="{FF2B5EF4-FFF2-40B4-BE49-F238E27FC236}">
                <a16:creationId xmlns:a16="http://schemas.microsoft.com/office/drawing/2014/main" id="{B7798FB1-4F7F-83CE-5456-AA9DA347BA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D05783-0476-7BD2-BA44-C1FC1404C5CC}"/>
              </a:ext>
            </a:extLst>
          </p:cNvPr>
          <p:cNvSpPr>
            <a:spLocks noGrp="1"/>
          </p:cNvSpPr>
          <p:nvPr>
            <p:ph type="sldNum" sz="quarter" idx="12"/>
          </p:nvPr>
        </p:nvSpPr>
        <p:spPr/>
        <p:txBody>
          <a:bodyPr/>
          <a:lstStyle/>
          <a:p>
            <a:fld id="{DB2553D8-B526-4F66-B087-E2099028758C}" type="slidenum">
              <a:rPr lang="en-IN" smtClean="0"/>
              <a:t>‹#›</a:t>
            </a:fld>
            <a:endParaRPr lang="en-IN"/>
          </a:p>
        </p:txBody>
      </p:sp>
    </p:spTree>
    <p:extLst>
      <p:ext uri="{BB962C8B-B14F-4D97-AF65-F5344CB8AC3E}">
        <p14:creationId xmlns:p14="http://schemas.microsoft.com/office/powerpoint/2010/main" val="3929445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15D58-085C-DEE3-BE3A-F639FB28D7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9199A9-2A8E-C3F9-48D3-D66A37B302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168368-2A01-D178-80A0-7CBDFD746C3D}"/>
              </a:ext>
            </a:extLst>
          </p:cNvPr>
          <p:cNvSpPr>
            <a:spLocks noGrp="1"/>
          </p:cNvSpPr>
          <p:nvPr>
            <p:ph type="dt" sz="half" idx="10"/>
          </p:nvPr>
        </p:nvSpPr>
        <p:spPr/>
        <p:txBody>
          <a:bodyPr/>
          <a:lstStyle/>
          <a:p>
            <a:fld id="{FB84FBB2-C1B7-4EAF-B9EB-6395268400D7}" type="datetimeFigureOut">
              <a:rPr lang="en-IN" smtClean="0"/>
              <a:t>01-09-2024</a:t>
            </a:fld>
            <a:endParaRPr lang="en-IN"/>
          </a:p>
        </p:txBody>
      </p:sp>
      <p:sp>
        <p:nvSpPr>
          <p:cNvPr id="5" name="Footer Placeholder 4">
            <a:extLst>
              <a:ext uri="{FF2B5EF4-FFF2-40B4-BE49-F238E27FC236}">
                <a16:creationId xmlns:a16="http://schemas.microsoft.com/office/drawing/2014/main" id="{8417FF09-5691-8CFC-CB74-1FCBE2A754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9D37EB-5064-787D-9422-DBD234F7AFD7}"/>
              </a:ext>
            </a:extLst>
          </p:cNvPr>
          <p:cNvSpPr>
            <a:spLocks noGrp="1"/>
          </p:cNvSpPr>
          <p:nvPr>
            <p:ph type="sldNum" sz="quarter" idx="12"/>
          </p:nvPr>
        </p:nvSpPr>
        <p:spPr/>
        <p:txBody>
          <a:bodyPr/>
          <a:lstStyle/>
          <a:p>
            <a:fld id="{DB2553D8-B526-4F66-B087-E2099028758C}" type="slidenum">
              <a:rPr lang="en-IN" smtClean="0"/>
              <a:t>‹#›</a:t>
            </a:fld>
            <a:endParaRPr lang="en-IN"/>
          </a:p>
        </p:txBody>
      </p:sp>
    </p:spTree>
    <p:extLst>
      <p:ext uri="{BB962C8B-B14F-4D97-AF65-F5344CB8AC3E}">
        <p14:creationId xmlns:p14="http://schemas.microsoft.com/office/powerpoint/2010/main" val="1773743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7BC87-CF2E-5EC7-9916-4507D84D8F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7231989-9247-9003-C775-E5347DD725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56B80F-9EB9-8DA9-5B63-DEE92D363280}"/>
              </a:ext>
            </a:extLst>
          </p:cNvPr>
          <p:cNvSpPr>
            <a:spLocks noGrp="1"/>
          </p:cNvSpPr>
          <p:nvPr>
            <p:ph type="dt" sz="half" idx="10"/>
          </p:nvPr>
        </p:nvSpPr>
        <p:spPr/>
        <p:txBody>
          <a:bodyPr/>
          <a:lstStyle/>
          <a:p>
            <a:fld id="{FB84FBB2-C1B7-4EAF-B9EB-6395268400D7}" type="datetimeFigureOut">
              <a:rPr lang="en-IN" smtClean="0"/>
              <a:t>01-09-2024</a:t>
            </a:fld>
            <a:endParaRPr lang="en-IN"/>
          </a:p>
        </p:txBody>
      </p:sp>
      <p:sp>
        <p:nvSpPr>
          <p:cNvPr id="5" name="Footer Placeholder 4">
            <a:extLst>
              <a:ext uri="{FF2B5EF4-FFF2-40B4-BE49-F238E27FC236}">
                <a16:creationId xmlns:a16="http://schemas.microsoft.com/office/drawing/2014/main" id="{86BB0618-F439-137B-8218-0E2128F105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0C09A4-60F9-7DDD-5D98-B1F77504A00F}"/>
              </a:ext>
            </a:extLst>
          </p:cNvPr>
          <p:cNvSpPr>
            <a:spLocks noGrp="1"/>
          </p:cNvSpPr>
          <p:nvPr>
            <p:ph type="sldNum" sz="quarter" idx="12"/>
          </p:nvPr>
        </p:nvSpPr>
        <p:spPr/>
        <p:txBody>
          <a:bodyPr/>
          <a:lstStyle/>
          <a:p>
            <a:fld id="{DB2553D8-B526-4F66-B087-E2099028758C}" type="slidenum">
              <a:rPr lang="en-IN" smtClean="0"/>
              <a:t>‹#›</a:t>
            </a:fld>
            <a:endParaRPr lang="en-IN"/>
          </a:p>
        </p:txBody>
      </p:sp>
    </p:spTree>
    <p:extLst>
      <p:ext uri="{BB962C8B-B14F-4D97-AF65-F5344CB8AC3E}">
        <p14:creationId xmlns:p14="http://schemas.microsoft.com/office/powerpoint/2010/main" val="110424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3C759-0D55-5D74-483F-73AE9ABBD9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95548A-1579-504F-CF59-3452DA20A2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798E23-FA52-594C-86A3-F24E66E4B2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E6223CD-2794-5004-C6EB-A74507A8AE44}"/>
              </a:ext>
            </a:extLst>
          </p:cNvPr>
          <p:cNvSpPr>
            <a:spLocks noGrp="1"/>
          </p:cNvSpPr>
          <p:nvPr>
            <p:ph type="dt" sz="half" idx="10"/>
          </p:nvPr>
        </p:nvSpPr>
        <p:spPr/>
        <p:txBody>
          <a:bodyPr/>
          <a:lstStyle/>
          <a:p>
            <a:fld id="{FB84FBB2-C1B7-4EAF-B9EB-6395268400D7}" type="datetimeFigureOut">
              <a:rPr lang="en-IN" smtClean="0"/>
              <a:t>01-09-2024</a:t>
            </a:fld>
            <a:endParaRPr lang="en-IN"/>
          </a:p>
        </p:txBody>
      </p:sp>
      <p:sp>
        <p:nvSpPr>
          <p:cNvPr id="6" name="Footer Placeholder 5">
            <a:extLst>
              <a:ext uri="{FF2B5EF4-FFF2-40B4-BE49-F238E27FC236}">
                <a16:creationId xmlns:a16="http://schemas.microsoft.com/office/drawing/2014/main" id="{B9ABA0A1-A2D4-8E27-7759-E9DF604984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833F54-19E5-693F-746B-F1A5FC617116}"/>
              </a:ext>
            </a:extLst>
          </p:cNvPr>
          <p:cNvSpPr>
            <a:spLocks noGrp="1"/>
          </p:cNvSpPr>
          <p:nvPr>
            <p:ph type="sldNum" sz="quarter" idx="12"/>
          </p:nvPr>
        </p:nvSpPr>
        <p:spPr/>
        <p:txBody>
          <a:bodyPr/>
          <a:lstStyle/>
          <a:p>
            <a:fld id="{DB2553D8-B526-4F66-B087-E2099028758C}" type="slidenum">
              <a:rPr lang="en-IN" smtClean="0"/>
              <a:t>‹#›</a:t>
            </a:fld>
            <a:endParaRPr lang="en-IN"/>
          </a:p>
        </p:txBody>
      </p:sp>
    </p:spTree>
    <p:extLst>
      <p:ext uri="{BB962C8B-B14F-4D97-AF65-F5344CB8AC3E}">
        <p14:creationId xmlns:p14="http://schemas.microsoft.com/office/powerpoint/2010/main" val="2014838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5FBEF-F836-F8FB-E95C-EA39956D68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ED4615-6D98-64B1-4FC5-C33560F399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5E668E-CF9F-7B4C-EB5D-B633C934B7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120BF42-AE89-4DD6-AB15-AF325E73D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48A42E-78DA-AE09-B497-962497FD4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33B01C-B741-65CA-0BEB-E50A69FA34A7}"/>
              </a:ext>
            </a:extLst>
          </p:cNvPr>
          <p:cNvSpPr>
            <a:spLocks noGrp="1"/>
          </p:cNvSpPr>
          <p:nvPr>
            <p:ph type="dt" sz="half" idx="10"/>
          </p:nvPr>
        </p:nvSpPr>
        <p:spPr/>
        <p:txBody>
          <a:bodyPr/>
          <a:lstStyle/>
          <a:p>
            <a:fld id="{FB84FBB2-C1B7-4EAF-B9EB-6395268400D7}" type="datetimeFigureOut">
              <a:rPr lang="en-IN" smtClean="0"/>
              <a:t>01-09-2024</a:t>
            </a:fld>
            <a:endParaRPr lang="en-IN"/>
          </a:p>
        </p:txBody>
      </p:sp>
      <p:sp>
        <p:nvSpPr>
          <p:cNvPr id="8" name="Footer Placeholder 7">
            <a:extLst>
              <a:ext uri="{FF2B5EF4-FFF2-40B4-BE49-F238E27FC236}">
                <a16:creationId xmlns:a16="http://schemas.microsoft.com/office/drawing/2014/main" id="{0FD81696-404A-5388-FC6B-31E1638EDE7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C04EEC8-D134-DBEA-610A-DE15A522A39B}"/>
              </a:ext>
            </a:extLst>
          </p:cNvPr>
          <p:cNvSpPr>
            <a:spLocks noGrp="1"/>
          </p:cNvSpPr>
          <p:nvPr>
            <p:ph type="sldNum" sz="quarter" idx="12"/>
          </p:nvPr>
        </p:nvSpPr>
        <p:spPr/>
        <p:txBody>
          <a:bodyPr/>
          <a:lstStyle/>
          <a:p>
            <a:fld id="{DB2553D8-B526-4F66-B087-E2099028758C}" type="slidenum">
              <a:rPr lang="en-IN" smtClean="0"/>
              <a:t>‹#›</a:t>
            </a:fld>
            <a:endParaRPr lang="en-IN"/>
          </a:p>
        </p:txBody>
      </p:sp>
    </p:spTree>
    <p:extLst>
      <p:ext uri="{BB962C8B-B14F-4D97-AF65-F5344CB8AC3E}">
        <p14:creationId xmlns:p14="http://schemas.microsoft.com/office/powerpoint/2010/main" val="3284733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278AB-3AC5-7B5E-4B9D-C798AF30A49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67B3109-66CC-E095-04A2-9AD5048D568D}"/>
              </a:ext>
            </a:extLst>
          </p:cNvPr>
          <p:cNvSpPr>
            <a:spLocks noGrp="1"/>
          </p:cNvSpPr>
          <p:nvPr>
            <p:ph type="dt" sz="half" idx="10"/>
          </p:nvPr>
        </p:nvSpPr>
        <p:spPr/>
        <p:txBody>
          <a:bodyPr/>
          <a:lstStyle/>
          <a:p>
            <a:fld id="{FB84FBB2-C1B7-4EAF-B9EB-6395268400D7}" type="datetimeFigureOut">
              <a:rPr lang="en-IN" smtClean="0"/>
              <a:t>01-09-2024</a:t>
            </a:fld>
            <a:endParaRPr lang="en-IN"/>
          </a:p>
        </p:txBody>
      </p:sp>
      <p:sp>
        <p:nvSpPr>
          <p:cNvPr id="4" name="Footer Placeholder 3">
            <a:extLst>
              <a:ext uri="{FF2B5EF4-FFF2-40B4-BE49-F238E27FC236}">
                <a16:creationId xmlns:a16="http://schemas.microsoft.com/office/drawing/2014/main" id="{53F8FF6E-00D2-F9AC-5BC9-C5966FA7B7B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4DCD628-5AAB-43EC-03EF-100CB454E04C}"/>
              </a:ext>
            </a:extLst>
          </p:cNvPr>
          <p:cNvSpPr>
            <a:spLocks noGrp="1"/>
          </p:cNvSpPr>
          <p:nvPr>
            <p:ph type="sldNum" sz="quarter" idx="12"/>
          </p:nvPr>
        </p:nvSpPr>
        <p:spPr/>
        <p:txBody>
          <a:bodyPr/>
          <a:lstStyle/>
          <a:p>
            <a:fld id="{DB2553D8-B526-4F66-B087-E2099028758C}" type="slidenum">
              <a:rPr lang="en-IN" smtClean="0"/>
              <a:t>‹#›</a:t>
            </a:fld>
            <a:endParaRPr lang="en-IN"/>
          </a:p>
        </p:txBody>
      </p:sp>
    </p:spTree>
    <p:extLst>
      <p:ext uri="{BB962C8B-B14F-4D97-AF65-F5344CB8AC3E}">
        <p14:creationId xmlns:p14="http://schemas.microsoft.com/office/powerpoint/2010/main" val="3889840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E61CF2-DF99-846C-3215-17C6844F6CCB}"/>
              </a:ext>
            </a:extLst>
          </p:cNvPr>
          <p:cNvSpPr>
            <a:spLocks noGrp="1"/>
          </p:cNvSpPr>
          <p:nvPr>
            <p:ph type="dt" sz="half" idx="10"/>
          </p:nvPr>
        </p:nvSpPr>
        <p:spPr/>
        <p:txBody>
          <a:bodyPr/>
          <a:lstStyle/>
          <a:p>
            <a:fld id="{FB84FBB2-C1B7-4EAF-B9EB-6395268400D7}" type="datetimeFigureOut">
              <a:rPr lang="en-IN" smtClean="0"/>
              <a:t>01-09-2024</a:t>
            </a:fld>
            <a:endParaRPr lang="en-IN"/>
          </a:p>
        </p:txBody>
      </p:sp>
      <p:sp>
        <p:nvSpPr>
          <p:cNvPr id="3" name="Footer Placeholder 2">
            <a:extLst>
              <a:ext uri="{FF2B5EF4-FFF2-40B4-BE49-F238E27FC236}">
                <a16:creationId xmlns:a16="http://schemas.microsoft.com/office/drawing/2014/main" id="{7A4C4606-4850-39A9-24A4-FBAE10660C9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309B106-898D-599A-236B-42839DA3EB78}"/>
              </a:ext>
            </a:extLst>
          </p:cNvPr>
          <p:cNvSpPr>
            <a:spLocks noGrp="1"/>
          </p:cNvSpPr>
          <p:nvPr>
            <p:ph type="sldNum" sz="quarter" idx="12"/>
          </p:nvPr>
        </p:nvSpPr>
        <p:spPr/>
        <p:txBody>
          <a:bodyPr/>
          <a:lstStyle/>
          <a:p>
            <a:fld id="{DB2553D8-B526-4F66-B087-E2099028758C}" type="slidenum">
              <a:rPr lang="en-IN" smtClean="0"/>
              <a:t>‹#›</a:t>
            </a:fld>
            <a:endParaRPr lang="en-IN"/>
          </a:p>
        </p:txBody>
      </p:sp>
    </p:spTree>
    <p:extLst>
      <p:ext uri="{BB962C8B-B14F-4D97-AF65-F5344CB8AC3E}">
        <p14:creationId xmlns:p14="http://schemas.microsoft.com/office/powerpoint/2010/main" val="2001791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0FD0F-0E86-6BA4-C9FC-698A40CB40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C8267E0-8B05-4E9A-BDF5-D854BE718B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1FEC7EF-7DF8-1C2E-BE98-EB3FF96671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FC24E1-11EE-B071-5C05-ABF01459F925}"/>
              </a:ext>
            </a:extLst>
          </p:cNvPr>
          <p:cNvSpPr>
            <a:spLocks noGrp="1"/>
          </p:cNvSpPr>
          <p:nvPr>
            <p:ph type="dt" sz="half" idx="10"/>
          </p:nvPr>
        </p:nvSpPr>
        <p:spPr/>
        <p:txBody>
          <a:bodyPr/>
          <a:lstStyle/>
          <a:p>
            <a:fld id="{FB84FBB2-C1B7-4EAF-B9EB-6395268400D7}" type="datetimeFigureOut">
              <a:rPr lang="en-IN" smtClean="0"/>
              <a:t>01-09-2024</a:t>
            </a:fld>
            <a:endParaRPr lang="en-IN"/>
          </a:p>
        </p:txBody>
      </p:sp>
      <p:sp>
        <p:nvSpPr>
          <p:cNvPr id="6" name="Footer Placeholder 5">
            <a:extLst>
              <a:ext uri="{FF2B5EF4-FFF2-40B4-BE49-F238E27FC236}">
                <a16:creationId xmlns:a16="http://schemas.microsoft.com/office/drawing/2014/main" id="{4C66F7CF-BF3D-1E5A-D940-AF0347ACDD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6F5665-F5DC-8F5F-25AC-908AAE94D5EA}"/>
              </a:ext>
            </a:extLst>
          </p:cNvPr>
          <p:cNvSpPr>
            <a:spLocks noGrp="1"/>
          </p:cNvSpPr>
          <p:nvPr>
            <p:ph type="sldNum" sz="quarter" idx="12"/>
          </p:nvPr>
        </p:nvSpPr>
        <p:spPr/>
        <p:txBody>
          <a:bodyPr/>
          <a:lstStyle/>
          <a:p>
            <a:fld id="{DB2553D8-B526-4F66-B087-E2099028758C}" type="slidenum">
              <a:rPr lang="en-IN" smtClean="0"/>
              <a:t>‹#›</a:t>
            </a:fld>
            <a:endParaRPr lang="en-IN"/>
          </a:p>
        </p:txBody>
      </p:sp>
    </p:spTree>
    <p:extLst>
      <p:ext uri="{BB962C8B-B14F-4D97-AF65-F5344CB8AC3E}">
        <p14:creationId xmlns:p14="http://schemas.microsoft.com/office/powerpoint/2010/main" val="2937184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948A2-9093-F487-9DF0-74FB459AB9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2ADA870-7900-80A4-F2AE-28A975EEC5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61A46B0-A5D7-4A47-D276-0C91B5FA5F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D1FB41-88F4-6E69-E134-6DBB146CA6C2}"/>
              </a:ext>
            </a:extLst>
          </p:cNvPr>
          <p:cNvSpPr>
            <a:spLocks noGrp="1"/>
          </p:cNvSpPr>
          <p:nvPr>
            <p:ph type="dt" sz="half" idx="10"/>
          </p:nvPr>
        </p:nvSpPr>
        <p:spPr/>
        <p:txBody>
          <a:bodyPr/>
          <a:lstStyle/>
          <a:p>
            <a:fld id="{FB84FBB2-C1B7-4EAF-B9EB-6395268400D7}" type="datetimeFigureOut">
              <a:rPr lang="en-IN" smtClean="0"/>
              <a:t>01-09-2024</a:t>
            </a:fld>
            <a:endParaRPr lang="en-IN"/>
          </a:p>
        </p:txBody>
      </p:sp>
      <p:sp>
        <p:nvSpPr>
          <p:cNvPr id="6" name="Footer Placeholder 5">
            <a:extLst>
              <a:ext uri="{FF2B5EF4-FFF2-40B4-BE49-F238E27FC236}">
                <a16:creationId xmlns:a16="http://schemas.microsoft.com/office/drawing/2014/main" id="{240FB4C5-3E68-01BE-D073-EB31769F9F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CC7781-559B-2486-4A59-023F7A2D360C}"/>
              </a:ext>
            </a:extLst>
          </p:cNvPr>
          <p:cNvSpPr>
            <a:spLocks noGrp="1"/>
          </p:cNvSpPr>
          <p:nvPr>
            <p:ph type="sldNum" sz="quarter" idx="12"/>
          </p:nvPr>
        </p:nvSpPr>
        <p:spPr/>
        <p:txBody>
          <a:bodyPr/>
          <a:lstStyle/>
          <a:p>
            <a:fld id="{DB2553D8-B526-4F66-B087-E2099028758C}" type="slidenum">
              <a:rPr lang="en-IN" smtClean="0"/>
              <a:t>‹#›</a:t>
            </a:fld>
            <a:endParaRPr lang="en-IN"/>
          </a:p>
        </p:txBody>
      </p:sp>
    </p:spTree>
    <p:extLst>
      <p:ext uri="{BB962C8B-B14F-4D97-AF65-F5344CB8AC3E}">
        <p14:creationId xmlns:p14="http://schemas.microsoft.com/office/powerpoint/2010/main" val="737953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71363-2016-D41C-2D04-533740673CA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8E29EE-60F4-8DED-1E20-D41B5AA0E9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17D188-D884-CE5C-D044-3DFD01FF92BA}"/>
              </a:ext>
            </a:extLst>
          </p:cNvPr>
          <p:cNvSpPr>
            <a:spLocks noGrp="1"/>
          </p:cNvSpPr>
          <p:nvPr>
            <p:ph type="dt" sz="half" idx="10"/>
          </p:nvPr>
        </p:nvSpPr>
        <p:spPr/>
        <p:txBody>
          <a:bodyPr/>
          <a:lstStyle/>
          <a:p>
            <a:fld id="{FB84FBB2-C1B7-4EAF-B9EB-6395268400D7}" type="datetimeFigureOut">
              <a:rPr lang="en-IN" smtClean="0"/>
              <a:t>01-09-2024</a:t>
            </a:fld>
            <a:endParaRPr lang="en-IN"/>
          </a:p>
        </p:txBody>
      </p:sp>
      <p:sp>
        <p:nvSpPr>
          <p:cNvPr id="5" name="Footer Placeholder 4">
            <a:extLst>
              <a:ext uri="{FF2B5EF4-FFF2-40B4-BE49-F238E27FC236}">
                <a16:creationId xmlns:a16="http://schemas.microsoft.com/office/drawing/2014/main" id="{FD8AF563-6675-288B-7C55-90DC283288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88C769-1496-F6BE-2147-DAEE22CF1298}"/>
              </a:ext>
            </a:extLst>
          </p:cNvPr>
          <p:cNvSpPr>
            <a:spLocks noGrp="1"/>
          </p:cNvSpPr>
          <p:nvPr>
            <p:ph type="sldNum" sz="quarter" idx="12"/>
          </p:nvPr>
        </p:nvSpPr>
        <p:spPr/>
        <p:txBody>
          <a:bodyPr/>
          <a:lstStyle/>
          <a:p>
            <a:fld id="{DB2553D8-B526-4F66-B087-E2099028758C}" type="slidenum">
              <a:rPr lang="en-IN" smtClean="0"/>
              <a:t>‹#›</a:t>
            </a:fld>
            <a:endParaRPr lang="en-IN"/>
          </a:p>
        </p:txBody>
      </p:sp>
    </p:spTree>
    <p:extLst>
      <p:ext uri="{BB962C8B-B14F-4D97-AF65-F5344CB8AC3E}">
        <p14:creationId xmlns:p14="http://schemas.microsoft.com/office/powerpoint/2010/main" val="1061445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58B1CF-1357-1EB0-8D42-FC2CC43E74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D313AD-655A-1B03-509B-E8FDDC0365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C8A377-CE76-3CB9-FD62-9A2220B35AA1}"/>
              </a:ext>
            </a:extLst>
          </p:cNvPr>
          <p:cNvSpPr>
            <a:spLocks noGrp="1"/>
          </p:cNvSpPr>
          <p:nvPr>
            <p:ph type="dt" sz="half" idx="10"/>
          </p:nvPr>
        </p:nvSpPr>
        <p:spPr/>
        <p:txBody>
          <a:bodyPr/>
          <a:lstStyle/>
          <a:p>
            <a:fld id="{FB84FBB2-C1B7-4EAF-B9EB-6395268400D7}" type="datetimeFigureOut">
              <a:rPr lang="en-IN" smtClean="0"/>
              <a:t>01-09-2024</a:t>
            </a:fld>
            <a:endParaRPr lang="en-IN"/>
          </a:p>
        </p:txBody>
      </p:sp>
      <p:sp>
        <p:nvSpPr>
          <p:cNvPr id="5" name="Footer Placeholder 4">
            <a:extLst>
              <a:ext uri="{FF2B5EF4-FFF2-40B4-BE49-F238E27FC236}">
                <a16:creationId xmlns:a16="http://schemas.microsoft.com/office/drawing/2014/main" id="{0EB49CCC-8A7A-09F0-E834-AC7E0C5DC9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D8CE1D-95FD-F73B-5C84-DCFDD50564F7}"/>
              </a:ext>
            </a:extLst>
          </p:cNvPr>
          <p:cNvSpPr>
            <a:spLocks noGrp="1"/>
          </p:cNvSpPr>
          <p:nvPr>
            <p:ph type="sldNum" sz="quarter" idx="12"/>
          </p:nvPr>
        </p:nvSpPr>
        <p:spPr/>
        <p:txBody>
          <a:bodyPr/>
          <a:lstStyle/>
          <a:p>
            <a:fld id="{DB2553D8-B526-4F66-B087-E2099028758C}" type="slidenum">
              <a:rPr lang="en-IN" smtClean="0"/>
              <a:t>‹#›</a:t>
            </a:fld>
            <a:endParaRPr lang="en-IN"/>
          </a:p>
        </p:txBody>
      </p:sp>
    </p:spTree>
    <p:extLst>
      <p:ext uri="{BB962C8B-B14F-4D97-AF65-F5344CB8AC3E}">
        <p14:creationId xmlns:p14="http://schemas.microsoft.com/office/powerpoint/2010/main" val="106909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44000"/>
            <a:lum/>
          </a:blip>
          <a:srcRect/>
          <a:stretch>
            <a:fillRect l="-3000" r="-3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444890-B054-DFE6-067E-C270D8BDD2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E6F5C6-20D1-107C-3C7D-869E39F3C8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5384E9-DB35-DE50-FDE0-BD31E41639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84FBB2-C1B7-4EAF-B9EB-6395268400D7}" type="datetimeFigureOut">
              <a:rPr lang="en-IN" smtClean="0"/>
              <a:t>01-09-2024</a:t>
            </a:fld>
            <a:endParaRPr lang="en-IN"/>
          </a:p>
        </p:txBody>
      </p:sp>
      <p:sp>
        <p:nvSpPr>
          <p:cNvPr id="5" name="Footer Placeholder 4">
            <a:extLst>
              <a:ext uri="{FF2B5EF4-FFF2-40B4-BE49-F238E27FC236}">
                <a16:creationId xmlns:a16="http://schemas.microsoft.com/office/drawing/2014/main" id="{607634CB-A3F3-C68F-D20C-77C2E382C7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B993773-F69B-4E70-BDBC-FC3A21F6F7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2553D8-B526-4F66-B087-E2099028758C}" type="slidenum">
              <a:rPr lang="en-IN" smtClean="0"/>
              <a:t>‹#›</a:t>
            </a:fld>
            <a:endParaRPr lang="en-IN"/>
          </a:p>
        </p:txBody>
      </p:sp>
    </p:spTree>
    <p:extLst>
      <p:ext uri="{BB962C8B-B14F-4D97-AF65-F5344CB8AC3E}">
        <p14:creationId xmlns:p14="http://schemas.microsoft.com/office/powerpoint/2010/main" val="13221297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ieeexplore.ieee.org/author/37085546509" TargetMode="External"/><Relationship Id="rId2" Type="http://schemas.openxmlformats.org/officeDocument/2006/relationships/hyperlink" Target="https://ieeexplore.ieee.org/author/37089035538" TargetMode="External"/><Relationship Id="rId1" Type="http://schemas.openxmlformats.org/officeDocument/2006/relationships/slideLayout" Target="../slideLayouts/slideLayout2.xml"/><Relationship Id="rId5" Type="http://schemas.openxmlformats.org/officeDocument/2006/relationships/hyperlink" Target="https://ieeexplore.ieee.org/author/37087137549" TargetMode="External"/><Relationship Id="rId4" Type="http://schemas.openxmlformats.org/officeDocument/2006/relationships/hyperlink" Target="https://ieeexplore.ieee.org/author/38093971500"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papers.ssrn.com/sol3/cf_dev/AbsByAuth.cfm?per_id=4765911" TargetMode="External"/><Relationship Id="rId2" Type="http://schemas.openxmlformats.org/officeDocument/2006/relationships/hyperlink" Target="https://papers.ssrn.com/sol3/cf_dev/AbsByAuth.cfm?per_id=4765910" TargetMode="External"/><Relationship Id="rId1" Type="http://schemas.openxmlformats.org/officeDocument/2006/relationships/slideLayout" Target="../slideLayouts/slideLayout2.xml"/><Relationship Id="rId4" Type="http://schemas.openxmlformats.org/officeDocument/2006/relationships/hyperlink" Target="https://papers.ssrn.com/sol3/cf_dev/AbsByAuth.cfm?per_id=476590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1E299-30BD-1337-C529-F85AE9FBBD59}"/>
              </a:ext>
            </a:extLst>
          </p:cNvPr>
          <p:cNvSpPr>
            <a:spLocks noGrp="1"/>
          </p:cNvSpPr>
          <p:nvPr>
            <p:ph type="ctrTitle"/>
          </p:nvPr>
        </p:nvSpPr>
        <p:spPr>
          <a:xfrm>
            <a:off x="1524000" y="1567658"/>
            <a:ext cx="9144000" cy="1734342"/>
          </a:xfrm>
        </p:spPr>
        <p:txBody>
          <a:bodyPr>
            <a:normAutofit fontScale="90000"/>
          </a:bodyPr>
          <a:lstStyle/>
          <a:p>
            <a:pPr marL="261620" marR="115570" algn="ctr">
              <a:spcBef>
                <a:spcPts val="1550"/>
              </a:spcBef>
              <a:spcAft>
                <a:spcPts val="0"/>
              </a:spcAft>
            </a:pPr>
            <a:r>
              <a:rPr lang="en-US" sz="2800" b="1" kern="0" spc="-10" dirty="0">
                <a:effectLst/>
                <a:latin typeface="Times New Roman" panose="02020603050405020304" pitchFamily="18" charset="0"/>
                <a:ea typeface="Times New Roman" panose="02020603050405020304" pitchFamily="18" charset="0"/>
              </a:rPr>
              <a:t>“SMART HOME AUTOMATION”</a:t>
            </a:r>
            <a:br>
              <a:rPr lang="en-IN" sz="2800" b="1" kern="0" dirty="0">
                <a:effectLst/>
                <a:latin typeface="Times New Roman" panose="02020603050405020304" pitchFamily="18" charset="0"/>
                <a:ea typeface="Times New Roman" panose="02020603050405020304" pitchFamily="18" charset="0"/>
              </a:rPr>
            </a:br>
            <a:r>
              <a:rPr lang="en-US" sz="2800" b="1" kern="0" dirty="0">
                <a:effectLst/>
                <a:latin typeface="Times New Roman" panose="02020603050405020304" pitchFamily="18" charset="0"/>
                <a:ea typeface="Times New Roman" panose="02020603050405020304" pitchFamily="18" charset="0"/>
              </a:rPr>
              <a:t>A</a:t>
            </a:r>
            <a:r>
              <a:rPr lang="en-US" sz="2800" b="1" kern="0" spc="95" dirty="0">
                <a:effectLst/>
                <a:latin typeface="Times New Roman" panose="02020603050405020304" pitchFamily="18" charset="0"/>
                <a:ea typeface="Times New Roman" panose="02020603050405020304" pitchFamily="18" charset="0"/>
              </a:rPr>
              <a:t> </a:t>
            </a:r>
            <a:r>
              <a:rPr lang="en-US" sz="2800" b="1" kern="0" dirty="0">
                <a:effectLst/>
                <a:latin typeface="Times New Roman" panose="02020603050405020304" pitchFamily="18" charset="0"/>
                <a:ea typeface="Times New Roman" panose="02020603050405020304" pitchFamily="18" charset="0"/>
              </a:rPr>
              <a:t>MINI</a:t>
            </a:r>
            <a:r>
              <a:rPr lang="en-US" sz="2800" b="1" kern="0" spc="230" dirty="0">
                <a:effectLst/>
                <a:latin typeface="Times New Roman" panose="02020603050405020304" pitchFamily="18" charset="0"/>
                <a:ea typeface="Times New Roman" panose="02020603050405020304" pitchFamily="18" charset="0"/>
              </a:rPr>
              <a:t> </a:t>
            </a:r>
            <a:r>
              <a:rPr lang="en-US" sz="2800" b="1" kern="0" dirty="0">
                <a:effectLst/>
                <a:latin typeface="Times New Roman" panose="02020603050405020304" pitchFamily="18" charset="0"/>
                <a:ea typeface="Times New Roman" panose="02020603050405020304" pitchFamily="18" charset="0"/>
              </a:rPr>
              <a:t>PROJECT</a:t>
            </a:r>
            <a:r>
              <a:rPr lang="en-US" sz="2800" b="1" kern="0" spc="265" dirty="0">
                <a:effectLst/>
                <a:latin typeface="Times New Roman" panose="02020603050405020304" pitchFamily="18" charset="0"/>
                <a:ea typeface="Times New Roman" panose="02020603050405020304" pitchFamily="18" charset="0"/>
              </a:rPr>
              <a:t> </a:t>
            </a:r>
            <a:r>
              <a:rPr lang="en-US" sz="2800" b="1" kern="0" dirty="0">
                <a:effectLst/>
                <a:latin typeface="Times New Roman" panose="02020603050405020304" pitchFamily="18" charset="0"/>
                <a:ea typeface="Times New Roman" panose="02020603050405020304" pitchFamily="18" charset="0"/>
              </a:rPr>
              <a:t>REPORT</a:t>
            </a:r>
            <a:br>
              <a:rPr lang="en-US" sz="2800" b="1" kern="0" dirty="0">
                <a:effectLst/>
                <a:latin typeface="Times New Roman" panose="02020603050405020304" pitchFamily="18" charset="0"/>
                <a:ea typeface="Times New Roman" panose="02020603050405020304" pitchFamily="18" charset="0"/>
              </a:rPr>
            </a:br>
            <a:br>
              <a:rPr lang="en-IN" sz="2800" b="1" kern="0" dirty="0">
                <a:effectLst/>
                <a:latin typeface="Times New Roman" panose="02020603050405020304" pitchFamily="18" charset="0"/>
                <a:ea typeface="Times New Roman" panose="02020603050405020304" pitchFamily="18" charset="0"/>
              </a:rPr>
            </a:br>
            <a:r>
              <a:rPr lang="en-IN" sz="2800" b="1" kern="0" dirty="0">
                <a:effectLst/>
                <a:latin typeface="Times New Roman" panose="02020603050405020304" pitchFamily="18" charset="0"/>
                <a:ea typeface="Times New Roman" panose="02020603050405020304" pitchFamily="18" charset="0"/>
              </a:rPr>
              <a:t> </a:t>
            </a:r>
            <a:r>
              <a:rPr lang="en-IN" sz="2800" b="1" kern="0" dirty="0">
                <a:effectLst/>
                <a:latin typeface="Abadi" panose="020B0604020104020204" pitchFamily="34" charset="0"/>
                <a:ea typeface="Times New Roman" panose="02020603050405020304" pitchFamily="18" charset="0"/>
              </a:rPr>
              <a:t>submitted by</a:t>
            </a:r>
            <a:br>
              <a:rPr lang="en-IN" sz="1800" b="1" kern="0" dirty="0">
                <a:effectLst/>
                <a:latin typeface="Times New Roman" panose="02020603050405020304" pitchFamily="18" charset="0"/>
                <a:ea typeface="Times New Roman" panose="02020603050405020304" pitchFamily="18" charset="0"/>
              </a:rPr>
            </a:br>
            <a:endParaRPr lang="en-IN" sz="4400" dirty="0"/>
          </a:p>
        </p:txBody>
      </p:sp>
      <p:sp useBgFill="1">
        <p:nvSpPr>
          <p:cNvPr id="3" name="Subtitle 2">
            <a:extLst>
              <a:ext uri="{FF2B5EF4-FFF2-40B4-BE49-F238E27FC236}">
                <a16:creationId xmlns:a16="http://schemas.microsoft.com/office/drawing/2014/main" id="{225A3838-C6B6-ADA4-7C2E-1C4400560598}"/>
              </a:ext>
            </a:extLst>
          </p:cNvPr>
          <p:cNvSpPr>
            <a:spLocks noGrp="1"/>
          </p:cNvSpPr>
          <p:nvPr>
            <p:ph type="subTitle" idx="1"/>
          </p:nvPr>
        </p:nvSpPr>
        <p:spPr>
          <a:xfrm>
            <a:off x="1159378" y="2672083"/>
            <a:ext cx="10060309" cy="3312158"/>
          </a:xfrm>
        </p:spPr>
        <p:txBody>
          <a:bodyPr>
            <a:normAutofit lnSpcReduction="10000"/>
          </a:bodyPr>
          <a:lstStyle/>
          <a:p>
            <a:pPr>
              <a:lnSpc>
                <a:spcPct val="200000"/>
              </a:lnSpc>
            </a:pPr>
            <a:r>
              <a:rPr lang="en-US" sz="2200" b="1" i="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Padmasree  G M</a:t>
            </a:r>
            <a:r>
              <a:rPr lang="en-US" sz="2200" b="1" dirty="0">
                <a:effectLst/>
                <a:latin typeface="Times New Roman" panose="02020603050405020304" pitchFamily="18" charset="0"/>
                <a:ea typeface="Times New Roman" panose="02020603050405020304" pitchFamily="18" charset="0"/>
              </a:rPr>
              <a:t>		                          (111723102139)</a:t>
            </a:r>
          </a:p>
          <a:p>
            <a:pPr>
              <a:lnSpc>
                <a:spcPct val="200000"/>
              </a:lnSpc>
            </a:pPr>
            <a:r>
              <a:rPr lang="en-US" sz="2200" b="1" dirty="0">
                <a:effectLst/>
                <a:latin typeface="Times New Roman" panose="02020603050405020304" pitchFamily="18" charset="0"/>
                <a:ea typeface="Times New Roman" panose="02020603050405020304" pitchFamily="18" charset="0"/>
              </a:rPr>
              <a:t> </a:t>
            </a:r>
            <a:r>
              <a:rPr lang="en-US" sz="2200" b="1" i="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Neha C M</a:t>
            </a:r>
            <a:r>
              <a:rPr lang="en-US" sz="2200" b="1" dirty="0">
                <a:effectLst/>
                <a:latin typeface="Times New Roman" panose="02020603050405020304" pitchFamily="18" charset="0"/>
                <a:ea typeface="Times New Roman" panose="02020603050405020304" pitchFamily="18" charset="0"/>
              </a:rPr>
              <a:t>	</a:t>
            </a:r>
            <a:r>
              <a:rPr lang="en-US" sz="2200" b="1" dirty="0">
                <a:latin typeface="Times New Roman" panose="02020603050405020304" pitchFamily="18" charset="0"/>
                <a:ea typeface="Times New Roman" panose="02020603050405020304" pitchFamily="18" charset="0"/>
              </a:rPr>
              <a:t>                                                </a:t>
            </a:r>
            <a:r>
              <a:rPr lang="en-US" sz="2200" b="1" dirty="0">
                <a:effectLst/>
                <a:latin typeface="Times New Roman" panose="02020603050405020304" pitchFamily="18" charset="0"/>
                <a:ea typeface="Times New Roman" panose="02020603050405020304" pitchFamily="18" charset="0"/>
              </a:rPr>
              <a:t>(111723102246)</a:t>
            </a:r>
          </a:p>
          <a:p>
            <a:pPr>
              <a:lnSpc>
                <a:spcPct val="200000"/>
              </a:lnSpc>
            </a:pPr>
            <a:r>
              <a:rPr lang="en-US" sz="2200" b="1" i="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Dandu Bindu Sree     </a:t>
            </a:r>
            <a:r>
              <a:rPr lang="en-US" sz="2200" b="1" dirty="0">
                <a:effectLst/>
                <a:latin typeface="Times New Roman" panose="02020603050405020304" pitchFamily="18" charset="0"/>
                <a:ea typeface="Times New Roman" panose="02020603050405020304" pitchFamily="18" charset="0"/>
              </a:rPr>
              <a:t>	</a:t>
            </a:r>
            <a:r>
              <a:rPr lang="en-US" sz="2200" b="1" dirty="0">
                <a:latin typeface="Times New Roman" panose="02020603050405020304" pitchFamily="18" charset="0"/>
                <a:ea typeface="Times New Roman" panose="02020603050405020304" pitchFamily="18" charset="0"/>
              </a:rPr>
              <a:t>                                         </a:t>
            </a:r>
            <a:r>
              <a:rPr lang="en-US" sz="2200" b="1" dirty="0">
                <a:effectLst/>
                <a:latin typeface="Times New Roman" panose="02020603050405020304" pitchFamily="18" charset="0"/>
                <a:ea typeface="Times New Roman" panose="02020603050405020304" pitchFamily="18" charset="0"/>
              </a:rPr>
              <a:t>  (CS241401)</a:t>
            </a:r>
          </a:p>
          <a:p>
            <a:pPr>
              <a:lnSpc>
                <a:spcPct val="200000"/>
              </a:lnSpc>
            </a:pPr>
            <a:r>
              <a:rPr lang="en-US" sz="2200" b="1" dirty="0">
                <a:effectLst/>
                <a:latin typeface="Times New Roman" panose="02020603050405020304" pitchFamily="18" charset="0"/>
                <a:ea typeface="Times New Roman" panose="02020603050405020304" pitchFamily="18" charset="0"/>
              </a:rPr>
              <a:t>   </a:t>
            </a:r>
            <a:r>
              <a:rPr lang="en-US" sz="2200" b="1" i="1" dirty="0" err="1">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Pranathi</a:t>
            </a:r>
            <a:r>
              <a:rPr lang="en-US" sz="2200" b="1" i="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N                                                     </a:t>
            </a:r>
            <a:r>
              <a:rPr lang="en-US" sz="2200" b="1" dirty="0">
                <a:effectLst/>
                <a:latin typeface="Times New Roman" panose="02020603050405020304" pitchFamily="18" charset="0"/>
                <a:ea typeface="Times New Roman" panose="02020603050405020304" pitchFamily="18" charset="0"/>
              </a:rPr>
              <a:t>(111723102121</a:t>
            </a:r>
            <a:r>
              <a:rPr lang="en-US" sz="2800" b="1" dirty="0">
                <a:solidFill>
                  <a:schemeClr val="accent6">
                    <a:lumMod val="60000"/>
                    <a:lumOff val="40000"/>
                  </a:schemeClr>
                </a:solidFill>
                <a:effectLst/>
                <a:latin typeface="Times New Roman" panose="02020603050405020304" pitchFamily="18" charset="0"/>
                <a:ea typeface="Times New Roman" panose="02020603050405020304" pitchFamily="18" charset="0"/>
              </a:rPr>
              <a:t>)</a:t>
            </a:r>
            <a:endParaRPr lang="en-IN" sz="2800" b="1" dirty="0">
              <a:solidFill>
                <a:schemeClr val="accent6">
                  <a:lumMod val="60000"/>
                  <a:lumOff val="40000"/>
                </a:schemeClr>
              </a:solidFill>
              <a:effectLst/>
              <a:latin typeface="Times New Roman" panose="02020603050405020304" pitchFamily="18" charset="0"/>
              <a:ea typeface="Times New Roman" panose="02020603050405020304" pitchFamily="18" charset="0"/>
            </a:endParaRPr>
          </a:p>
          <a:p>
            <a:endParaRPr lang="en-IN" b="1" dirty="0"/>
          </a:p>
        </p:txBody>
      </p:sp>
      <p:pic>
        <p:nvPicPr>
          <p:cNvPr id="1027" name="image14.jpeg">
            <a:extLst>
              <a:ext uri="{FF2B5EF4-FFF2-40B4-BE49-F238E27FC236}">
                <a16:creationId xmlns:a16="http://schemas.microsoft.com/office/drawing/2014/main" id="{1C54ECF1-2999-D011-362E-01529A8FCA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575" y="341250"/>
            <a:ext cx="944563" cy="96837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1">
            <a:extLst>
              <a:ext uri="{FF2B5EF4-FFF2-40B4-BE49-F238E27FC236}">
                <a16:creationId xmlns:a16="http://schemas.microsoft.com/office/drawing/2014/main" id="{0D422BA5-C55F-2BC4-2139-6B65D189FA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0" y="457200"/>
            <a:ext cx="860425" cy="968375"/>
          </a:xfrm>
          <a:prstGeom prst="rect">
            <a:avLst/>
          </a:prstGeom>
          <a:noFill/>
          <a:extLst>
            <a:ext uri="{909E8E84-426E-40DD-AFC4-6F175D3DCCD1}">
              <a14:hiddenFill xmlns:a14="http://schemas.microsoft.com/office/drawing/2010/main">
                <a:solidFill>
                  <a:srgbClr val="FFFFFF"/>
                </a:solidFill>
              </a14:hiddenFill>
            </a:ext>
          </a:extLst>
        </p:spPr>
      </p:pic>
      <p:pic>
        <p:nvPicPr>
          <p:cNvPr id="1025" name="table">
            <a:extLst>
              <a:ext uri="{FF2B5EF4-FFF2-40B4-BE49-F238E27FC236}">
                <a16:creationId xmlns:a16="http://schemas.microsoft.com/office/drawing/2014/main" id="{642BEDBC-F00A-3CA1-1FC3-497B9AA43E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8662" y="334455"/>
            <a:ext cx="5654675" cy="9683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E679DAFB-1BAE-5E7E-275C-15E7A3BADFB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4896" tIns="431664" rIns="990288" bIns="177744"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1531DADA-6BE2-A6C7-7983-6B8E51655532}"/>
              </a:ext>
            </a:extLst>
          </p:cNvPr>
          <p:cNvSpPr>
            <a:spLocks noChangeArrowheads="1"/>
          </p:cNvSpPr>
          <p:nvPr/>
        </p:nvSpPr>
        <p:spPr bwMode="auto">
          <a:xfrm>
            <a:off x="0" y="14255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6">
            <a:extLst>
              <a:ext uri="{FF2B5EF4-FFF2-40B4-BE49-F238E27FC236}">
                <a16:creationId xmlns:a16="http://schemas.microsoft.com/office/drawing/2014/main" id="{009FD9D8-EB0D-8E0E-76FC-35EF0271C717}"/>
              </a:ext>
            </a:extLst>
          </p:cNvPr>
          <p:cNvSpPr>
            <a:spLocks noChangeArrowheads="1"/>
          </p:cNvSpPr>
          <p:nvPr/>
        </p:nvSpPr>
        <p:spPr bwMode="auto">
          <a:xfrm>
            <a:off x="0" y="2861502"/>
            <a:ext cx="9774936" cy="1214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61855" tIns="196788" rIns="115851" bIns="0" numCol="1" anchor="ctr" anchorCtr="0" compatLnSpc="1">
            <a:prstTxWarp prst="textNoShape">
              <a:avLst/>
            </a:prstTxWarp>
            <a:spAutoFit/>
          </a:bodyPr>
          <a:lstStyle>
            <a:lvl1pPr eaLnBrk="0" fontAlgn="base" hangingPunct="0">
              <a:spcBef>
                <a:spcPct val="0"/>
              </a:spcBef>
              <a:spcAft>
                <a:spcPct val="0"/>
              </a:spcAft>
              <a:tabLst>
                <a:tab pos="4184650" algn="l"/>
              </a:tabLst>
              <a:defRPr>
                <a:solidFill>
                  <a:schemeClr val="tx1"/>
                </a:solidFill>
                <a:latin typeface="Arial" panose="020B0604020202020204" pitchFamily="34" charset="0"/>
              </a:defRPr>
            </a:lvl1pPr>
            <a:lvl2pPr eaLnBrk="0" fontAlgn="base" hangingPunct="0">
              <a:spcBef>
                <a:spcPct val="0"/>
              </a:spcBef>
              <a:spcAft>
                <a:spcPct val="0"/>
              </a:spcAft>
              <a:tabLst>
                <a:tab pos="4184650" algn="l"/>
              </a:tabLst>
              <a:defRPr>
                <a:solidFill>
                  <a:schemeClr val="tx1"/>
                </a:solidFill>
                <a:latin typeface="Arial" panose="020B0604020202020204" pitchFamily="34" charset="0"/>
              </a:defRPr>
            </a:lvl2pPr>
            <a:lvl3pPr eaLnBrk="0" fontAlgn="base" hangingPunct="0">
              <a:spcBef>
                <a:spcPct val="0"/>
              </a:spcBef>
              <a:spcAft>
                <a:spcPct val="0"/>
              </a:spcAft>
              <a:tabLst>
                <a:tab pos="4184650" algn="l"/>
              </a:tabLst>
              <a:defRPr>
                <a:solidFill>
                  <a:schemeClr val="tx1"/>
                </a:solidFill>
                <a:latin typeface="Arial" panose="020B0604020202020204" pitchFamily="34" charset="0"/>
              </a:defRPr>
            </a:lvl3pPr>
            <a:lvl4pPr eaLnBrk="0" fontAlgn="base" hangingPunct="0">
              <a:spcBef>
                <a:spcPct val="0"/>
              </a:spcBef>
              <a:spcAft>
                <a:spcPct val="0"/>
              </a:spcAft>
              <a:tabLst>
                <a:tab pos="4184650" algn="l"/>
              </a:tabLst>
              <a:defRPr>
                <a:solidFill>
                  <a:schemeClr val="tx1"/>
                </a:solidFill>
                <a:latin typeface="Arial" panose="020B0604020202020204" pitchFamily="34" charset="0"/>
              </a:defRPr>
            </a:lvl4pPr>
            <a:lvl5pPr eaLnBrk="0" fontAlgn="base" hangingPunct="0">
              <a:spcBef>
                <a:spcPct val="0"/>
              </a:spcBef>
              <a:spcAft>
                <a:spcPct val="0"/>
              </a:spcAft>
              <a:tabLst>
                <a:tab pos="4184650" algn="l"/>
              </a:tabLst>
              <a:defRPr>
                <a:solidFill>
                  <a:schemeClr val="tx1"/>
                </a:solidFill>
                <a:latin typeface="Arial" panose="020B0604020202020204" pitchFamily="34" charset="0"/>
              </a:defRPr>
            </a:lvl5pPr>
            <a:lvl6pPr eaLnBrk="0" fontAlgn="base" hangingPunct="0">
              <a:spcBef>
                <a:spcPct val="0"/>
              </a:spcBef>
              <a:spcAft>
                <a:spcPct val="0"/>
              </a:spcAft>
              <a:tabLst>
                <a:tab pos="4184650" algn="l"/>
              </a:tabLst>
              <a:defRPr>
                <a:solidFill>
                  <a:schemeClr val="tx1"/>
                </a:solidFill>
                <a:latin typeface="Arial" panose="020B0604020202020204" pitchFamily="34" charset="0"/>
              </a:defRPr>
            </a:lvl6pPr>
            <a:lvl7pPr eaLnBrk="0" fontAlgn="base" hangingPunct="0">
              <a:spcBef>
                <a:spcPct val="0"/>
              </a:spcBef>
              <a:spcAft>
                <a:spcPct val="0"/>
              </a:spcAft>
              <a:tabLst>
                <a:tab pos="4184650" algn="l"/>
              </a:tabLst>
              <a:defRPr>
                <a:solidFill>
                  <a:schemeClr val="tx1"/>
                </a:solidFill>
                <a:latin typeface="Arial" panose="020B0604020202020204" pitchFamily="34" charset="0"/>
              </a:defRPr>
            </a:lvl7pPr>
            <a:lvl8pPr eaLnBrk="0" fontAlgn="base" hangingPunct="0">
              <a:spcBef>
                <a:spcPct val="0"/>
              </a:spcBef>
              <a:spcAft>
                <a:spcPct val="0"/>
              </a:spcAft>
              <a:tabLst>
                <a:tab pos="4184650" algn="l"/>
              </a:tabLst>
              <a:defRPr>
                <a:solidFill>
                  <a:schemeClr val="tx1"/>
                </a:solidFill>
                <a:latin typeface="Arial" panose="020B0604020202020204" pitchFamily="34" charset="0"/>
              </a:defRPr>
            </a:lvl8pPr>
            <a:lvl9pPr eaLnBrk="0" fontAlgn="base" hangingPunct="0">
              <a:spcBef>
                <a:spcPct val="0"/>
              </a:spcBef>
              <a:spcAft>
                <a:spcPct val="0"/>
              </a:spcAft>
              <a:tabLst>
                <a:tab pos="418465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184650" algn="l"/>
              </a:tabLst>
            </a:pPr>
            <a:endParaRPr kumimoji="0" lang="en-US" altLang="en-US" sz="33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184650" algn="l"/>
              </a:tabLst>
            </a:pPr>
            <a:br>
              <a:rPr kumimoji="0" lang="en-US" altLang="en-US" sz="1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1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4F10F-9F4E-50CE-95EF-184A6E19B15E}"/>
              </a:ext>
            </a:extLst>
          </p:cNvPr>
          <p:cNvSpPr>
            <a:spLocks noGrp="1"/>
          </p:cNvSpPr>
          <p:nvPr>
            <p:ph type="title"/>
          </p:nvPr>
        </p:nvSpPr>
        <p:spPr>
          <a:xfrm>
            <a:off x="838200" y="782320"/>
            <a:ext cx="10515600" cy="908368"/>
          </a:xfrm>
        </p:spPr>
        <p:txBody>
          <a:bodyPr>
            <a:normAutofit fontScale="90000"/>
          </a:bodyPr>
          <a:lstStyle/>
          <a:p>
            <a:r>
              <a:rPr lang="en-US" sz="4900" b="1" i="1" dirty="0">
                <a:effectLst>
                  <a:outerShdw blurRad="38100" dist="38100" dir="2700000" algn="tl">
                    <a:srgbClr val="000000">
                      <a:alpha val="43137"/>
                    </a:srgbClr>
                  </a:outerShdw>
                </a:effectLst>
                <a:ea typeface="Times New Roman" panose="02020603050405020304" pitchFamily="18" charset="0"/>
              </a:rPr>
              <a:t>ABSTRACT</a:t>
            </a:r>
            <a:r>
              <a:rPr lang="en-US" sz="1800" b="1" i="1" dirty="0">
                <a:effectLst>
                  <a:outerShdw blurRad="38100" dist="38100" dir="2700000" algn="tl">
                    <a:srgbClr val="000000">
                      <a:alpha val="43137"/>
                    </a:srgbClr>
                  </a:outerShdw>
                </a:effectLst>
                <a:ea typeface="Times New Roman" panose="02020603050405020304" pitchFamily="18" charset="0"/>
              </a:rPr>
              <a:t>.</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7" name="Content Placeholder 6">
            <a:extLst>
              <a:ext uri="{FF2B5EF4-FFF2-40B4-BE49-F238E27FC236}">
                <a16:creationId xmlns:a16="http://schemas.microsoft.com/office/drawing/2014/main" id="{F210C7A7-15C9-9C86-B6D4-D1EC75A82A22}"/>
              </a:ext>
            </a:extLst>
          </p:cNvPr>
          <p:cNvSpPr>
            <a:spLocks noGrp="1"/>
          </p:cNvSpPr>
          <p:nvPr>
            <p:ph idx="1"/>
          </p:nvPr>
        </p:nvSpPr>
        <p:spPr>
          <a:xfrm>
            <a:off x="838200" y="1422399"/>
            <a:ext cx="10515600" cy="4754563"/>
          </a:xfrm>
          <a:noFill/>
        </p:spPr>
        <p:txBody>
          <a:bodyPr>
            <a:normAutofit fontScale="47500" lnSpcReduction="20000"/>
          </a:bodyPr>
          <a:lstStyle/>
          <a:p>
            <a:pPr marL="0" indent="0" algn="just">
              <a:buNone/>
            </a:pPr>
            <a:r>
              <a:rPr lang="en-US" sz="5800" b="0" i="0" dirty="0">
                <a:solidFill>
                  <a:srgbClr val="111111"/>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As our busy lifestyles leave little time for manual management, the concept of home automation has gained traction. This entails using a controller to operate various electronic items in our houses, including fans, LED bulbs, and more. Hence, the aim of this project is to create an efficient and cost-effective home automation system. This system leverages everyday household items like fans and geysers, integrating them into the automation setup. By utilizing a microcontroller and integrating support from programs like IFTTT and </a:t>
            </a:r>
            <a:r>
              <a:rPr lang="en-US" sz="5800" b="0" i="0" dirty="0" err="1">
                <a:solidFill>
                  <a:srgbClr val="111111"/>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Blynk,Cadio</a:t>
            </a:r>
            <a:r>
              <a:rPr lang="en-US" sz="5800" b="0" i="0" dirty="0">
                <a:solidFill>
                  <a:srgbClr val="111111"/>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voice commands received by virtual assistants like Siri or Alexa are translated into </a:t>
            </a:r>
            <a:r>
              <a:rPr lang="en-US" sz="5800" b="0" i="0" dirty="0" err="1">
                <a:solidFill>
                  <a:srgbClr val="111111"/>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actions.The</a:t>
            </a:r>
            <a:r>
              <a:rPr lang="en-US" sz="5800" b="0" i="0" dirty="0">
                <a:solidFill>
                  <a:srgbClr val="111111"/>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presented neurocomputing-based time-series load modeling and forecasting mechanism, facilitated by energy decomposition, is capable of predicting residents’ daily behavioral patterns by non-intrusively analyzing and modeling relevant electrical </a:t>
            </a:r>
            <a:r>
              <a:rPr lang="en-IN" sz="5800" b="0" i="0" dirty="0">
                <a:solidFill>
                  <a:srgbClr val="111111"/>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appliances based on their past trends for smart home automation.</a:t>
            </a:r>
            <a:endParaRPr lang="en-US" sz="5800" b="0" i="0" dirty="0">
              <a:solidFill>
                <a:srgbClr val="111111"/>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endParaRPr lang="en-IN"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240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8D933-A3D9-6AFF-23A4-44FDA4ED219C}"/>
              </a:ext>
            </a:extLst>
          </p:cNvPr>
          <p:cNvSpPr>
            <a:spLocks noGrp="1"/>
          </p:cNvSpPr>
          <p:nvPr>
            <p:ph type="title"/>
          </p:nvPr>
        </p:nvSpPr>
        <p:spPr>
          <a:xfrm>
            <a:off x="838200" y="721360"/>
            <a:ext cx="10515600" cy="589280"/>
          </a:xfrm>
        </p:spPr>
        <p:txBody>
          <a:bodyPr>
            <a:noAutofit/>
          </a:bodyPr>
          <a:lstStyle/>
          <a:p>
            <a:r>
              <a:rPr lang="en-IN" b="1" i="1" dirty="0">
                <a:effectLst>
                  <a:outerShdw blurRad="38100" dist="38100" dir="2700000" algn="tl">
                    <a:srgbClr val="000000">
                      <a:alpha val="43137"/>
                    </a:srgbClr>
                  </a:outerShdw>
                </a:effectLst>
              </a:rPr>
              <a:t>SCOPE OF THE PROJECT</a:t>
            </a:r>
          </a:p>
        </p:txBody>
      </p:sp>
      <p:sp>
        <p:nvSpPr>
          <p:cNvPr id="3" name="Content Placeholder 2">
            <a:extLst>
              <a:ext uri="{FF2B5EF4-FFF2-40B4-BE49-F238E27FC236}">
                <a16:creationId xmlns:a16="http://schemas.microsoft.com/office/drawing/2014/main" id="{6B4C9C36-1ECF-F91A-7DEB-FBCB7D57D9BE}"/>
              </a:ext>
            </a:extLst>
          </p:cNvPr>
          <p:cNvSpPr>
            <a:spLocks noGrp="1"/>
          </p:cNvSpPr>
          <p:nvPr>
            <p:ph idx="1"/>
          </p:nvPr>
        </p:nvSpPr>
        <p:spPr>
          <a:xfrm>
            <a:off x="838200" y="1507957"/>
            <a:ext cx="10515600" cy="4709963"/>
          </a:xfrm>
        </p:spPr>
        <p:txBody>
          <a:bodyPr>
            <a:normAutofit/>
          </a:bodyPr>
          <a:lstStyle/>
          <a:p>
            <a:pPr marL="0" indent="0" algn="just">
              <a:buNone/>
            </a:pPr>
            <a:r>
              <a:rPr lang="en-US" sz="2400" b="0" i="0" dirty="0">
                <a:solidFill>
                  <a:srgbClr val="111111"/>
                </a:solidFill>
                <a:effectLst/>
                <a:highlight>
                  <a:srgbClr val="FFFFFF"/>
                </a:highlight>
                <a:latin typeface="Calbiri"/>
              </a:rPr>
              <a:t>The main goals of technology are to make things easier and more efficient. IoT devices have been given a lot of prominence in today’s popular culture. Because automation requires less work and is more effective, we can successfully operate appliances in many different locations by utilizing IoT. The scope of the project includes designing and implementing an efficient and pocket-friendly home automation system using everyday household items like fans and geysers. To ensure cost-effectiveness, the project will focus on utilizing readily available components and minimizing the overall investment required. The implementation will also take into consideration the ease of installation and usability, ensuring that users can easily set up and interact with the home automation </a:t>
            </a:r>
            <a:r>
              <a:rPr lang="en-US" sz="2400" b="0" i="0" dirty="0" err="1">
                <a:solidFill>
                  <a:srgbClr val="111111"/>
                </a:solidFill>
                <a:effectLst/>
                <a:highlight>
                  <a:srgbClr val="FFFFFF"/>
                </a:highlight>
                <a:latin typeface="Calbiri"/>
              </a:rPr>
              <a:t>system.Overall</a:t>
            </a:r>
            <a:r>
              <a:rPr lang="en-US" sz="2400" b="0" i="0" dirty="0">
                <a:solidFill>
                  <a:srgbClr val="111111"/>
                </a:solidFill>
                <a:effectLst/>
                <a:highlight>
                  <a:srgbClr val="FFFFFF"/>
                </a:highlight>
                <a:latin typeface="Calbiri"/>
              </a:rPr>
              <a:t>, the project aims to create a practical, affordable, and user-friendly home automation solution that enhances convenience and efficiency for users in managing their household appliances.</a:t>
            </a:r>
          </a:p>
          <a:p>
            <a:endParaRPr lang="en-IN" sz="2400" dirty="0"/>
          </a:p>
        </p:txBody>
      </p:sp>
    </p:spTree>
    <p:extLst>
      <p:ext uri="{BB962C8B-B14F-4D97-AF65-F5344CB8AC3E}">
        <p14:creationId xmlns:p14="http://schemas.microsoft.com/office/powerpoint/2010/main" val="2748963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3D95C-1EE8-4A20-A6F7-F30865734D55}"/>
              </a:ext>
            </a:extLst>
          </p:cNvPr>
          <p:cNvSpPr>
            <a:spLocks noGrp="1"/>
          </p:cNvSpPr>
          <p:nvPr>
            <p:ph type="title"/>
          </p:nvPr>
        </p:nvSpPr>
        <p:spPr/>
        <p:txBody>
          <a:bodyPr/>
          <a:lstStyle/>
          <a:p>
            <a:r>
              <a:rPr lang="en-IN" b="1" i="1" dirty="0">
                <a:effectLst>
                  <a:outerShdw blurRad="38100" dist="38100" dir="2700000" algn="tl">
                    <a:srgbClr val="000000">
                      <a:alpha val="43137"/>
                    </a:srgbClr>
                  </a:outerShdw>
                </a:effectLst>
              </a:rPr>
              <a:t>THE PROBLEM STATEMENT</a:t>
            </a:r>
          </a:p>
        </p:txBody>
      </p:sp>
      <p:sp>
        <p:nvSpPr>
          <p:cNvPr id="3" name="Content Placeholder 2">
            <a:extLst>
              <a:ext uri="{FF2B5EF4-FFF2-40B4-BE49-F238E27FC236}">
                <a16:creationId xmlns:a16="http://schemas.microsoft.com/office/drawing/2014/main" id="{6E9A1FB9-B977-16A8-A1EF-F99499FFE6AF}"/>
              </a:ext>
            </a:extLst>
          </p:cNvPr>
          <p:cNvSpPr>
            <a:spLocks noGrp="1"/>
          </p:cNvSpPr>
          <p:nvPr>
            <p:ph idx="1"/>
          </p:nvPr>
        </p:nvSpPr>
        <p:spPr/>
        <p:txBody>
          <a:bodyPr/>
          <a:lstStyle/>
          <a:p>
            <a:r>
              <a:rPr lang="en-US" b="0" i="0" dirty="0">
                <a:solidFill>
                  <a:srgbClr val="111111"/>
                </a:solidFill>
                <a:effectLst/>
                <a:highlight>
                  <a:srgbClr val="FFFFFF"/>
                </a:highlight>
                <a:latin typeface="Calbiri"/>
              </a:rPr>
              <a:t>Most conventional prepaid power meters currently installed in households only display the total real-time usage of power and the amount of electricity available. There is no way to see what the day’s, week’s, or month’s consumption was on these meters, and often these power meters are placed in inconvenient locations, making regular viewing somewhat difficult. These power meters also lack the ability to monitor appliances individually, thus hiding vital information about individual appliances.</a:t>
            </a:r>
            <a:endParaRPr lang="en-IN" dirty="0">
              <a:latin typeface="Calbiri"/>
            </a:endParaRPr>
          </a:p>
        </p:txBody>
      </p:sp>
    </p:spTree>
    <p:extLst>
      <p:ext uri="{BB962C8B-B14F-4D97-AF65-F5344CB8AC3E}">
        <p14:creationId xmlns:p14="http://schemas.microsoft.com/office/powerpoint/2010/main" val="2788303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A05C5-305B-7172-2EF5-391D3794BE52}"/>
              </a:ext>
            </a:extLst>
          </p:cNvPr>
          <p:cNvSpPr>
            <a:spLocks noGrp="1"/>
          </p:cNvSpPr>
          <p:nvPr>
            <p:ph type="title"/>
          </p:nvPr>
        </p:nvSpPr>
        <p:spPr>
          <a:xfrm>
            <a:off x="838200" y="589280"/>
            <a:ext cx="10515600" cy="782320"/>
          </a:xfrm>
        </p:spPr>
        <p:txBody>
          <a:bodyPr/>
          <a:lstStyle/>
          <a:p>
            <a:r>
              <a:rPr lang="en-IN" sz="4400" b="1" i="1" dirty="0">
                <a:effectLst>
                  <a:outerShdw blurRad="38100" dist="38100" dir="2700000" algn="tl">
                    <a:srgbClr val="000000">
                      <a:alpha val="43137"/>
                    </a:srgbClr>
                  </a:outerShdw>
                </a:effectLst>
              </a:rPr>
              <a:t>SOLUTION</a:t>
            </a:r>
            <a:endParaRPr lang="en-IN" b="1" i="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109F8E98-DBBF-E1C3-DCC9-AE8A246EB0FB}"/>
              </a:ext>
            </a:extLst>
          </p:cNvPr>
          <p:cNvSpPr>
            <a:spLocks noGrp="1"/>
          </p:cNvSpPr>
          <p:nvPr>
            <p:ph idx="1"/>
          </p:nvPr>
        </p:nvSpPr>
        <p:spPr>
          <a:xfrm>
            <a:off x="838200" y="1489586"/>
            <a:ext cx="10515600" cy="4860413"/>
          </a:xfrm>
        </p:spPr>
        <p:txBody>
          <a:bodyPr>
            <a:noAutofit/>
          </a:bodyPr>
          <a:lstStyle/>
          <a:p>
            <a:r>
              <a:rPr lang="en-US" sz="2400" b="0" i="0" dirty="0">
                <a:solidFill>
                  <a:srgbClr val="111111"/>
                </a:solidFill>
                <a:effectLst/>
                <a:highlight>
                  <a:srgbClr val="FFFFFF"/>
                </a:highlight>
                <a:latin typeface="Calbiri"/>
              </a:rPr>
              <a:t>A Smart Meter System is required to analyze multiple household appliances, obtaining readings such as voltage, current, active power, apparent power, reactive power, power factor, and frequency. Using a wired or wireless connection, the device can connect to a central gateway, where the gathered information is uploaded and processed by the gateway management system. The data can then be displayed on the platform’s graphical Android-based user interface, accessible from any Android-enabled device. To reduce costs, the system will use energy metering nodes that communicate with the gateway wirelessly or via wired connections, requiring only one Wi-Fi access point for a household with many monitored appliances. Additionally, current information about the appliances can be viewed on a local display with a menu interface</a:t>
            </a:r>
            <a:r>
              <a:rPr lang="en-US" sz="2400" b="0" i="0" dirty="0">
                <a:solidFill>
                  <a:srgbClr val="111111"/>
                </a:solidFill>
                <a:effectLst/>
                <a:highlight>
                  <a:srgbClr val="FFFFFF"/>
                </a:highlight>
                <a:latin typeface="-apple-system"/>
              </a:rPr>
              <a:t>.</a:t>
            </a:r>
            <a:endParaRPr lang="en-IN" sz="2400" dirty="0"/>
          </a:p>
        </p:txBody>
      </p:sp>
    </p:spTree>
    <p:extLst>
      <p:ext uri="{BB962C8B-B14F-4D97-AF65-F5344CB8AC3E}">
        <p14:creationId xmlns:p14="http://schemas.microsoft.com/office/powerpoint/2010/main" val="214056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A2825-E546-4CB9-5FB8-C649E67C77F0}"/>
              </a:ext>
            </a:extLst>
          </p:cNvPr>
          <p:cNvSpPr>
            <a:spLocks noGrp="1"/>
          </p:cNvSpPr>
          <p:nvPr>
            <p:ph type="title"/>
          </p:nvPr>
        </p:nvSpPr>
        <p:spPr>
          <a:xfrm>
            <a:off x="838200" y="681036"/>
            <a:ext cx="10515600" cy="750199"/>
          </a:xfrm>
        </p:spPr>
        <p:txBody>
          <a:bodyPr/>
          <a:lstStyle/>
          <a:p>
            <a:r>
              <a:rPr lang="en-IN" b="1" i="1" dirty="0">
                <a:effectLst>
                  <a:outerShdw blurRad="38100" dist="38100" dir="2700000" algn="tl">
                    <a:srgbClr val="000000">
                      <a:alpha val="43137"/>
                    </a:srgbClr>
                  </a:outerShdw>
                </a:effectLst>
              </a:rPr>
              <a:t>EXISITING SYSTEM</a:t>
            </a:r>
          </a:p>
        </p:txBody>
      </p:sp>
      <p:sp>
        <p:nvSpPr>
          <p:cNvPr id="3" name="Content Placeholder 2">
            <a:extLst>
              <a:ext uri="{FF2B5EF4-FFF2-40B4-BE49-F238E27FC236}">
                <a16:creationId xmlns:a16="http://schemas.microsoft.com/office/drawing/2014/main" id="{B7F69EC4-606C-D4B4-A98C-9847166ADF96}"/>
              </a:ext>
            </a:extLst>
          </p:cNvPr>
          <p:cNvSpPr>
            <a:spLocks noGrp="1"/>
          </p:cNvSpPr>
          <p:nvPr>
            <p:ph idx="1"/>
          </p:nvPr>
        </p:nvSpPr>
        <p:spPr>
          <a:xfrm>
            <a:off x="838200" y="1615439"/>
            <a:ext cx="10515600" cy="4561523"/>
          </a:xfrm>
        </p:spPr>
        <p:txBody>
          <a:bodyPr>
            <a:normAutofit lnSpcReduction="10000"/>
          </a:bodyPr>
          <a:lstStyle/>
          <a:p>
            <a:r>
              <a:rPr lang="en-US" b="0" i="0" dirty="0">
                <a:solidFill>
                  <a:srgbClr val="111111"/>
                </a:solidFill>
                <a:effectLst/>
                <a:highlight>
                  <a:srgbClr val="FFFFFF"/>
                </a:highlight>
                <a:latin typeface="Calbiri"/>
              </a:rPr>
              <a:t>The existing home automation system uses various devices and techniques to operate home appliances, including PCs, laptops, wireless switches, and smartphones as control interfaces. Techniques like Zigbee, Bluetooth, ARM9, SMS, and Android ADK are adopted for implementation. Users can control and manage appliances remotely through different interfaces, such as a graphical user interface (GUI) or web-based interface on a PC or laptop. These interfaces allow users to send commands to turn appliances on/off, adjust settings, or schedule operations. Wireless switches provide a physical means of control, strategically placed around the home for convenience. Smartphones serve as portable control devices, playing a crucial role in the system</a:t>
            </a:r>
            <a:endParaRPr lang="en-IN" dirty="0">
              <a:latin typeface="Calbiri"/>
            </a:endParaRPr>
          </a:p>
        </p:txBody>
      </p:sp>
    </p:spTree>
    <p:extLst>
      <p:ext uri="{BB962C8B-B14F-4D97-AF65-F5344CB8AC3E}">
        <p14:creationId xmlns:p14="http://schemas.microsoft.com/office/powerpoint/2010/main" val="2155785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602EC-2044-98DE-929C-73DF598727A9}"/>
              </a:ext>
            </a:extLst>
          </p:cNvPr>
          <p:cNvSpPr>
            <a:spLocks noGrp="1"/>
          </p:cNvSpPr>
          <p:nvPr>
            <p:ph type="title"/>
          </p:nvPr>
        </p:nvSpPr>
        <p:spPr>
          <a:xfrm>
            <a:off x="838200" y="0"/>
            <a:ext cx="10515600" cy="681038"/>
          </a:xfrm>
        </p:spPr>
        <p:txBody>
          <a:bodyPr>
            <a:normAutofit fontScale="90000"/>
          </a:bodyPr>
          <a:lstStyle/>
          <a:p>
            <a:r>
              <a:rPr lang="en-IN" dirty="0"/>
              <a:t>LITERATURE SURVEY:</a:t>
            </a:r>
          </a:p>
        </p:txBody>
      </p:sp>
      <p:sp>
        <p:nvSpPr>
          <p:cNvPr id="3" name="Content Placeholder 2">
            <a:extLst>
              <a:ext uri="{FF2B5EF4-FFF2-40B4-BE49-F238E27FC236}">
                <a16:creationId xmlns:a16="http://schemas.microsoft.com/office/drawing/2014/main" id="{35CF0667-E977-946C-841B-55BA0AA8AD63}"/>
              </a:ext>
            </a:extLst>
          </p:cNvPr>
          <p:cNvSpPr>
            <a:spLocks noGrp="1"/>
          </p:cNvSpPr>
          <p:nvPr>
            <p:ph idx="1"/>
          </p:nvPr>
        </p:nvSpPr>
        <p:spPr>
          <a:xfrm>
            <a:off x="838200" y="1274618"/>
            <a:ext cx="10515600" cy="4902345"/>
          </a:xfrm>
        </p:spPr>
        <p:style>
          <a:lnRef idx="2">
            <a:schemeClr val="accent5"/>
          </a:lnRef>
          <a:fillRef idx="1">
            <a:schemeClr val="lt1"/>
          </a:fillRef>
          <a:effectRef idx="0">
            <a:schemeClr val="accent5"/>
          </a:effectRef>
          <a:fontRef idx="minor">
            <a:schemeClr val="dk1"/>
          </a:fontRef>
        </p:style>
        <p:txBody>
          <a:bodyPr>
            <a:normAutofit/>
          </a:bodyPr>
          <a:lstStyle/>
          <a:p>
            <a:pPr marL="457200" marR="381635" lvl="1" indent="0" algn="just">
              <a:lnSpc>
                <a:spcPct val="150000"/>
              </a:lnSpc>
              <a:buSzPts val="1650"/>
              <a:buNone/>
              <a:tabLst>
                <a:tab pos="655320" algn="l"/>
              </a:tabLst>
            </a:pPr>
            <a:r>
              <a:rPr lang="en-US" sz="1800" b="1" dirty="0">
                <a:effectLst/>
                <a:latin typeface="Times New Roman" panose="02020603050405020304" pitchFamily="18" charset="0"/>
                <a:ea typeface="Times New Roman" panose="02020603050405020304" pitchFamily="18" charset="0"/>
              </a:rPr>
              <a:t>Anjum</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Ara,</a:t>
            </a:r>
            <a:r>
              <a:rPr lang="en-US" sz="1800" b="1" spc="-10"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Shivkumar</a:t>
            </a:r>
            <a:r>
              <a:rPr lang="en-US" sz="1800" b="1" spc="-10"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Jawaligi</a:t>
            </a:r>
            <a:r>
              <a:rPr lang="en-US" sz="1800" b="1" dirty="0">
                <a:effectLst/>
                <a:latin typeface="Times New Roman" panose="02020603050405020304" pitchFamily="18" charset="0"/>
                <a:ea typeface="Times New Roman" panose="02020603050405020304" pitchFamily="18" charset="0"/>
              </a:rPr>
              <a:t>  “ Literature</a:t>
            </a:r>
            <a:r>
              <a:rPr lang="en-US" sz="1800" b="1" spc="7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survey</a:t>
            </a:r>
            <a:r>
              <a:rPr lang="en-US" sz="1800" b="1" spc="1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on</a:t>
            </a:r>
            <a:r>
              <a:rPr lang="en-US" sz="1800" b="1" spc="9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IOT</a:t>
            </a:r>
            <a:r>
              <a:rPr lang="en-US" sz="1800" b="1" spc="1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and</a:t>
            </a:r>
            <a:r>
              <a:rPr lang="en-US" sz="1800" b="1" spc="7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Smart</a:t>
            </a:r>
            <a:r>
              <a:rPr lang="en-US" sz="1800" b="1" spc="8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grid”</a:t>
            </a:r>
            <a:endParaRPr lang="en-IN" sz="1800" b="1" dirty="0">
              <a:effectLst/>
              <a:latin typeface="Times New Roman" panose="02020603050405020304" pitchFamily="18" charset="0"/>
              <a:ea typeface="Times New Roman" panose="02020603050405020304" pitchFamily="18" charset="0"/>
            </a:endParaRPr>
          </a:p>
          <a:p>
            <a:pPr marR="381635" indent="0" algn="just">
              <a:lnSpc>
                <a:spcPct val="150000"/>
              </a:lnSpc>
              <a:spcBef>
                <a:spcPts val="55"/>
              </a:spcBef>
              <a:spcAft>
                <a:spcPts val="0"/>
              </a:spcAft>
              <a:buNone/>
            </a:pPr>
            <a:r>
              <a:rPr lang="en-US" sz="1800" b="1"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Paper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got published in 2019</a:t>
            </a:r>
            <a:endParaRPr lang="en-IN" sz="1800" dirty="0">
              <a:effectLst/>
              <a:latin typeface="Times New Roman" panose="02020603050405020304" pitchFamily="18" charset="0"/>
              <a:ea typeface="Times New Roman" panose="02020603050405020304" pitchFamily="18" charset="0"/>
            </a:endParaRPr>
          </a:p>
          <a:p>
            <a:pPr marR="381635" indent="0" algn="just">
              <a:lnSpc>
                <a:spcPct val="150000"/>
              </a:lnSpc>
              <a:spcBef>
                <a:spcPts val="710"/>
              </a:spcBef>
              <a:spcAft>
                <a:spcPts val="0"/>
              </a:spcAft>
              <a:buNone/>
            </a:pPr>
            <a:r>
              <a:rPr lang="en-US" sz="1800" spc="-5" dirty="0">
                <a:effectLst/>
                <a:latin typeface="Times New Roman" panose="02020603050405020304" pitchFamily="18" charset="0"/>
                <a:ea typeface="Times New Roman" panose="02020603050405020304" pitchFamily="18" charset="0"/>
              </a:rPr>
              <a:t>With</a:t>
            </a:r>
            <a:r>
              <a:rPr lang="en-US" sz="1800" spc="-75" dirty="0">
                <a:effectLst/>
                <a:latin typeface="Times New Roman" panose="02020603050405020304" pitchFamily="18" charset="0"/>
                <a:ea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rPr>
              <a:t>a</a:t>
            </a:r>
            <a:r>
              <a:rPr lang="en-US" sz="1800" spc="-80" dirty="0">
                <a:effectLst/>
                <a:latin typeface="Times New Roman" panose="02020603050405020304" pitchFamily="18" charset="0"/>
                <a:ea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rPr>
              <a:t>constant</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development</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technology,</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voice</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command</a:t>
            </a:r>
            <a:r>
              <a:rPr lang="en-US" sz="1800" spc="-7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systems</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such</a:t>
            </a:r>
            <a:r>
              <a:rPr lang="en-US" sz="1800" spc="-7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a:t>
            </a:r>
            <a:r>
              <a:rPr lang="en-US" sz="1800" spc="-7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Amazon</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Alexa and Apple’s Siri is becoming a more natural part of standard living. We saw</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many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home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automation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technologies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introduced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over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these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years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from</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Zigbee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automation to Amazon Echo, Google Home and Home from Apple. It has become a</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craze these days. The expense of these gadgets is more with an extra expense of 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devices to be associated with. So, overall we can see here that to make our home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smart we have to contribute a considerable amount, for a basic setup. Imagine a</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scenario where we can automate our home with low cost and can control up to 9</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appliances</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utilizing</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Google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Assistant.</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Indeed,</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this</a:t>
            </a:r>
            <a:r>
              <a:rPr lang="en-US" sz="1800" spc="-3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projet</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portrays</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usage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such</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framework.</a:t>
            </a:r>
            <a:endParaRPr lang="en-IN" sz="18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252913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3639-5F27-6A06-A872-02D1F742396C}"/>
              </a:ext>
            </a:extLst>
          </p:cNvPr>
          <p:cNvSpPr>
            <a:spLocks noGrp="1"/>
          </p:cNvSpPr>
          <p:nvPr>
            <p:ph type="title"/>
          </p:nvPr>
        </p:nvSpPr>
        <p:spPr>
          <a:xfrm>
            <a:off x="838200" y="-2569463"/>
            <a:ext cx="10515600" cy="1600199"/>
          </a:xfrm>
        </p:spPr>
        <p:txBody>
          <a:bodyPr/>
          <a:lstStyle/>
          <a:p>
            <a:endParaRPr lang="en-IN" dirty="0"/>
          </a:p>
        </p:txBody>
      </p:sp>
      <p:sp>
        <p:nvSpPr>
          <p:cNvPr id="3" name="Content Placeholder 2">
            <a:extLst>
              <a:ext uri="{FF2B5EF4-FFF2-40B4-BE49-F238E27FC236}">
                <a16:creationId xmlns:a16="http://schemas.microsoft.com/office/drawing/2014/main" id="{F75039AA-3588-2C9F-16F3-E7A92A7DC992}"/>
              </a:ext>
            </a:extLst>
          </p:cNvPr>
          <p:cNvSpPr>
            <a:spLocks noGrp="1"/>
          </p:cNvSpPr>
          <p:nvPr>
            <p:ph idx="1"/>
          </p:nvPr>
        </p:nvSpPr>
        <p:spPr>
          <a:xfrm>
            <a:off x="155448" y="988291"/>
            <a:ext cx="11841480" cy="5188672"/>
          </a:xfrm>
        </p:spPr>
        <p:style>
          <a:lnRef idx="2">
            <a:schemeClr val="accent5"/>
          </a:lnRef>
          <a:fillRef idx="1">
            <a:schemeClr val="lt1"/>
          </a:fillRef>
          <a:effectRef idx="0">
            <a:schemeClr val="accent5"/>
          </a:effectRef>
          <a:fontRef idx="minor">
            <a:schemeClr val="dk1"/>
          </a:fontRef>
        </p:style>
        <p:txBody>
          <a:bodyPr>
            <a:normAutofit fontScale="92500" lnSpcReduction="10000"/>
          </a:bodyPr>
          <a:lstStyle/>
          <a:p>
            <a:pPr marL="914400" marR="381635" lvl="2" indent="0" algn="just">
              <a:lnSpc>
                <a:spcPct val="150000"/>
              </a:lnSpc>
              <a:spcAft>
                <a:spcPts val="0"/>
              </a:spcAft>
              <a:buSzPts val="1300"/>
              <a:buNone/>
              <a:tabLst>
                <a:tab pos="810260" algn="l"/>
              </a:tabLst>
            </a:pPr>
            <a:r>
              <a:rPr lang="en-US" sz="1800" b="1" dirty="0">
                <a:effectLst/>
                <a:latin typeface="Times New Roman" panose="02020603050405020304" pitchFamily="18" charset="0"/>
                <a:ea typeface="Times New Roman" panose="02020603050405020304" pitchFamily="18" charset="0"/>
              </a:rPr>
              <a:t>Shaik Mulla Shabber2</a:t>
            </a:r>
            <a:r>
              <a:rPr lang="en-US" sz="1800" b="1" dirty="0">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iHAS</a:t>
            </a:r>
            <a:r>
              <a:rPr lang="en-US" sz="1800" b="1" dirty="0">
                <a:effectLst/>
                <a:latin typeface="Times New Roman" panose="02020603050405020304" pitchFamily="18" charset="0"/>
                <a:ea typeface="Times New Roman" panose="02020603050405020304" pitchFamily="18" charset="0"/>
              </a:rPr>
              <a:t>  :  “An Intelligent Home Automation Based System for Smart City”</a:t>
            </a:r>
            <a:endParaRPr lang="en-IN" sz="1800" b="1" dirty="0">
              <a:effectLst/>
              <a:latin typeface="Times New Roman" panose="02020603050405020304" pitchFamily="18" charset="0"/>
              <a:ea typeface="Times New Roman" panose="02020603050405020304" pitchFamily="18" charset="0"/>
            </a:endParaRPr>
          </a:p>
          <a:p>
            <a:pPr marL="703580" marR="381635" indent="0" algn="just">
              <a:lnSpc>
                <a:spcPct val="150000"/>
              </a:lnSpc>
              <a:spcAft>
                <a:spcPts val="0"/>
              </a:spcAft>
              <a:buNone/>
              <a:tabLst>
                <a:tab pos="978535" algn="l"/>
              </a:tabLst>
            </a:pPr>
            <a:r>
              <a:rPr lang="en-US" sz="1800" b="1" dirty="0">
                <a:effectLst/>
                <a:latin typeface="Times New Roman" panose="02020603050405020304" pitchFamily="18" charset="0"/>
                <a:ea typeface="Times New Roman" panose="02020603050405020304" pitchFamily="18" charset="0"/>
              </a:rPr>
              <a:t> </a:t>
            </a:r>
            <a:endParaRPr lang="en-IN" sz="1800" b="1" dirty="0">
              <a:effectLst/>
              <a:latin typeface="Times New Roman" panose="02020603050405020304" pitchFamily="18" charset="0"/>
              <a:ea typeface="Times New Roman" panose="02020603050405020304" pitchFamily="18" charset="0"/>
            </a:endParaRPr>
          </a:p>
          <a:p>
            <a:pPr marR="381635" indent="0" algn="just">
              <a:lnSpc>
                <a:spcPct val="150000"/>
              </a:lnSpc>
              <a:spcAft>
                <a:spcPts val="0"/>
              </a:spcAft>
              <a:buNone/>
            </a:pPr>
            <a:r>
              <a:rPr lang="en-US" sz="1800" dirty="0">
                <a:effectLst/>
                <a:latin typeface="Times New Roman" panose="02020603050405020304" pitchFamily="18" charset="0"/>
                <a:ea typeface="Times New Roman" panose="02020603050405020304" pitchFamily="18" charset="0"/>
              </a:rPr>
              <a:t>Paper</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got</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published</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2021</a:t>
            </a:r>
            <a:endParaRPr lang="en-IN" sz="1800" dirty="0">
              <a:effectLst/>
              <a:latin typeface="Times New Roman" panose="02020603050405020304" pitchFamily="18" charset="0"/>
              <a:ea typeface="Times New Roman" panose="02020603050405020304" pitchFamily="18" charset="0"/>
            </a:endParaRPr>
          </a:p>
          <a:p>
            <a:pPr marR="381635" indent="0" algn="just">
              <a:lnSpc>
                <a:spcPct val="150000"/>
              </a:lnSpc>
              <a:spcBef>
                <a:spcPts val="680"/>
              </a:spcBef>
              <a:spcAft>
                <a:spcPts val="0"/>
              </a:spcAft>
              <a:buNone/>
            </a:pPr>
            <a:r>
              <a:rPr lang="en-US" sz="1800" dirty="0">
                <a:effectLst/>
                <a:latin typeface="Times New Roman" panose="02020603050405020304" pitchFamily="18" charset="0"/>
                <a:ea typeface="Times New Roman" panose="02020603050405020304" pitchFamily="18" charset="0"/>
              </a:rPr>
              <a:t>Abstract:</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Nowadays, people are looking for methods to improve their lifestyles by </a:t>
            </a:r>
            <a:r>
              <a:rPr lang="en-US" sz="1800" dirty="0" err="1">
                <a:effectLst/>
                <a:latin typeface="Times New Roman" panose="02020603050405020304" pitchFamily="18" charset="0"/>
                <a:ea typeface="Times New Roman" panose="02020603050405020304" pitchFamily="18" charset="0"/>
              </a:rPr>
              <a:t>utilising</a:t>
            </a:r>
            <a:r>
              <a:rPr lang="en-US" sz="1800" dirty="0">
                <a:effectLst/>
                <a:latin typeface="Times New Roman" panose="02020603050405020304" pitchFamily="18" charset="0"/>
                <a:ea typeface="Times New Roman" panose="02020603050405020304" pitchFamily="18" charset="0"/>
              </a:rPr>
              <a:t> the latest technologies accessible. Various home automation system have grown in popularity over the last decade, and it improves comfort and quality of life. The proposed work explores an intelligent home automation system (</a:t>
            </a:r>
            <a:r>
              <a:rPr lang="en-US" sz="1800" dirty="0" err="1">
                <a:effectLst/>
                <a:latin typeface="Times New Roman" panose="02020603050405020304" pitchFamily="18" charset="0"/>
                <a:ea typeface="Times New Roman" panose="02020603050405020304" pitchFamily="18" charset="0"/>
              </a:rPr>
              <a:t>iHAS</a:t>
            </a:r>
            <a:r>
              <a:rPr lang="en-US" sz="1800" dirty="0">
                <a:effectLst/>
                <a:latin typeface="Times New Roman" panose="02020603050405020304" pitchFamily="18" charset="0"/>
                <a:ea typeface="Times New Roman" panose="02020603050405020304" pitchFamily="18" charset="0"/>
              </a:rPr>
              <a:t>) that allows the user to monitor electrical appliances of the home from everywhere in the world. This system can be used to describe how all home appliances function together and control them using the laptop, Android smartphone, or tablet with internet access. The home automation system can be installed in existing home environments without requiring any infrastructure changes. This paper explored the design and implementation of an individual control home automation device </a:t>
            </a:r>
            <a:r>
              <a:rPr lang="en-US" sz="1800" dirty="0" err="1">
                <a:effectLst/>
                <a:latin typeface="Times New Roman" panose="02020603050405020304" pitchFamily="18" charset="0"/>
                <a:ea typeface="Times New Roman" panose="02020603050405020304" pitchFamily="18" charset="0"/>
              </a:rPr>
              <a:t>utilising</a:t>
            </a:r>
            <a:r>
              <a:rPr lang="en-US" sz="1800" dirty="0">
                <a:effectLst/>
                <a:latin typeface="Times New Roman" panose="02020603050405020304" pitchFamily="18" charset="0"/>
                <a:ea typeface="Times New Roman" panose="02020603050405020304" pitchFamily="18" charset="0"/>
              </a:rPr>
              <a:t> Wi-Fi enabled micro-controller unit. The user can have complete control over the home appliances and devices from anywhere using only an Android app and an internet connection.</a:t>
            </a:r>
            <a:endParaRPr lang="en-IN" sz="1800" dirty="0">
              <a:effectLst/>
              <a:latin typeface="Times New Roman" panose="02020603050405020304" pitchFamily="18" charset="0"/>
              <a:ea typeface="Times New Roman" panose="02020603050405020304" pitchFamily="18" charset="0"/>
            </a:endParaRPr>
          </a:p>
          <a:p>
            <a:pPr marL="474980" marR="381635" indent="0" algn="just">
              <a:spcBef>
                <a:spcPts val="695"/>
              </a:spcBef>
              <a:spcAft>
                <a:spcPts val="0"/>
              </a:spcAft>
              <a:buNone/>
              <a:tabLst>
                <a:tab pos="709930" algn="l"/>
              </a:tabLst>
            </a:pPr>
            <a:r>
              <a:rPr lang="en-US" sz="1800" b="1" dirty="0">
                <a:effectLst/>
                <a:latin typeface="Times New Roman" panose="02020603050405020304" pitchFamily="18" charset="0"/>
                <a:ea typeface="Times New Roman" panose="02020603050405020304" pitchFamily="18" charset="0"/>
              </a:rPr>
              <a:t> </a:t>
            </a:r>
            <a:endParaRPr lang="en-IN" sz="1800" b="1"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1544487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3639-5F27-6A06-A872-02D1F742396C}"/>
              </a:ext>
            </a:extLst>
          </p:cNvPr>
          <p:cNvSpPr>
            <a:spLocks noGrp="1"/>
          </p:cNvSpPr>
          <p:nvPr>
            <p:ph type="title"/>
          </p:nvPr>
        </p:nvSpPr>
        <p:spPr>
          <a:xfrm>
            <a:off x="838200" y="-2569463"/>
            <a:ext cx="10515600" cy="1600199"/>
          </a:xfrm>
        </p:spPr>
        <p:txBody>
          <a:bodyPr/>
          <a:lstStyle/>
          <a:p>
            <a:endParaRPr lang="en-IN" dirty="0"/>
          </a:p>
        </p:txBody>
      </p:sp>
      <p:pic>
        <p:nvPicPr>
          <p:cNvPr id="5" name="Content Placeholder 4">
            <a:extLst>
              <a:ext uri="{FF2B5EF4-FFF2-40B4-BE49-F238E27FC236}">
                <a16:creationId xmlns:a16="http://schemas.microsoft.com/office/drawing/2014/main" id="{918F40C1-D0C1-7224-707A-A6471CC16F80}"/>
              </a:ext>
            </a:extLst>
          </p:cNvPr>
          <p:cNvPicPr>
            <a:picLocks noGrp="1" noChangeAspect="1"/>
          </p:cNvPicPr>
          <p:nvPr>
            <p:ph idx="1"/>
          </p:nvPr>
        </p:nvPicPr>
        <p:blipFill>
          <a:blip r:embed="rId2"/>
          <a:stretch>
            <a:fillRect/>
          </a:stretch>
        </p:blipFill>
        <p:spPr>
          <a:xfrm>
            <a:off x="1947672" y="979488"/>
            <a:ext cx="7882128" cy="5197475"/>
          </a:xfrm>
        </p:spPr>
        <p:style>
          <a:lnRef idx="2">
            <a:schemeClr val="accent5"/>
          </a:lnRef>
          <a:fillRef idx="1">
            <a:schemeClr val="lt1"/>
          </a:fillRef>
          <a:effectRef idx="0">
            <a:schemeClr val="accent5"/>
          </a:effectRef>
          <a:fontRef idx="minor">
            <a:schemeClr val="dk1"/>
          </a:fontRef>
        </p:style>
      </p:pic>
    </p:spTree>
    <p:extLst>
      <p:ext uri="{BB962C8B-B14F-4D97-AF65-F5344CB8AC3E}">
        <p14:creationId xmlns:p14="http://schemas.microsoft.com/office/powerpoint/2010/main" val="2936785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3639-5F27-6A06-A872-02D1F742396C}"/>
              </a:ext>
            </a:extLst>
          </p:cNvPr>
          <p:cNvSpPr>
            <a:spLocks noGrp="1"/>
          </p:cNvSpPr>
          <p:nvPr>
            <p:ph type="title"/>
          </p:nvPr>
        </p:nvSpPr>
        <p:spPr>
          <a:xfrm>
            <a:off x="838200" y="-2569463"/>
            <a:ext cx="10515600" cy="1600199"/>
          </a:xfrm>
        </p:spPr>
        <p:txBody>
          <a:bodyPr/>
          <a:lstStyle/>
          <a:p>
            <a:endParaRPr lang="en-IN" dirty="0"/>
          </a:p>
        </p:txBody>
      </p:sp>
      <p:sp>
        <p:nvSpPr>
          <p:cNvPr id="3" name="Content Placeholder 2">
            <a:extLst>
              <a:ext uri="{FF2B5EF4-FFF2-40B4-BE49-F238E27FC236}">
                <a16:creationId xmlns:a16="http://schemas.microsoft.com/office/drawing/2014/main" id="{F75039AA-3588-2C9F-16F3-E7A92A7DC992}"/>
              </a:ext>
            </a:extLst>
          </p:cNvPr>
          <p:cNvSpPr>
            <a:spLocks noGrp="1"/>
          </p:cNvSpPr>
          <p:nvPr>
            <p:ph idx="1"/>
          </p:nvPr>
        </p:nvSpPr>
        <p:spPr>
          <a:xfrm>
            <a:off x="155448" y="979055"/>
            <a:ext cx="11841480" cy="5197908"/>
          </a:xfrm>
        </p:spPr>
        <p:style>
          <a:lnRef idx="2">
            <a:schemeClr val="accent5"/>
          </a:lnRef>
          <a:fillRef idx="1">
            <a:schemeClr val="lt1"/>
          </a:fillRef>
          <a:effectRef idx="0">
            <a:schemeClr val="accent5"/>
          </a:effectRef>
          <a:fontRef idx="minor">
            <a:schemeClr val="dk1"/>
          </a:fontRef>
        </p:style>
        <p:txBody>
          <a:bodyPr>
            <a:normAutofit fontScale="85000" lnSpcReduction="20000"/>
          </a:bodyPr>
          <a:lstStyle/>
          <a:p>
            <a:pPr marL="914400" marR="381635" lvl="2" indent="0" algn="just">
              <a:spcBef>
                <a:spcPts val="695"/>
              </a:spcBef>
              <a:spcAft>
                <a:spcPts val="0"/>
              </a:spcAft>
              <a:buSzPts val="1300"/>
              <a:buNone/>
              <a:tabLst>
                <a:tab pos="464185" algn="l"/>
              </a:tabLst>
            </a:pPr>
            <a:r>
              <a:rPr lang="en-US" sz="1900" b="1" dirty="0">
                <a:effectLst/>
                <a:latin typeface="Times New Roman" panose="02020603050405020304" pitchFamily="18" charset="0"/>
                <a:ea typeface="Times New Roman" panose="02020603050405020304" pitchFamily="18" charset="0"/>
              </a:rPr>
              <a:t> Rajesh Rishi</a:t>
            </a:r>
            <a:r>
              <a:rPr lang="en-US" sz="1900" b="1" spc="-5" dirty="0">
                <a:effectLst/>
                <a:latin typeface="Times New Roman" panose="02020603050405020304" pitchFamily="18" charset="0"/>
                <a:ea typeface="Times New Roman" panose="02020603050405020304" pitchFamily="18" charset="0"/>
              </a:rPr>
              <a:t> </a:t>
            </a:r>
            <a:r>
              <a:rPr lang="en-US" sz="1900" b="1" dirty="0">
                <a:effectLst/>
                <a:latin typeface="Times New Roman" panose="02020603050405020304" pitchFamily="18" charset="0"/>
                <a:ea typeface="Times New Roman" panose="02020603050405020304" pitchFamily="18" charset="0"/>
              </a:rPr>
              <a:t>and</a:t>
            </a:r>
            <a:r>
              <a:rPr lang="en-US" sz="1900" b="1" spc="-10" dirty="0">
                <a:effectLst/>
                <a:latin typeface="Times New Roman" panose="02020603050405020304" pitchFamily="18" charset="0"/>
                <a:ea typeface="Times New Roman" panose="02020603050405020304" pitchFamily="18" charset="0"/>
              </a:rPr>
              <a:t> </a:t>
            </a:r>
            <a:r>
              <a:rPr lang="en-US" sz="1900" b="1" dirty="0">
                <a:effectLst/>
                <a:latin typeface="Times New Roman" panose="02020603050405020304" pitchFamily="18" charset="0"/>
                <a:ea typeface="Times New Roman" panose="02020603050405020304" pitchFamily="18" charset="0"/>
              </a:rPr>
              <a:t>Pinki[4]  :  “Automation of Smart Home using Smart Phone via Google Assistant”</a:t>
            </a:r>
            <a:endParaRPr lang="en-IN" sz="1900" b="1" dirty="0">
              <a:effectLst/>
              <a:latin typeface="Times New Roman" panose="02020603050405020304" pitchFamily="18" charset="0"/>
              <a:ea typeface="Times New Roman" panose="02020603050405020304" pitchFamily="18" charset="0"/>
            </a:endParaRPr>
          </a:p>
          <a:p>
            <a:pPr marR="381635" indent="0" algn="just">
              <a:spcBef>
                <a:spcPts val="40"/>
              </a:spcBef>
              <a:spcAft>
                <a:spcPts val="0"/>
              </a:spcAft>
              <a:buNone/>
            </a:pPr>
            <a:r>
              <a:rPr lang="en-US" sz="1900" b="1" dirty="0">
                <a:effectLst/>
                <a:latin typeface="Times New Roman" panose="02020603050405020304" pitchFamily="18" charset="0"/>
                <a:ea typeface="Times New Roman" panose="02020603050405020304" pitchFamily="18" charset="0"/>
              </a:rPr>
              <a:t> </a:t>
            </a:r>
            <a:endParaRPr lang="en-IN" sz="1900" dirty="0">
              <a:effectLst/>
              <a:latin typeface="Times New Roman" panose="02020603050405020304" pitchFamily="18" charset="0"/>
              <a:ea typeface="Times New Roman" panose="02020603050405020304" pitchFamily="18" charset="0"/>
            </a:endParaRPr>
          </a:p>
          <a:p>
            <a:pPr marR="381635" indent="0" algn="just">
              <a:spcBef>
                <a:spcPts val="5"/>
              </a:spcBef>
              <a:spcAft>
                <a:spcPts val="0"/>
              </a:spcAft>
              <a:buNone/>
            </a:pPr>
            <a:r>
              <a:rPr lang="en-US" sz="1900" dirty="0">
                <a:effectLst/>
                <a:latin typeface="Times New Roman" panose="02020603050405020304" pitchFamily="18" charset="0"/>
                <a:ea typeface="Times New Roman" panose="02020603050405020304" pitchFamily="18" charset="0"/>
              </a:rPr>
              <a:t>Paper</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got</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published</a:t>
            </a:r>
            <a:r>
              <a:rPr lang="en-US" sz="1900" spc="1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in</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2021</a:t>
            </a:r>
            <a:endParaRPr lang="en-IN" sz="1900" dirty="0">
              <a:effectLst/>
              <a:latin typeface="Times New Roman" panose="02020603050405020304" pitchFamily="18" charset="0"/>
              <a:ea typeface="Times New Roman" panose="02020603050405020304" pitchFamily="18" charset="0"/>
            </a:endParaRPr>
          </a:p>
          <a:p>
            <a:pPr marR="381635" indent="0" algn="just">
              <a:lnSpc>
                <a:spcPct val="153000"/>
              </a:lnSpc>
              <a:spcBef>
                <a:spcPts val="750"/>
              </a:spcBef>
              <a:spcAft>
                <a:spcPts val="0"/>
              </a:spcAft>
              <a:buNone/>
            </a:pPr>
            <a:r>
              <a:rPr lang="en-US" sz="1900" dirty="0">
                <a:effectLst/>
                <a:latin typeface="Times New Roman" panose="02020603050405020304" pitchFamily="18" charset="0"/>
                <a:ea typeface="Times New Roman" panose="02020603050405020304" pitchFamily="18" charset="0"/>
              </a:rPr>
              <a:t>Abstract:</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The</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main</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objective</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of</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this</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system</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is</a:t>
            </a:r>
            <a:r>
              <a:rPr lang="en-US" sz="1900" spc="27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to</a:t>
            </a:r>
            <a:r>
              <a:rPr lang="en-US" sz="1900" spc="27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automate</a:t>
            </a:r>
            <a:r>
              <a:rPr lang="en-US" sz="1900" spc="27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every</a:t>
            </a:r>
            <a:r>
              <a:rPr lang="en-US" sz="1900" spc="27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connected</a:t>
            </a:r>
            <a:r>
              <a:rPr lang="en-US" sz="1900" spc="27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device</a:t>
            </a:r>
            <a:r>
              <a:rPr lang="en-US" sz="1900" spc="27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by</a:t>
            </a:r>
            <a:r>
              <a:rPr lang="en-US" sz="1900" spc="27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use</a:t>
            </a:r>
            <a:r>
              <a:rPr lang="en-US" sz="1900" spc="27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the</a:t>
            </a:r>
            <a:r>
              <a:rPr lang="en-US" sz="1900" spc="27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interface</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which</a:t>
            </a:r>
            <a:r>
              <a:rPr lang="en-US" sz="1900" spc="-4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are</a:t>
            </a:r>
            <a:r>
              <a:rPr lang="en-US" sz="1900" spc="-4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the</a:t>
            </a:r>
            <a:r>
              <a:rPr lang="en-US" sz="1900" spc="-3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AI</a:t>
            </a:r>
            <a:r>
              <a:rPr lang="en-US" sz="1900" spc="-4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and</a:t>
            </a:r>
            <a:r>
              <a:rPr lang="en-US" sz="1900" spc="-4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the</a:t>
            </a:r>
            <a:r>
              <a:rPr lang="en-US" sz="1900" spc="-4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application</a:t>
            </a:r>
            <a:r>
              <a:rPr lang="en-US" sz="1900" spc="-4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program</a:t>
            </a:r>
            <a:r>
              <a:rPr lang="en-US" sz="1900" spc="-2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designed</a:t>
            </a:r>
            <a:r>
              <a:rPr lang="en-US" sz="1900" spc="-5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purposely</a:t>
            </a:r>
            <a:r>
              <a:rPr lang="en-US" sz="1900" spc="-4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for</a:t>
            </a:r>
            <a:r>
              <a:rPr lang="en-US" sz="1900" spc="-4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the</a:t>
            </a:r>
            <a:r>
              <a:rPr lang="en-US" sz="1900" spc="-4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technology.</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It</a:t>
            </a:r>
            <a:r>
              <a:rPr lang="en-US" sz="1900" spc="-2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is</a:t>
            </a:r>
            <a:r>
              <a:rPr lang="en-US" sz="1900" spc="-2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as</a:t>
            </a:r>
            <a:r>
              <a:rPr lang="en-US" sz="1900" spc="-3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easy</a:t>
            </a:r>
            <a:r>
              <a:rPr lang="en-US" sz="1900" spc="-2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as</a:t>
            </a:r>
            <a:r>
              <a:rPr lang="en-US" sz="1900" spc="-4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it</a:t>
            </a:r>
            <a:r>
              <a:rPr lang="en-US" sz="1900" spc="-2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only</a:t>
            </a:r>
            <a:r>
              <a:rPr lang="en-US" sz="1900" spc="-4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requires</a:t>
            </a:r>
            <a:r>
              <a:rPr lang="en-US" sz="1900" spc="-26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to press a button or give a command through the arbitrary system. With technology advancing in this era houses,</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offices, workplaces or any other place where there is a roof, they are becoming smarter and smarter. Present day</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homes are gingerly transitioning from traditional control to a more consolidated directed arrangement, involving</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wireless</a:t>
            </a:r>
            <a:r>
              <a:rPr lang="en-US" sz="1900" spc="-2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data</a:t>
            </a:r>
            <a:r>
              <a:rPr lang="en-US" sz="1900" spc="-2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transfer</a:t>
            </a:r>
            <a:r>
              <a:rPr lang="en-US" sz="1900" spc="-2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through</a:t>
            </a:r>
            <a:r>
              <a:rPr lang="en-US" sz="1900" spc="-2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mobile</a:t>
            </a:r>
            <a:r>
              <a:rPr lang="en-US" sz="1900" spc="-2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device,</a:t>
            </a:r>
            <a:r>
              <a:rPr lang="en-US" sz="1900" spc="-2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smart</a:t>
            </a:r>
            <a:r>
              <a:rPr lang="en-US" sz="1900" spc="-2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phones</a:t>
            </a:r>
            <a:r>
              <a:rPr lang="en-US" sz="1900" spc="-1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which</a:t>
            </a:r>
            <a:r>
              <a:rPr lang="en-US" sz="1900" spc="-2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has</a:t>
            </a:r>
            <a:r>
              <a:rPr lang="en-US" sz="1900" spc="-2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specifically</a:t>
            </a:r>
            <a:r>
              <a:rPr lang="en-US" sz="1900" spc="-3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in-built</a:t>
            </a:r>
            <a:r>
              <a:rPr lang="en-US" sz="1900" spc="-2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interface</a:t>
            </a:r>
            <a:r>
              <a:rPr lang="en-US" sz="1900" spc="-1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to</a:t>
            </a:r>
            <a:r>
              <a:rPr lang="en-US" sz="1900" spc="-3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interact</a:t>
            </a:r>
            <a:r>
              <a:rPr lang="en-US" sz="1900" spc="-2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with</a:t>
            </a:r>
            <a:r>
              <a:rPr lang="en-US" sz="1900" spc="-26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it. Current, ordinary and standard home switches established in contrasting parts of the house contribute to its</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difficulty that adds to the user using it to go close to them for it to operate. The physically impair persons who are</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put at an advantage due to their disorder sees it strenuous to perform these measures. Secluded administered home</a:t>
            </a:r>
            <a:r>
              <a:rPr lang="en-US" sz="1900" spc="-26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automation system technology come up with a most ingenious remedy with intellect phones. This is achieved</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through</a:t>
            </a:r>
            <a:r>
              <a:rPr lang="en-US" sz="1900" spc="-5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effective</a:t>
            </a:r>
            <a:r>
              <a:rPr lang="en-US" sz="1900" spc="-4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data</a:t>
            </a:r>
            <a:r>
              <a:rPr lang="en-US" sz="1900" spc="-4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and</a:t>
            </a:r>
            <a:r>
              <a:rPr lang="en-US" sz="1900" spc="-4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particulars</a:t>
            </a:r>
            <a:r>
              <a:rPr lang="en-US" sz="1900" spc="-4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distribution</a:t>
            </a:r>
            <a:r>
              <a:rPr lang="en-US" sz="1900" spc="-6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to</a:t>
            </a:r>
            <a:r>
              <a:rPr lang="en-US" sz="1900" spc="-5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the</a:t>
            </a:r>
            <a:r>
              <a:rPr lang="en-US" sz="1900" spc="-6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controller</a:t>
            </a:r>
            <a:r>
              <a:rPr lang="en-US" sz="1900" spc="-4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which</a:t>
            </a:r>
            <a:r>
              <a:rPr lang="en-US" sz="1900" spc="-5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fundamentally</a:t>
            </a:r>
            <a:r>
              <a:rPr lang="en-US" sz="1900" spc="-5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and</a:t>
            </a:r>
            <a:r>
              <a:rPr lang="en-US" sz="1900" spc="-5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indubitably</a:t>
            </a:r>
            <a:r>
              <a:rPr lang="en-US" sz="1900" spc="-5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present</a:t>
            </a:r>
            <a:r>
              <a:rPr lang="en-US" sz="1900" spc="-4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the</a:t>
            </a:r>
            <a:r>
              <a:rPr lang="en-US" sz="1900" spc="-26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adequate results to the components with which the user wants to have interchange of information with. This</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interplay with the particulars such as the strings sent over a networking protocol achieve the appropriate outcome</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with</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when the process</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will</a:t>
            </a:r>
            <a:r>
              <a:rPr lang="en-US" sz="1900" spc="-1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pull</a:t>
            </a:r>
            <a:r>
              <a:rPr lang="en-US" sz="1900" spc="-1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of</a:t>
            </a:r>
            <a:r>
              <a:rPr lang="en-US" sz="1900" spc="-1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the</a:t>
            </a:r>
            <a:r>
              <a:rPr lang="en-US" sz="1900" spc="-1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requisite consequence</a:t>
            </a:r>
            <a:r>
              <a:rPr lang="en-US" sz="1900" spc="-1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and effect</a:t>
            </a:r>
            <a:r>
              <a:rPr lang="en-US" sz="1900" spc="-1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the person</a:t>
            </a:r>
            <a:r>
              <a:rPr lang="en-US" sz="1900" spc="-1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using</a:t>
            </a:r>
            <a:r>
              <a:rPr lang="en-US" sz="1900" spc="-1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it</a:t>
            </a:r>
            <a:r>
              <a:rPr lang="en-US" sz="1900" spc="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desires.</a:t>
            </a:r>
            <a:endParaRPr lang="en-IN" sz="1900" dirty="0">
              <a:effectLst/>
              <a:latin typeface="Times New Roman" panose="02020603050405020304" pitchFamily="18" charset="0"/>
              <a:ea typeface="Times New Roman" panose="02020603050405020304" pitchFamily="18" charset="0"/>
            </a:endParaRPr>
          </a:p>
          <a:p>
            <a:pPr marR="381635" indent="0" algn="just">
              <a:spcBef>
                <a:spcPts val="15"/>
              </a:spcBef>
              <a:spcAft>
                <a:spcPts val="0"/>
              </a:spcAft>
              <a:buNone/>
            </a:pPr>
            <a:r>
              <a:rPr lang="en-US" sz="1900" dirty="0">
                <a:effectLst/>
                <a:latin typeface="Times New Roman" panose="02020603050405020304" pitchFamily="18" charset="0"/>
                <a:ea typeface="Times New Roman" panose="02020603050405020304" pitchFamily="18" charset="0"/>
              </a:rPr>
              <a:t> </a:t>
            </a:r>
            <a:endParaRPr lang="en-IN" sz="1900" dirty="0">
              <a:effectLst/>
              <a:latin typeface="Times New Roman" panose="02020603050405020304" pitchFamily="18" charset="0"/>
              <a:ea typeface="Times New Roman" panose="02020603050405020304" pitchFamily="18" charset="0"/>
            </a:endParaRPr>
          </a:p>
          <a:p>
            <a:pPr marL="703580" marR="381635" indent="0" algn="just">
              <a:spcAft>
                <a:spcPts val="0"/>
              </a:spcAft>
              <a:buNone/>
              <a:tabLst>
                <a:tab pos="502920" algn="l"/>
              </a:tabLst>
            </a:pPr>
            <a:r>
              <a:rPr lang="en-US" sz="1900" b="1" dirty="0">
                <a:effectLst/>
                <a:latin typeface="Times New Roman" panose="02020603050405020304" pitchFamily="18" charset="0"/>
                <a:ea typeface="Times New Roman" panose="02020603050405020304" pitchFamily="18" charset="0"/>
              </a:rPr>
              <a:t> </a:t>
            </a:r>
            <a:endParaRPr lang="en-IN" sz="1900" b="1"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26753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3639-5F27-6A06-A872-02D1F742396C}"/>
              </a:ext>
            </a:extLst>
          </p:cNvPr>
          <p:cNvSpPr>
            <a:spLocks noGrp="1"/>
          </p:cNvSpPr>
          <p:nvPr>
            <p:ph type="title"/>
          </p:nvPr>
        </p:nvSpPr>
        <p:spPr>
          <a:xfrm>
            <a:off x="838200" y="-2569463"/>
            <a:ext cx="10515600" cy="1600199"/>
          </a:xfrm>
        </p:spPr>
        <p:txBody>
          <a:bodyPr/>
          <a:lstStyle/>
          <a:p>
            <a:endParaRPr lang="en-IN" dirty="0"/>
          </a:p>
        </p:txBody>
      </p:sp>
      <p:sp>
        <p:nvSpPr>
          <p:cNvPr id="3" name="Content Placeholder 2">
            <a:extLst>
              <a:ext uri="{FF2B5EF4-FFF2-40B4-BE49-F238E27FC236}">
                <a16:creationId xmlns:a16="http://schemas.microsoft.com/office/drawing/2014/main" id="{F75039AA-3588-2C9F-16F3-E7A92A7DC992}"/>
              </a:ext>
            </a:extLst>
          </p:cNvPr>
          <p:cNvSpPr>
            <a:spLocks noGrp="1"/>
          </p:cNvSpPr>
          <p:nvPr>
            <p:ph idx="1"/>
          </p:nvPr>
        </p:nvSpPr>
        <p:spPr>
          <a:xfrm>
            <a:off x="155448" y="979055"/>
            <a:ext cx="11841480" cy="5197908"/>
          </a:xfrm>
        </p:spPr>
        <p:style>
          <a:lnRef idx="2">
            <a:schemeClr val="accent5"/>
          </a:lnRef>
          <a:fillRef idx="1">
            <a:schemeClr val="lt1"/>
          </a:fillRef>
          <a:effectRef idx="0">
            <a:schemeClr val="accent5"/>
          </a:effectRef>
          <a:fontRef idx="minor">
            <a:schemeClr val="dk1"/>
          </a:fontRef>
        </p:style>
        <p:txBody>
          <a:bodyPr>
            <a:normAutofit/>
          </a:bodyPr>
          <a:lstStyle/>
          <a:p>
            <a:pPr marL="703580" marR="381635" indent="0" algn="just">
              <a:spcAft>
                <a:spcPts val="0"/>
              </a:spcAft>
              <a:buNone/>
              <a:tabLst>
                <a:tab pos="502920" algn="l"/>
              </a:tabLst>
            </a:pPr>
            <a:r>
              <a:rPr lang="en-US" sz="2000" b="1" dirty="0">
                <a:effectLst/>
                <a:latin typeface="Times New Roman" panose="02020603050405020304" pitchFamily="18" charset="0"/>
                <a:ea typeface="Times New Roman" panose="02020603050405020304" pitchFamily="18" charset="0"/>
              </a:rPr>
              <a:t>By </a:t>
            </a:r>
            <a:r>
              <a:rPr lang="en-US" sz="2000" b="1" dirty="0" err="1">
                <a:effectLst/>
                <a:latin typeface="Times New Roman" panose="02020603050405020304" pitchFamily="18" charset="0"/>
                <a:ea typeface="Times New Roman" panose="02020603050405020304" pitchFamily="18" charset="0"/>
              </a:rPr>
              <a:t>Mummaka</a:t>
            </a:r>
            <a:r>
              <a:rPr lang="en-US" sz="2000" b="1" spc="-1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Sai Srinath</a:t>
            </a:r>
            <a:r>
              <a:rPr lang="en-US" sz="2000" b="1" spc="-1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a:t>
            </a:r>
            <a:r>
              <a:rPr lang="en-US" sz="2000" b="1" dirty="0" err="1">
                <a:effectLst/>
                <a:latin typeface="Times New Roman" panose="02020603050405020304" pitchFamily="18" charset="0"/>
                <a:ea typeface="Times New Roman" panose="02020603050405020304" pitchFamily="18" charset="0"/>
              </a:rPr>
              <a:t>Manepalli</a:t>
            </a:r>
            <a:r>
              <a:rPr lang="en-US" sz="2000" b="1" spc="-1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Nanda</a:t>
            </a:r>
            <a:r>
              <a:rPr lang="en-US" sz="2000" b="1" spc="-1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Kishore</a:t>
            </a:r>
            <a:r>
              <a:rPr lang="en-US" sz="2000" b="1" spc="-5"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,M.D.</a:t>
            </a:r>
            <a:r>
              <a:rPr lang="en-US" sz="2000" b="1" spc="-10" dirty="0">
                <a:effectLst/>
                <a:latin typeface="Times New Roman" panose="02020603050405020304" pitchFamily="18" charset="0"/>
                <a:ea typeface="Times New Roman" panose="02020603050405020304" pitchFamily="18" charset="0"/>
              </a:rPr>
              <a:t> </a:t>
            </a:r>
            <a:r>
              <a:rPr lang="en-US" sz="2000" b="1" dirty="0" err="1">
                <a:effectLst/>
                <a:latin typeface="Times New Roman" panose="02020603050405020304" pitchFamily="18" charset="0"/>
                <a:ea typeface="Times New Roman" panose="02020603050405020304" pitchFamily="18" charset="0"/>
              </a:rPr>
              <a:t>Anto</a:t>
            </a:r>
            <a:r>
              <a:rPr lang="en-US" sz="2000" b="1" spc="-1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Praveen  </a:t>
            </a:r>
            <a:r>
              <a:rPr lang="en-US" b="1" dirty="0">
                <a:effectLst/>
                <a:latin typeface="Times New Roman" panose="02020603050405020304" pitchFamily="18" charset="0"/>
                <a:ea typeface="Times New Roman" panose="02020603050405020304" pitchFamily="18" charset="0"/>
              </a:rPr>
              <a:t>[5] </a:t>
            </a:r>
            <a:r>
              <a:rPr lang="en-US" sz="2400" b="1" dirty="0">
                <a:effectLst/>
                <a:latin typeface="Times New Roman" panose="02020603050405020304" pitchFamily="18" charset="0"/>
                <a:ea typeface="Times New Roman" panose="02020603050405020304" pitchFamily="18" charset="0"/>
              </a:rPr>
              <a:t>“</a:t>
            </a:r>
            <a:r>
              <a:rPr lang="en-US" sz="2000" b="1" dirty="0">
                <a:effectLst/>
                <a:latin typeface="Times New Roman" panose="02020603050405020304" pitchFamily="18" charset="0"/>
                <a:ea typeface="Times New Roman" panose="02020603050405020304" pitchFamily="18" charset="0"/>
              </a:rPr>
              <a:t>Enhanced</a:t>
            </a:r>
          </a:p>
          <a:p>
            <a:pPr marL="703580" marR="381635" indent="0" algn="just">
              <a:spcAft>
                <a:spcPts val="0"/>
              </a:spcAft>
              <a:buNone/>
              <a:tabLst>
                <a:tab pos="502920" algn="l"/>
              </a:tabLst>
            </a:pPr>
            <a:r>
              <a:rPr lang="en-US" sz="2000" b="1" dirty="0">
                <a:effectLst/>
                <a:latin typeface="Times New Roman" panose="02020603050405020304" pitchFamily="18" charset="0"/>
                <a:ea typeface="Times New Roman" panose="02020603050405020304" pitchFamily="18" charset="0"/>
              </a:rPr>
              <a:t> Smart Home Automation System based on Internet of Things”</a:t>
            </a:r>
            <a:endParaRPr lang="en-IN" sz="2000" b="1" dirty="0">
              <a:effectLst/>
              <a:latin typeface="Times New Roman" panose="02020603050405020304" pitchFamily="18" charset="0"/>
              <a:ea typeface="Times New Roman" panose="02020603050405020304" pitchFamily="18" charset="0"/>
            </a:endParaRPr>
          </a:p>
          <a:p>
            <a:pPr marR="381635" indent="0" algn="just">
              <a:spcBef>
                <a:spcPts val="785"/>
              </a:spcBef>
              <a:spcAft>
                <a:spcPts val="0"/>
              </a:spcAft>
              <a:buNone/>
            </a:pPr>
            <a:r>
              <a:rPr lang="en-US" sz="2000" dirty="0">
                <a:effectLst/>
                <a:latin typeface="Times New Roman" panose="02020603050405020304" pitchFamily="18" charset="0"/>
                <a:ea typeface="Times New Roman" panose="02020603050405020304" pitchFamily="18" charset="0"/>
              </a:rPr>
              <a:t>Paper</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got publish in 2018</a:t>
            </a:r>
            <a:endParaRPr lang="en-IN" sz="2000" dirty="0">
              <a:effectLst/>
              <a:latin typeface="Times New Roman" panose="02020603050405020304" pitchFamily="18" charset="0"/>
              <a:ea typeface="Times New Roman" panose="02020603050405020304" pitchFamily="18" charset="0"/>
            </a:endParaRPr>
          </a:p>
          <a:p>
            <a:pPr marR="381635" indent="0" algn="just">
              <a:lnSpc>
                <a:spcPct val="153000"/>
              </a:lnSpc>
              <a:spcBef>
                <a:spcPts val="750"/>
              </a:spcBef>
              <a:spcAft>
                <a:spcPts val="0"/>
              </a:spcAft>
              <a:buNone/>
              <a:tabLst>
                <a:tab pos="6570980" algn="l"/>
                <a:tab pos="6751320" algn="l"/>
              </a:tabLst>
            </a:pPr>
            <a:r>
              <a:rPr lang="en-US" sz="2000" dirty="0">
                <a:effectLst/>
                <a:latin typeface="Times New Roman" panose="02020603050405020304" pitchFamily="18" charset="0"/>
                <a:ea typeface="Times New Roman" panose="02020603050405020304" pitchFamily="18" charset="0"/>
              </a:rPr>
              <a:t>Abstract : This is an interactive home automation system that is unique in its own way that it is unlike any other</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existing home automation systems that have been made previously. Most of the existing systems that are available</a:t>
            </a:r>
            <a:r>
              <a:rPr lang="en-US" sz="2000" spc="-26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in</a:t>
            </a:r>
            <a:r>
              <a:rPr lang="en-US" sz="2000" spc="-2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market</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use</a:t>
            </a:r>
            <a:r>
              <a:rPr lang="en-US" sz="2000" spc="-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Raspberry</a:t>
            </a:r>
            <a:r>
              <a:rPr lang="en-US" sz="2000" spc="-2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Pi</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or</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Arduino</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chipset</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that</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are</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programmed</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to</a:t>
            </a:r>
            <a:r>
              <a:rPr lang="en-US" sz="2000" spc="-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control</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set</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of</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devices</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inside</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house,</a:t>
            </a:r>
            <a:r>
              <a:rPr lang="en-US" sz="2000" spc="-26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which are given instructions using a mobile application or a web-based UI. Unlike them, this device focuses on</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controlling the devices using voice recognition and artificial intelligence, while being interactive as well. This is</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achieved</a:t>
            </a:r>
            <a:r>
              <a:rPr lang="en-US" sz="2000" spc="-2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by utilizing</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open sourced</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API</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of Google</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Assistant</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by Google</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Inc</a:t>
            </a:r>
            <a:endParaRPr lang="en-IN" sz="20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038087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3639-5F27-6A06-A872-02D1F742396C}"/>
              </a:ext>
            </a:extLst>
          </p:cNvPr>
          <p:cNvSpPr>
            <a:spLocks noGrp="1"/>
          </p:cNvSpPr>
          <p:nvPr>
            <p:ph type="title"/>
          </p:nvPr>
        </p:nvSpPr>
        <p:spPr>
          <a:xfrm>
            <a:off x="838200" y="-2569463"/>
            <a:ext cx="10515600" cy="1600199"/>
          </a:xfrm>
        </p:spPr>
        <p:txBody>
          <a:bodyPr/>
          <a:lstStyle/>
          <a:p>
            <a:endParaRPr lang="en-IN" dirty="0"/>
          </a:p>
        </p:txBody>
      </p:sp>
      <p:sp>
        <p:nvSpPr>
          <p:cNvPr id="3" name="Content Placeholder 2">
            <a:extLst>
              <a:ext uri="{FF2B5EF4-FFF2-40B4-BE49-F238E27FC236}">
                <a16:creationId xmlns:a16="http://schemas.microsoft.com/office/drawing/2014/main" id="{F75039AA-3588-2C9F-16F3-E7A92A7DC992}"/>
              </a:ext>
            </a:extLst>
          </p:cNvPr>
          <p:cNvSpPr>
            <a:spLocks noGrp="1"/>
          </p:cNvSpPr>
          <p:nvPr>
            <p:ph idx="1"/>
          </p:nvPr>
        </p:nvSpPr>
        <p:spPr>
          <a:xfrm>
            <a:off x="155448" y="979055"/>
            <a:ext cx="11841480" cy="5197908"/>
          </a:xfrm>
        </p:spPr>
        <p:style>
          <a:lnRef idx="2">
            <a:schemeClr val="accent5"/>
          </a:lnRef>
          <a:fillRef idx="1">
            <a:schemeClr val="lt1"/>
          </a:fillRef>
          <a:effectRef idx="0">
            <a:schemeClr val="accent5"/>
          </a:effectRef>
          <a:fontRef idx="minor">
            <a:schemeClr val="dk1"/>
          </a:fontRef>
        </p:style>
        <p:txBody>
          <a:bodyPr>
            <a:normAutofit fontScale="92500" lnSpcReduction="20000"/>
          </a:bodyPr>
          <a:lstStyle/>
          <a:p>
            <a:pPr marL="703580" marR="381635" indent="0" algn="just">
              <a:spcAft>
                <a:spcPts val="0"/>
              </a:spcAft>
              <a:buNone/>
              <a:tabLst>
                <a:tab pos="502920" algn="l"/>
              </a:tabLst>
            </a:pPr>
            <a:r>
              <a:rPr lang="en-US" sz="2000" b="1" dirty="0">
                <a:effectLst/>
                <a:latin typeface="Times New Roman" panose="02020603050405020304" pitchFamily="18" charset="0"/>
                <a:ea typeface="Times New Roman" panose="02020603050405020304" pitchFamily="18" charset="0"/>
              </a:rPr>
              <a:t> </a:t>
            </a:r>
            <a:endParaRPr lang="en-IN" sz="2000" b="1" dirty="0">
              <a:effectLst/>
              <a:latin typeface="Times New Roman" panose="02020603050405020304" pitchFamily="18" charset="0"/>
              <a:ea typeface="Times New Roman" panose="02020603050405020304" pitchFamily="18" charset="0"/>
            </a:endParaRPr>
          </a:p>
          <a:p>
            <a:pPr marR="381635" indent="0" algn="just">
              <a:lnSpc>
                <a:spcPct val="153000"/>
              </a:lnSpc>
              <a:spcBef>
                <a:spcPts val="750"/>
              </a:spcBef>
              <a:buNone/>
              <a:tabLst>
                <a:tab pos="6751320" algn="l"/>
              </a:tabLst>
            </a:pPr>
            <a:r>
              <a:rPr lang="en-US" sz="1800" b="1" dirty="0">
                <a:effectLst/>
                <a:latin typeface="Times New Roman" panose="02020603050405020304" pitchFamily="18" charset="0"/>
                <a:ea typeface="Times New Roman" panose="02020603050405020304" pitchFamily="18" charset="0"/>
              </a:rPr>
              <a:t>Mr.</a:t>
            </a:r>
            <a:r>
              <a:rPr lang="en-US" sz="1800" b="1" spc="1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Prashanth</a:t>
            </a:r>
            <a:r>
              <a:rPr lang="en-US" sz="1800" b="1" spc="8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Kusuma,</a:t>
            </a:r>
            <a:r>
              <a:rPr lang="en-US" sz="1800" b="1" spc="8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Ms.</a:t>
            </a:r>
            <a:r>
              <a:rPr lang="en-US" sz="1800" b="1" spc="9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P.</a:t>
            </a:r>
            <a:r>
              <a:rPr lang="en-US" sz="1800" b="1" spc="-3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Bhavya Shr</a:t>
            </a:r>
            <a:r>
              <a:rPr lang="en-US" sz="1800" b="1" dirty="0">
                <a:latin typeface="Times New Roman" panose="02020603050405020304" pitchFamily="18" charset="0"/>
                <a:ea typeface="Times New Roman" panose="02020603050405020304" pitchFamily="18" charset="0"/>
              </a:rPr>
              <a:t>i   </a:t>
            </a:r>
            <a:r>
              <a:rPr lang="en-US" sz="1800" b="1" dirty="0">
                <a:effectLst/>
                <a:latin typeface="Times New Roman" panose="02020603050405020304" pitchFamily="18" charset="0"/>
                <a:ea typeface="Times New Roman" panose="02020603050405020304" pitchFamily="18" charset="0"/>
              </a:rPr>
              <a:t>[6] “Smart Home Systems: Overview and Comparative Analysis” By Mr.</a:t>
            </a:r>
            <a:r>
              <a:rPr lang="en-US" sz="1800" b="1" spc="9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Kalyan</a:t>
            </a:r>
            <a:r>
              <a:rPr lang="en-US" sz="1800" b="1" spc="90"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Chenumalla</a:t>
            </a:r>
            <a:r>
              <a:rPr lang="en-US" sz="1800" b="1" dirty="0">
                <a:effectLst/>
                <a:latin typeface="Times New Roman" panose="02020603050405020304" pitchFamily="18" charset="0"/>
                <a:ea typeface="Times New Roman" panose="02020603050405020304" pitchFamily="18" charset="0"/>
              </a:rPr>
              <a:t>,</a:t>
            </a:r>
            <a:r>
              <a:rPr lang="en-US" sz="1800" b="1" spc="9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Mr.</a:t>
            </a:r>
            <a:r>
              <a:rPr lang="en-US" sz="1800" b="1" spc="8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Srikanth</a:t>
            </a:r>
            <a:r>
              <a:rPr lang="en-US" sz="1800" b="1" spc="90"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Gottam</a:t>
            </a:r>
            <a:r>
              <a:rPr lang="en-US" sz="1800" b="1" dirty="0">
                <a:effectLst/>
                <a:latin typeface="Times New Roman" panose="02020603050405020304" pitchFamily="18" charset="0"/>
                <a:ea typeface="Times New Roman" panose="02020603050405020304" pitchFamily="18" charset="0"/>
              </a:rPr>
              <a:t>,</a:t>
            </a:r>
          </a:p>
          <a:p>
            <a:pPr marR="381635" indent="0" algn="just">
              <a:lnSpc>
                <a:spcPct val="153000"/>
              </a:lnSpc>
              <a:spcBef>
                <a:spcPts val="750"/>
              </a:spcBef>
              <a:buNone/>
              <a:tabLst>
                <a:tab pos="6751320" algn="l"/>
              </a:tabLst>
            </a:pPr>
            <a:r>
              <a:rPr lang="en-US" sz="1800" b="1" spc="9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Paper</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got</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published</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2019</a:t>
            </a:r>
            <a:endParaRPr lang="en-IN" sz="1800" dirty="0">
              <a:effectLst/>
              <a:latin typeface="Times New Roman" panose="02020603050405020304" pitchFamily="18" charset="0"/>
              <a:ea typeface="Times New Roman" panose="02020603050405020304" pitchFamily="18" charset="0"/>
            </a:endParaRPr>
          </a:p>
          <a:p>
            <a:pPr marR="381635" indent="0" algn="just">
              <a:lnSpc>
                <a:spcPct val="153000"/>
              </a:lnSpc>
              <a:spcBef>
                <a:spcPts val="705"/>
              </a:spcBef>
              <a:spcAft>
                <a:spcPts val="0"/>
              </a:spcAft>
              <a:buNone/>
              <a:tabLst>
                <a:tab pos="5850890" algn="l"/>
              </a:tabLst>
            </a:pPr>
            <a:r>
              <a:rPr lang="en-US" sz="1800" dirty="0">
                <a:effectLst/>
                <a:latin typeface="Times New Roman" panose="02020603050405020304" pitchFamily="18" charset="0"/>
                <a:ea typeface="Times New Roman" panose="02020603050405020304" pitchFamily="18" charset="0"/>
              </a:rPr>
              <a:t>Abstract: The idea behind Google assistant-controlled Home automation is to control home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devices with voice. On the market there are many devices available to do that, but making</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our</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own</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awesome.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this</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project,</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Google</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assistant</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requires</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voice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commands.</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Adafruit</a:t>
            </a:r>
            <a:r>
              <a:rPr lang="en-US" sz="1800" spc="-2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account</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which</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cloud</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based</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free</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IoT</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web</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server</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used</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create</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virtual</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switches,</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linking</a:t>
            </a:r>
            <a:r>
              <a:rPr lang="en-US" sz="1800" spc="-2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 IFTTT website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abbreviated as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“If</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This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Than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That”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which is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used to create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if</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else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conditional statements. The voice commands for Google assistant have been added through</a:t>
            </a:r>
            <a:r>
              <a:rPr lang="en-US" sz="1800" spc="5" dirty="0">
                <a:effectLst/>
                <a:latin typeface="Times New Roman" panose="02020603050405020304" pitchFamily="18" charset="0"/>
                <a:ea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rPr>
              <a:t>IFTTT</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website.</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this</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home</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automation,</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user</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gives</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commands</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Google</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assistant,</a:t>
            </a:r>
            <a:r>
              <a:rPr lang="en-US" sz="1800" spc="-2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Home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appliances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like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Bulb,</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Fan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Motor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etc.,</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can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controlled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accordingly.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commands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given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through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Google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assistant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decoded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sent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microcontroller, the microcontroller in turn control the relays connected to it. The device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connected to the respective relay can be turned On or OFF as per the users request to the</a:t>
            </a:r>
            <a:r>
              <a:rPr lang="en-US" sz="1800" spc="5" dirty="0">
                <a:effectLst/>
                <a:latin typeface="Times New Roman" panose="02020603050405020304" pitchFamily="18" charset="0"/>
                <a:ea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rPr>
              <a:t>Google</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Assistant.</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microcontroller</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used</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a:t>
            </a:r>
            <a:r>
              <a:rPr lang="en-US" sz="1800" spc="-55"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NodeMCU</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(ESP8266)</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communication</a:t>
            </a:r>
            <a:r>
              <a:rPr lang="en-US" sz="1800" spc="-2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between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microcontroller and</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application</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 established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via</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Wi-Fi</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(Internet).</a:t>
            </a:r>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135435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3639-5F27-6A06-A872-02D1F742396C}"/>
              </a:ext>
            </a:extLst>
          </p:cNvPr>
          <p:cNvSpPr>
            <a:spLocks noGrp="1"/>
          </p:cNvSpPr>
          <p:nvPr>
            <p:ph type="title"/>
          </p:nvPr>
        </p:nvSpPr>
        <p:spPr>
          <a:xfrm>
            <a:off x="838200" y="-2569463"/>
            <a:ext cx="10515600" cy="1600199"/>
          </a:xfrm>
        </p:spPr>
        <p:txBody>
          <a:bodyPr/>
          <a:lstStyle/>
          <a:p>
            <a:endParaRPr lang="en-IN" dirty="0"/>
          </a:p>
        </p:txBody>
      </p:sp>
      <p:sp>
        <p:nvSpPr>
          <p:cNvPr id="3" name="Content Placeholder 2">
            <a:extLst>
              <a:ext uri="{FF2B5EF4-FFF2-40B4-BE49-F238E27FC236}">
                <a16:creationId xmlns:a16="http://schemas.microsoft.com/office/drawing/2014/main" id="{F75039AA-3588-2C9F-16F3-E7A92A7DC992}"/>
              </a:ext>
            </a:extLst>
          </p:cNvPr>
          <p:cNvSpPr>
            <a:spLocks noGrp="1"/>
          </p:cNvSpPr>
          <p:nvPr>
            <p:ph idx="1"/>
          </p:nvPr>
        </p:nvSpPr>
        <p:spPr>
          <a:xfrm>
            <a:off x="155448" y="979055"/>
            <a:ext cx="11841480" cy="5197908"/>
          </a:xfrm>
        </p:spPr>
        <p:style>
          <a:lnRef idx="2">
            <a:schemeClr val="accent5"/>
          </a:lnRef>
          <a:fillRef idx="1">
            <a:schemeClr val="lt1"/>
          </a:fillRef>
          <a:effectRef idx="0">
            <a:schemeClr val="accent5"/>
          </a:effectRef>
          <a:fontRef idx="minor">
            <a:schemeClr val="dk1"/>
          </a:fontRef>
        </p:style>
        <p:txBody>
          <a:bodyPr>
            <a:normAutofit fontScale="70000" lnSpcReduction="20000"/>
          </a:bodyPr>
          <a:lstStyle/>
          <a:p>
            <a:pPr marL="0" indent="0" algn="just">
              <a:buNone/>
            </a:pPr>
            <a:r>
              <a:rPr lang="en-US" b="1" dirty="0" err="1"/>
              <a:t>Thanikonda</a:t>
            </a:r>
            <a:r>
              <a:rPr lang="en-US" b="1" dirty="0"/>
              <a:t> Madhuri, </a:t>
            </a:r>
            <a:r>
              <a:rPr lang="en-US" b="1" dirty="0" err="1"/>
              <a:t>Mullamuri</a:t>
            </a:r>
            <a:r>
              <a:rPr lang="en-US" b="1" dirty="0"/>
              <a:t> Anjali, Navya U, </a:t>
            </a:r>
            <a:r>
              <a:rPr lang="en-US" b="1" dirty="0" err="1"/>
              <a:t>Mandadi</a:t>
            </a:r>
            <a:r>
              <a:rPr lang="en-US" b="1" dirty="0"/>
              <a:t> Venkata </a:t>
            </a:r>
            <a:r>
              <a:rPr lang="en-US" b="1" dirty="0" err="1"/>
              <a:t>Sindhuja</a:t>
            </a:r>
            <a:r>
              <a:rPr lang="en-US" b="1" dirty="0"/>
              <a:t>, Prof. Mr. </a:t>
            </a:r>
            <a:r>
              <a:rPr lang="en-US" b="1" dirty="0" err="1"/>
              <a:t>Rajgopalan</a:t>
            </a:r>
            <a:r>
              <a:rPr lang="en-US" b="1" dirty="0"/>
              <a:t> </a:t>
            </a:r>
          </a:p>
          <a:p>
            <a:pPr marL="0" indent="0" algn="just">
              <a:buNone/>
            </a:pPr>
            <a:r>
              <a:rPr lang="en-US" b="1" dirty="0"/>
              <a:t>  “[7]HOME AUTOMATION USING IOT”</a:t>
            </a:r>
          </a:p>
          <a:p>
            <a:pPr marL="0" indent="0" algn="just">
              <a:buNone/>
            </a:pPr>
            <a:r>
              <a:rPr lang="en-US" dirty="0"/>
              <a:t>Abstract: The modern world is moving fast then our older world invention of high tech appliances has revolutionized our whole world and it has also sprouted the idea towards automation. Human lifestyles have been much easier thanks to the tv remotes we have had for our tv and many other electrical gadgets today. How many of you have considered automating home, that could allow you to use a controller to operate fan, led bulbs, as well as other electronic items in your house? Because humans have little time to manage any work, automating appliances is a quick and easy technique to manage any instrument or gadget that will perform as we want. As idea of automation is rapidly developing, we have seen a number of domestic automation technologies emerge over the years, like Home for Apple, Google Home, Amazon Echo, and </a:t>
            </a:r>
            <a:r>
              <a:rPr lang="en-US" dirty="0" err="1"/>
              <a:t>zigbee</a:t>
            </a:r>
            <a:r>
              <a:rPr lang="en-US" dirty="0"/>
              <a:t> automation and we can see many startups are working on it . The above technology makes our homes smarter, but they require a significant investment. So, the target of the project would be to put a efficient and pocket friendly home automation program in </a:t>
            </a:r>
            <a:r>
              <a:rPr lang="en-US" dirty="0" err="1"/>
              <a:t>place.By</a:t>
            </a:r>
            <a:r>
              <a:rPr lang="en-US" dirty="0"/>
              <a:t> bringing into use the day to day household items like fans and </a:t>
            </a:r>
            <a:r>
              <a:rPr lang="en-US" dirty="0" err="1"/>
              <a:t>geaser</a:t>
            </a:r>
            <a:r>
              <a:rPr lang="en-US" dirty="0"/>
              <a:t> this system is implemented. With the help of microcontroller and special support from IFTTT and </a:t>
            </a:r>
            <a:r>
              <a:rPr lang="en-US" dirty="0" err="1"/>
              <a:t>blynk</a:t>
            </a:r>
            <a:r>
              <a:rPr lang="en-US" dirty="0"/>
              <a:t> </a:t>
            </a:r>
            <a:r>
              <a:rPr lang="en-US" dirty="0" err="1"/>
              <a:t>programmes</a:t>
            </a:r>
            <a:r>
              <a:rPr lang="en-US" dirty="0"/>
              <a:t> the voice commands which </a:t>
            </a:r>
            <a:r>
              <a:rPr lang="en-US" dirty="0" err="1"/>
              <a:t>siri</a:t>
            </a:r>
            <a:r>
              <a:rPr lang="en-US" dirty="0"/>
              <a:t> </a:t>
            </a:r>
            <a:r>
              <a:rPr lang="en-US" dirty="0" err="1"/>
              <a:t>recieves</a:t>
            </a:r>
            <a:r>
              <a:rPr lang="en-US" dirty="0"/>
              <a:t> or </a:t>
            </a:r>
            <a:r>
              <a:rPr lang="en-US" dirty="0" err="1"/>
              <a:t>alexa</a:t>
            </a:r>
            <a:r>
              <a:rPr lang="en-US" dirty="0"/>
              <a:t> are translated. w hen necessary, the relays attached to appliances are controlled by microcontroller, which switches the connected device to each relay ON or OFF in accordance with the customer's request to Voice </a:t>
            </a:r>
            <a:r>
              <a:rPr lang="en-US" dirty="0" err="1"/>
              <a:t>Assistants.The</a:t>
            </a:r>
            <a:r>
              <a:rPr lang="en-US" dirty="0"/>
              <a:t> </a:t>
            </a:r>
            <a:r>
              <a:rPr lang="en-US" dirty="0" err="1"/>
              <a:t>NodeMCU</a:t>
            </a:r>
            <a:r>
              <a:rPr lang="en-US" dirty="0"/>
              <a:t> [ESP8266] microprocessor is employed, and Wireless Fidelity is used to establish connection with both the microprocessor as well as the applications. Keyword: IFTTT, </a:t>
            </a:r>
            <a:r>
              <a:rPr lang="en-US" dirty="0" err="1"/>
              <a:t>NodeMCU</a:t>
            </a:r>
            <a:r>
              <a:rPr lang="en-US" dirty="0"/>
              <a:t>, Relay Module, and Blynk. I. INTRODUCTION 21st century is the era of convenient, comfortable, secure and economical appliances</a:t>
            </a:r>
            <a:endParaRPr lang="en-IN" dirty="0"/>
          </a:p>
        </p:txBody>
      </p:sp>
    </p:spTree>
    <p:extLst>
      <p:ext uri="{BB962C8B-B14F-4D97-AF65-F5344CB8AC3E}">
        <p14:creationId xmlns:p14="http://schemas.microsoft.com/office/powerpoint/2010/main" val="2569128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3639-5F27-6A06-A872-02D1F742396C}"/>
              </a:ext>
            </a:extLst>
          </p:cNvPr>
          <p:cNvSpPr>
            <a:spLocks noGrp="1"/>
          </p:cNvSpPr>
          <p:nvPr>
            <p:ph type="title"/>
          </p:nvPr>
        </p:nvSpPr>
        <p:spPr>
          <a:xfrm>
            <a:off x="838200" y="-2569463"/>
            <a:ext cx="10515600" cy="1600199"/>
          </a:xfrm>
        </p:spPr>
        <p:txBody>
          <a:bodyPr/>
          <a:lstStyle/>
          <a:p>
            <a:endParaRPr lang="en-IN" dirty="0"/>
          </a:p>
        </p:txBody>
      </p:sp>
      <p:sp>
        <p:nvSpPr>
          <p:cNvPr id="3" name="Content Placeholder 2">
            <a:extLst>
              <a:ext uri="{FF2B5EF4-FFF2-40B4-BE49-F238E27FC236}">
                <a16:creationId xmlns:a16="http://schemas.microsoft.com/office/drawing/2014/main" id="{F75039AA-3588-2C9F-16F3-E7A92A7DC992}"/>
              </a:ext>
            </a:extLst>
          </p:cNvPr>
          <p:cNvSpPr>
            <a:spLocks noGrp="1"/>
          </p:cNvSpPr>
          <p:nvPr>
            <p:ph idx="1"/>
          </p:nvPr>
        </p:nvSpPr>
        <p:spPr>
          <a:xfrm>
            <a:off x="155448" y="979055"/>
            <a:ext cx="11841480" cy="5197908"/>
          </a:xfrm>
        </p:spPr>
        <p:style>
          <a:lnRef idx="2">
            <a:schemeClr val="accent5"/>
          </a:lnRef>
          <a:fillRef idx="1">
            <a:schemeClr val="lt1"/>
          </a:fillRef>
          <a:effectRef idx="0">
            <a:schemeClr val="accent5"/>
          </a:effectRef>
          <a:fontRef idx="minor">
            <a:schemeClr val="dk1"/>
          </a:fontRef>
        </p:style>
        <p:txBody>
          <a:bodyPr>
            <a:normAutofit/>
          </a:bodyPr>
          <a:lstStyle/>
          <a:p>
            <a:pPr marL="0" indent="0" algn="just">
              <a:buNone/>
            </a:pPr>
            <a:r>
              <a:rPr lang="en-US" b="1" dirty="0"/>
              <a:t>[8]Bluetooth based home automation system using cell phones: </a:t>
            </a:r>
          </a:p>
          <a:p>
            <a:pPr marL="0" indent="0" algn="just">
              <a:buNone/>
            </a:pPr>
            <a:r>
              <a:rPr lang="en-US" dirty="0"/>
              <a:t>In Bluetooth based home automation system the home appliances are connected to the Arduino BT board at input output ports using relay. The program of Arduino BT board is based on high level interactive C language of microcontrollers; the connection is made via Bluetooth. The password protection is provided so only authorized user is allowed to access the appliances. The Bluetooth connection is established between Arduino BT board and phone for wireless communication. In this system the python script is used and it can install on any of the Symbian OS environment, it is portable. One circuit is designed and implemented for receiving the feedback from the phone, which indicate the status of the device.</a:t>
            </a:r>
            <a:endParaRPr lang="en-IN" dirty="0"/>
          </a:p>
        </p:txBody>
      </p:sp>
    </p:spTree>
    <p:extLst>
      <p:ext uri="{BB962C8B-B14F-4D97-AF65-F5344CB8AC3E}">
        <p14:creationId xmlns:p14="http://schemas.microsoft.com/office/powerpoint/2010/main" val="2104881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3639-5F27-6A06-A872-02D1F742396C}"/>
              </a:ext>
            </a:extLst>
          </p:cNvPr>
          <p:cNvSpPr>
            <a:spLocks noGrp="1"/>
          </p:cNvSpPr>
          <p:nvPr>
            <p:ph type="title"/>
          </p:nvPr>
        </p:nvSpPr>
        <p:spPr>
          <a:xfrm>
            <a:off x="838200" y="-2569463"/>
            <a:ext cx="10515600" cy="1600199"/>
          </a:xfrm>
        </p:spPr>
        <p:txBody>
          <a:bodyPr/>
          <a:lstStyle/>
          <a:p>
            <a:endParaRPr lang="en-IN" dirty="0"/>
          </a:p>
        </p:txBody>
      </p:sp>
      <p:sp>
        <p:nvSpPr>
          <p:cNvPr id="3" name="Content Placeholder 2">
            <a:extLst>
              <a:ext uri="{FF2B5EF4-FFF2-40B4-BE49-F238E27FC236}">
                <a16:creationId xmlns:a16="http://schemas.microsoft.com/office/drawing/2014/main" id="{F75039AA-3588-2C9F-16F3-E7A92A7DC992}"/>
              </a:ext>
            </a:extLst>
          </p:cNvPr>
          <p:cNvSpPr>
            <a:spLocks noGrp="1"/>
          </p:cNvSpPr>
          <p:nvPr>
            <p:ph idx="1"/>
          </p:nvPr>
        </p:nvSpPr>
        <p:spPr>
          <a:xfrm>
            <a:off x="155448" y="979055"/>
            <a:ext cx="11841480" cy="5197908"/>
          </a:xfrm>
        </p:spPr>
        <p:style>
          <a:lnRef idx="2">
            <a:schemeClr val="accent5"/>
          </a:lnRef>
          <a:fillRef idx="1">
            <a:schemeClr val="lt1"/>
          </a:fillRef>
          <a:effectRef idx="0">
            <a:schemeClr val="accent5"/>
          </a:effectRef>
          <a:fontRef idx="minor">
            <a:schemeClr val="dk1"/>
          </a:fontRef>
        </p:style>
        <p:txBody>
          <a:bodyPr>
            <a:normAutofit lnSpcReduction="10000"/>
          </a:bodyPr>
          <a:lstStyle/>
          <a:p>
            <a:pPr marL="0" indent="0" algn="just">
              <a:buNone/>
            </a:pPr>
            <a:r>
              <a:rPr lang="en-US" b="1" dirty="0"/>
              <a:t>[9] Home automation using RF module: </a:t>
            </a:r>
          </a:p>
          <a:p>
            <a:pPr marL="0" indent="0" algn="just">
              <a:buNone/>
            </a:pPr>
            <a:r>
              <a:rPr lang="en-US" dirty="0"/>
              <a:t>The important goal of Home Automation System is to build a home automation system using a RF controlled remote. Now technology is accelerating so homes are also getting smarter. Modern homes are deliberately relocating from current l switches to centralized control system, containing RF controlled switches. </a:t>
            </a:r>
            <a:r>
              <a:rPr lang="en-US" dirty="0" err="1"/>
              <a:t>Todaytraditional</a:t>
            </a:r>
            <a:r>
              <a:rPr lang="en-US" dirty="0"/>
              <a:t> wall switches situated in various parts of the home makes it laborious t for the end user to go near them to control and operate. Even further </a:t>
            </a:r>
            <a:r>
              <a:rPr lang="en-US" dirty="0" err="1"/>
              <a:t>itturnsinto</a:t>
            </a:r>
            <a:r>
              <a:rPr lang="en-US" dirty="0"/>
              <a:t> </a:t>
            </a:r>
            <a:r>
              <a:rPr lang="en-US" dirty="0" err="1"/>
              <a:t>moreproblematic</a:t>
            </a:r>
            <a:r>
              <a:rPr lang="en-US" dirty="0"/>
              <a:t> for the old persons or physically handicapped people to do so. Home Automation using remote implements an easier solution with RF technology. In order to accomplish this, a RF remote is combined to the microcontroller on transmitter side that sends ON/OFF signals to the receiver where devices are connected. By operating the stated remote switch on the transmitter, the loads can be turned ON/OFF globally using wireless technology. </a:t>
            </a:r>
            <a:endParaRPr lang="en-IN" dirty="0"/>
          </a:p>
        </p:txBody>
      </p:sp>
    </p:spTree>
    <p:extLst>
      <p:ext uri="{BB962C8B-B14F-4D97-AF65-F5344CB8AC3E}">
        <p14:creationId xmlns:p14="http://schemas.microsoft.com/office/powerpoint/2010/main" val="1410256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3639-5F27-6A06-A872-02D1F742396C}"/>
              </a:ext>
            </a:extLst>
          </p:cNvPr>
          <p:cNvSpPr>
            <a:spLocks noGrp="1"/>
          </p:cNvSpPr>
          <p:nvPr>
            <p:ph type="title"/>
          </p:nvPr>
        </p:nvSpPr>
        <p:spPr>
          <a:xfrm>
            <a:off x="838200" y="-2569463"/>
            <a:ext cx="10515600" cy="1600199"/>
          </a:xfrm>
        </p:spPr>
        <p:txBody>
          <a:bodyPr/>
          <a:lstStyle/>
          <a:p>
            <a:endParaRPr lang="en-IN" dirty="0"/>
          </a:p>
        </p:txBody>
      </p:sp>
      <p:sp>
        <p:nvSpPr>
          <p:cNvPr id="3" name="Content Placeholder 2">
            <a:extLst>
              <a:ext uri="{FF2B5EF4-FFF2-40B4-BE49-F238E27FC236}">
                <a16:creationId xmlns:a16="http://schemas.microsoft.com/office/drawing/2014/main" id="{F75039AA-3588-2C9F-16F3-E7A92A7DC992}"/>
              </a:ext>
            </a:extLst>
          </p:cNvPr>
          <p:cNvSpPr>
            <a:spLocks noGrp="1"/>
          </p:cNvSpPr>
          <p:nvPr>
            <p:ph idx="1"/>
          </p:nvPr>
        </p:nvSpPr>
        <p:spPr>
          <a:xfrm>
            <a:off x="155448" y="979055"/>
            <a:ext cx="11841480" cy="5197908"/>
          </a:xfrm>
        </p:spPr>
        <p:style>
          <a:lnRef idx="2">
            <a:schemeClr val="accent5"/>
          </a:lnRef>
          <a:fillRef idx="1">
            <a:schemeClr val="lt1"/>
          </a:fillRef>
          <a:effectRef idx="0">
            <a:schemeClr val="accent5"/>
          </a:effectRef>
          <a:fontRef idx="minor">
            <a:schemeClr val="dk1"/>
          </a:fontRef>
        </p:style>
        <p:txBody>
          <a:bodyPr>
            <a:normAutofit/>
          </a:bodyPr>
          <a:lstStyle/>
          <a:p>
            <a:pPr marL="0" indent="0" algn="just">
              <a:buNone/>
            </a:pPr>
            <a:r>
              <a:rPr lang="en-US" b="1" dirty="0"/>
              <a:t>[10]. Raspberry pie home automation with wireless sensors using smart phone </a:t>
            </a:r>
            <a:r>
              <a:rPr lang="en-US" sz="2400" dirty="0"/>
              <a:t>Home Automation System has been developed with Raspberry Pi by reading the algorithm and subject of Email. Raspberry Pi guarantees to be an efficient platform for implementation powerful, and economic smart home automation. home automation using Raspberry pi is better than any other home automation methods in several ways. For example, DTMF (dual tone multi-frequency) using home automation, the call tariff is a big demerit, which is not the problem in their proposed method. In Home Automation using web server, the design of web server and the memory space required is dismiss by this method, because it just uses the already established web server service given by G-mail. LEDs were used to identify the switching action. This System is efficient and flexible interactive. </a:t>
            </a:r>
            <a:endParaRPr lang="en-IN" sz="2400" dirty="0"/>
          </a:p>
        </p:txBody>
      </p:sp>
    </p:spTree>
    <p:extLst>
      <p:ext uri="{BB962C8B-B14F-4D97-AF65-F5344CB8AC3E}">
        <p14:creationId xmlns:p14="http://schemas.microsoft.com/office/powerpoint/2010/main" val="3026652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3639-5F27-6A06-A872-02D1F742396C}"/>
              </a:ext>
            </a:extLst>
          </p:cNvPr>
          <p:cNvSpPr>
            <a:spLocks noGrp="1"/>
          </p:cNvSpPr>
          <p:nvPr>
            <p:ph type="title"/>
          </p:nvPr>
        </p:nvSpPr>
        <p:spPr>
          <a:xfrm>
            <a:off x="838200" y="-2569463"/>
            <a:ext cx="10515600" cy="1600199"/>
          </a:xfrm>
        </p:spPr>
        <p:txBody>
          <a:bodyPr/>
          <a:lstStyle/>
          <a:p>
            <a:endParaRPr lang="en-IN" dirty="0"/>
          </a:p>
        </p:txBody>
      </p:sp>
      <p:sp>
        <p:nvSpPr>
          <p:cNvPr id="3" name="Content Placeholder 2">
            <a:extLst>
              <a:ext uri="{FF2B5EF4-FFF2-40B4-BE49-F238E27FC236}">
                <a16:creationId xmlns:a16="http://schemas.microsoft.com/office/drawing/2014/main" id="{F75039AA-3588-2C9F-16F3-E7A92A7DC992}"/>
              </a:ext>
            </a:extLst>
          </p:cNvPr>
          <p:cNvSpPr>
            <a:spLocks noGrp="1"/>
          </p:cNvSpPr>
          <p:nvPr>
            <p:ph idx="1"/>
          </p:nvPr>
        </p:nvSpPr>
        <p:spPr>
          <a:xfrm>
            <a:off x="155448" y="979055"/>
            <a:ext cx="11841480" cy="5197908"/>
          </a:xfrm>
        </p:spPr>
        <p:style>
          <a:lnRef idx="2">
            <a:schemeClr val="accent5"/>
          </a:lnRef>
          <a:fillRef idx="1">
            <a:schemeClr val="lt1"/>
          </a:fillRef>
          <a:effectRef idx="0">
            <a:schemeClr val="accent5"/>
          </a:effectRef>
          <a:fontRef idx="minor">
            <a:schemeClr val="dk1"/>
          </a:fontRef>
        </p:style>
        <p:txBody>
          <a:bodyPr>
            <a:normAutofit/>
          </a:bodyPr>
          <a:lstStyle/>
          <a:p>
            <a:pPr marL="0" indent="0" algn="just">
              <a:buNone/>
            </a:pPr>
            <a:r>
              <a:rPr lang="en-US" sz="2000" b="1" dirty="0"/>
              <a:t>[11]. Wireless Home Automation system using IoT </a:t>
            </a:r>
          </a:p>
          <a:p>
            <a:pPr marL="0" indent="0" algn="just">
              <a:buNone/>
            </a:pPr>
            <a:r>
              <a:rPr lang="en-US" sz="2400" dirty="0"/>
              <a:t>This system uses mobiles or computers to control basic home control and function automatically through internet from anywhere around the </a:t>
            </a:r>
            <a:r>
              <a:rPr lang="en-US" sz="2400" dirty="0" err="1"/>
              <a:t>worldglobally</a:t>
            </a:r>
            <a:r>
              <a:rPr lang="en-US" sz="2400" dirty="0"/>
              <a:t>, an automated home is sometimes called a smart home. It is meant to save the electric power and human energy. The proposed system is a distributed home automation system, consists of server i.e. Wi-Fi module, sensors. Server controls and monitors the various sensors, and can be easily configured to handle more hardware interface module (sensors). The Arduino board, with built in Wi-Fi module acts as web server. Automation System can be accessed from the web browser of any local PC using server IP, or remotely from any PC or mobile handheld device connected to the internet with appropriate web browser through server real IP (internet IP). Wi-Fi technology is selected to be the network infrastructure that connects server and the sensors. Wi-Fi is chosen to improve system security (by using secure Wi-Fi connection), and to increase system mobility and scalability. </a:t>
            </a:r>
            <a:endParaRPr lang="en-IN" sz="2400" dirty="0"/>
          </a:p>
        </p:txBody>
      </p:sp>
    </p:spTree>
    <p:extLst>
      <p:ext uri="{BB962C8B-B14F-4D97-AF65-F5344CB8AC3E}">
        <p14:creationId xmlns:p14="http://schemas.microsoft.com/office/powerpoint/2010/main" val="3923268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3639-5F27-6A06-A872-02D1F742396C}"/>
              </a:ext>
            </a:extLst>
          </p:cNvPr>
          <p:cNvSpPr>
            <a:spLocks noGrp="1"/>
          </p:cNvSpPr>
          <p:nvPr>
            <p:ph type="title"/>
          </p:nvPr>
        </p:nvSpPr>
        <p:spPr>
          <a:xfrm>
            <a:off x="838200" y="-2569463"/>
            <a:ext cx="10515600" cy="1600199"/>
          </a:xfrm>
        </p:spPr>
        <p:txBody>
          <a:bodyPr/>
          <a:lstStyle/>
          <a:p>
            <a:endParaRPr lang="en-IN" dirty="0"/>
          </a:p>
        </p:txBody>
      </p:sp>
      <p:sp>
        <p:nvSpPr>
          <p:cNvPr id="5" name="Content Placeholder 4">
            <a:extLst>
              <a:ext uri="{FF2B5EF4-FFF2-40B4-BE49-F238E27FC236}">
                <a16:creationId xmlns:a16="http://schemas.microsoft.com/office/drawing/2014/main" id="{D7724FD9-9C11-BCB7-B069-3251A63EE453}"/>
              </a:ext>
            </a:extLst>
          </p:cNvPr>
          <p:cNvSpPr>
            <a:spLocks noGrp="1"/>
          </p:cNvSpPr>
          <p:nvPr>
            <p:ph idx="1"/>
          </p:nvPr>
        </p:nvSpPr>
        <p:spPr>
          <a:xfrm>
            <a:off x="838200" y="720435"/>
            <a:ext cx="10515600" cy="5456527"/>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lgn="just">
              <a:buNone/>
            </a:pPr>
            <a:r>
              <a:rPr lang="en-US" b="1" dirty="0"/>
              <a:t>[12]Home Automation System Neha Malik1 , Yogita Bodwade1 Government College of Engineering, Jalgaon, India1 </a:t>
            </a:r>
          </a:p>
          <a:p>
            <a:pPr marL="0" indent="0" algn="just">
              <a:buNone/>
            </a:pPr>
            <a:r>
              <a:rPr lang="en-US" dirty="0"/>
              <a:t>Abstract: </a:t>
            </a:r>
          </a:p>
          <a:p>
            <a:pPr marL="0" indent="0" algn="just">
              <a:buNone/>
            </a:pPr>
            <a:r>
              <a:rPr lang="en-US" dirty="0"/>
              <a:t> One of the topics which is gaining popularity is Home Automation System because of </a:t>
            </a:r>
            <a:r>
              <a:rPr lang="en-US" dirty="0" err="1"/>
              <a:t>itsinnumerous</a:t>
            </a:r>
            <a:r>
              <a:rPr lang="en-US" dirty="0"/>
              <a:t> advantages. Home automation refers to the monitoring and controlling of home appliances remotely. with the </a:t>
            </a:r>
            <a:r>
              <a:rPr lang="en-US" dirty="0" err="1"/>
              <a:t>neverending</a:t>
            </a:r>
            <a:r>
              <a:rPr lang="en-US" dirty="0"/>
              <a:t> growth of the Internet and its applications, there is much potential and scope for remote access and control and monitoring of such network enabled appliances. This paper deals with discussion of different intelligent home automation systems and technologies from a various features standpoint. The effort targeted on the home automation concept of where the controlling and monitoring operations are expediting through smart devices. Wide-ranging home automation systems and technologies considered in review with central controller based (Arduino or Raspberry pi), cloud-based, Bluetooth-based, SMS based, ZigBee based, mobile-based, RF Module based, web based and the Internet with performance. </a:t>
            </a:r>
            <a:endParaRPr lang="en-IN" dirty="0"/>
          </a:p>
        </p:txBody>
      </p:sp>
    </p:spTree>
    <p:extLst>
      <p:ext uri="{BB962C8B-B14F-4D97-AF65-F5344CB8AC3E}">
        <p14:creationId xmlns:p14="http://schemas.microsoft.com/office/powerpoint/2010/main" val="2033586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3639-5F27-6A06-A872-02D1F742396C}"/>
              </a:ext>
            </a:extLst>
          </p:cNvPr>
          <p:cNvSpPr>
            <a:spLocks noGrp="1"/>
          </p:cNvSpPr>
          <p:nvPr>
            <p:ph type="title"/>
          </p:nvPr>
        </p:nvSpPr>
        <p:spPr>
          <a:xfrm>
            <a:off x="838200" y="-2569463"/>
            <a:ext cx="10515600" cy="1600199"/>
          </a:xfrm>
        </p:spPr>
        <p:txBody>
          <a:bodyPr/>
          <a:lstStyle/>
          <a:p>
            <a:endParaRPr lang="en-IN" dirty="0"/>
          </a:p>
        </p:txBody>
      </p:sp>
      <p:sp>
        <p:nvSpPr>
          <p:cNvPr id="5" name="Content Placeholder 4">
            <a:extLst>
              <a:ext uri="{FF2B5EF4-FFF2-40B4-BE49-F238E27FC236}">
                <a16:creationId xmlns:a16="http://schemas.microsoft.com/office/drawing/2014/main" id="{D7724FD9-9C11-BCB7-B069-3251A63EE453}"/>
              </a:ext>
            </a:extLst>
          </p:cNvPr>
          <p:cNvSpPr>
            <a:spLocks noGrp="1"/>
          </p:cNvSpPr>
          <p:nvPr>
            <p:ph idx="1"/>
          </p:nvPr>
        </p:nvSpPr>
        <p:spPr>
          <a:xfrm>
            <a:off x="838200" y="720435"/>
            <a:ext cx="10515600" cy="5456527"/>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lgn="just">
              <a:buNone/>
            </a:pPr>
            <a:r>
              <a:rPr lang="en-US" b="1" dirty="0"/>
              <a:t>Lokesh Varshney [13] “Literature Review on Home Automation System”</a:t>
            </a:r>
          </a:p>
          <a:p>
            <a:pPr marL="0" indent="0" algn="just">
              <a:buNone/>
            </a:pPr>
            <a:r>
              <a:rPr lang="en-US" b="1" dirty="0"/>
              <a:t> </a:t>
            </a:r>
            <a:r>
              <a:rPr lang="en-US" sz="2200" dirty="0"/>
              <a:t>Abstract: </a:t>
            </a:r>
          </a:p>
          <a:p>
            <a:pPr marL="0" indent="0" algn="just">
              <a:buNone/>
            </a:pPr>
            <a:r>
              <a:rPr lang="en-US" sz="2200" dirty="0"/>
              <a:t>One of the topics which are gaining popularity is Home Automation System because of its numerous advantages. Home automation refers to the monitoring and controlling of home appliances remotely. Due to never ending growth of the Internet and its applications, there is much potential and scope for remote access, control and monitoring of such network enabled appliances. A home automation system means to grant the end-users to manage and handle the electric appliances. If we look at different home automation systems over time, they have always tried to provide efficient, convenient, and safe ways for home inhabitants to access their homes. This paper deals with discussion of different intelligent home automation systems and technologies from a various features standpoint. The effort targeted on the home automation concept of where the controlling and monitoring operations are expediting through smart devices. </a:t>
            </a:r>
            <a:r>
              <a:rPr lang="en-US" sz="2200" dirty="0" err="1"/>
              <a:t>Wideranging</a:t>
            </a:r>
            <a:r>
              <a:rPr lang="en-US" sz="2200" dirty="0"/>
              <a:t> home automation systems and technologies are considered in review with central controller, cloud-based, Bluetooth-based, SMS based, ZigBee based, mobile-based, RF Module based, web based and the Internet with performance. Keywords: Home Automation, Intelligence, Microcontroller, Raspberry pi, Sensor System, User-friendly Interface. </a:t>
            </a:r>
            <a:endParaRPr lang="en-IN" sz="2200" dirty="0"/>
          </a:p>
        </p:txBody>
      </p:sp>
    </p:spTree>
    <p:extLst>
      <p:ext uri="{BB962C8B-B14F-4D97-AF65-F5344CB8AC3E}">
        <p14:creationId xmlns:p14="http://schemas.microsoft.com/office/powerpoint/2010/main" val="3028187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3639-5F27-6A06-A872-02D1F742396C}"/>
              </a:ext>
            </a:extLst>
          </p:cNvPr>
          <p:cNvSpPr>
            <a:spLocks noGrp="1"/>
          </p:cNvSpPr>
          <p:nvPr>
            <p:ph type="title"/>
          </p:nvPr>
        </p:nvSpPr>
        <p:spPr>
          <a:xfrm>
            <a:off x="838200" y="-2569463"/>
            <a:ext cx="10515600" cy="1600199"/>
          </a:xfrm>
        </p:spPr>
        <p:txBody>
          <a:bodyPr/>
          <a:lstStyle/>
          <a:p>
            <a:endParaRPr lang="en-IN" dirty="0"/>
          </a:p>
        </p:txBody>
      </p:sp>
      <p:sp>
        <p:nvSpPr>
          <p:cNvPr id="5" name="Content Placeholder 4">
            <a:extLst>
              <a:ext uri="{FF2B5EF4-FFF2-40B4-BE49-F238E27FC236}">
                <a16:creationId xmlns:a16="http://schemas.microsoft.com/office/drawing/2014/main" id="{D7724FD9-9C11-BCB7-B069-3251A63EE453}"/>
              </a:ext>
            </a:extLst>
          </p:cNvPr>
          <p:cNvSpPr>
            <a:spLocks noGrp="1"/>
          </p:cNvSpPr>
          <p:nvPr>
            <p:ph idx="1"/>
          </p:nvPr>
        </p:nvSpPr>
        <p:spPr>
          <a:xfrm>
            <a:off x="838200" y="720435"/>
            <a:ext cx="10515600" cy="5456527"/>
          </a:xfrm>
        </p:spPr>
        <p:style>
          <a:lnRef idx="2">
            <a:schemeClr val="accent1"/>
          </a:lnRef>
          <a:fillRef idx="1">
            <a:schemeClr val="lt1"/>
          </a:fillRef>
          <a:effectRef idx="0">
            <a:schemeClr val="accent1"/>
          </a:effectRef>
          <a:fontRef idx="minor">
            <a:schemeClr val="dk1"/>
          </a:fontRef>
        </p:style>
        <p:txBody>
          <a:bodyPr>
            <a:normAutofit/>
          </a:bodyPr>
          <a:lstStyle/>
          <a:p>
            <a:pPr marL="0" indent="0" algn="just">
              <a:buNone/>
            </a:pPr>
            <a:r>
              <a:rPr lang="en-IN" sz="1600" b="0" i="0" u="none" strike="noStrike" dirty="0" err="1">
                <a:solidFill>
                  <a:srgbClr val="006699"/>
                </a:solidFill>
                <a:effectLst/>
                <a:highlight>
                  <a:srgbClr val="FFFFFF"/>
                </a:highlight>
                <a:latin typeface="HelveticaNeue Regular"/>
                <a:hlinkClick r:id="rId2"/>
              </a:rPr>
              <a:t>Ranjeeta</a:t>
            </a:r>
            <a:r>
              <a:rPr lang="en-IN" sz="1600" b="0" i="0" u="none" strike="noStrike" dirty="0">
                <a:solidFill>
                  <a:srgbClr val="006699"/>
                </a:solidFill>
                <a:effectLst/>
                <a:highlight>
                  <a:srgbClr val="FFFFFF"/>
                </a:highlight>
                <a:latin typeface="HelveticaNeue Regular"/>
                <a:hlinkClick r:id="rId2"/>
              </a:rPr>
              <a:t> Kaur</a:t>
            </a:r>
            <a:r>
              <a:rPr lang="en-IN" sz="1600" b="0" i="0" dirty="0">
                <a:solidFill>
                  <a:srgbClr val="333333"/>
                </a:solidFill>
                <a:effectLst/>
                <a:highlight>
                  <a:srgbClr val="FFFFFF"/>
                </a:highlight>
                <a:latin typeface="HelveticaNeue Regular"/>
              </a:rPr>
              <a:t>; </a:t>
            </a:r>
            <a:r>
              <a:rPr lang="en-IN" sz="1600" b="0" i="0" u="none" strike="noStrike" dirty="0">
                <a:solidFill>
                  <a:srgbClr val="006699"/>
                </a:solidFill>
                <a:effectLst/>
                <a:highlight>
                  <a:srgbClr val="FFFFFF"/>
                </a:highlight>
                <a:latin typeface="HelveticaNeue Regular"/>
                <a:hlinkClick r:id="rId3"/>
              </a:rPr>
              <a:t>Prashant Vats</a:t>
            </a:r>
            <a:r>
              <a:rPr lang="en-IN" sz="1600" b="0" i="0" dirty="0">
                <a:solidFill>
                  <a:srgbClr val="333333"/>
                </a:solidFill>
                <a:effectLst/>
                <a:highlight>
                  <a:srgbClr val="FFFFFF"/>
                </a:highlight>
                <a:latin typeface="HelveticaNeue Regular"/>
              </a:rPr>
              <a:t>; </a:t>
            </a:r>
            <a:r>
              <a:rPr lang="en-IN" sz="1600" b="0" i="0" u="none" strike="noStrike" dirty="0">
                <a:solidFill>
                  <a:srgbClr val="006699"/>
                </a:solidFill>
                <a:effectLst/>
                <a:highlight>
                  <a:srgbClr val="FFFFFF"/>
                </a:highlight>
                <a:latin typeface="HelveticaNeue Regular"/>
                <a:hlinkClick r:id="rId4"/>
              </a:rPr>
              <a:t>Manju </a:t>
            </a:r>
            <a:r>
              <a:rPr lang="en-IN" sz="1600" b="0" i="0" u="none" strike="noStrike" dirty="0" err="1">
                <a:solidFill>
                  <a:srgbClr val="006699"/>
                </a:solidFill>
                <a:effectLst/>
                <a:highlight>
                  <a:srgbClr val="FFFFFF"/>
                </a:highlight>
                <a:latin typeface="HelveticaNeue Regular"/>
                <a:hlinkClick r:id="rId4"/>
              </a:rPr>
              <a:t>Mandot</a:t>
            </a:r>
            <a:r>
              <a:rPr lang="en-IN" sz="1600" b="0" i="0" dirty="0">
                <a:solidFill>
                  <a:srgbClr val="333333"/>
                </a:solidFill>
                <a:effectLst/>
                <a:highlight>
                  <a:srgbClr val="FFFFFF"/>
                </a:highlight>
                <a:latin typeface="HelveticaNeue Regular"/>
              </a:rPr>
              <a:t>; </a:t>
            </a:r>
            <a:r>
              <a:rPr lang="en-IN" sz="1600" b="0" i="0" u="none" strike="noStrike" dirty="0">
                <a:solidFill>
                  <a:srgbClr val="006699"/>
                </a:solidFill>
                <a:effectLst/>
                <a:highlight>
                  <a:srgbClr val="FFFFFF"/>
                </a:highlight>
                <a:latin typeface="HelveticaNeue Regular"/>
                <a:hlinkClick r:id="rId5"/>
              </a:rPr>
              <a:t>Siddhartha Sankar Biswas</a:t>
            </a:r>
            <a:r>
              <a:rPr lang="en-IN" sz="1600" b="0" i="0" dirty="0">
                <a:solidFill>
                  <a:srgbClr val="333333"/>
                </a:solidFill>
                <a:effectLst/>
                <a:highlight>
                  <a:srgbClr val="FFFFFF"/>
                </a:highlight>
                <a:latin typeface="HelveticaNeue Regular"/>
              </a:rPr>
              <a:t>;</a:t>
            </a:r>
          </a:p>
          <a:p>
            <a:pPr marL="0" indent="0" algn="just">
              <a:buNone/>
            </a:pPr>
            <a:r>
              <a:rPr lang="en-US" sz="1600" b="1" i="0" dirty="0">
                <a:solidFill>
                  <a:srgbClr val="333333"/>
                </a:solidFill>
                <a:effectLst/>
                <a:highlight>
                  <a:srgbClr val="FFFFFF"/>
                </a:highlight>
                <a:latin typeface="HelveticaNeue Regular"/>
              </a:rPr>
              <a:t>[14] </a:t>
            </a:r>
            <a:r>
              <a:rPr lang="en-US" sz="1600" b="1" dirty="0">
                <a:solidFill>
                  <a:srgbClr val="333333"/>
                </a:solidFill>
                <a:highlight>
                  <a:srgbClr val="FFFFFF"/>
                </a:highlight>
                <a:latin typeface="HelveticaNeue Regular"/>
              </a:rPr>
              <a:t>”</a:t>
            </a:r>
            <a:r>
              <a:rPr lang="en-US" sz="1600" b="1" i="0" dirty="0">
                <a:solidFill>
                  <a:srgbClr val="333333"/>
                </a:solidFill>
                <a:effectLst/>
                <a:highlight>
                  <a:srgbClr val="FFFFFF"/>
                </a:highlight>
                <a:latin typeface="HelveticaNeue Regular"/>
              </a:rPr>
              <a:t>Literature Survey for IoT-based Smart Home Automation: A Comparative Analysis”</a:t>
            </a:r>
          </a:p>
          <a:p>
            <a:pPr marL="0" indent="0" algn="just">
              <a:buNone/>
            </a:pPr>
            <a:r>
              <a:rPr lang="en-US" sz="2400" b="1" dirty="0">
                <a:solidFill>
                  <a:srgbClr val="333333"/>
                </a:solidFill>
                <a:highlight>
                  <a:srgbClr val="FFFFFF"/>
                </a:highlight>
                <a:latin typeface="HelveticaNeue Regular"/>
              </a:rPr>
              <a:t>Abstract:</a:t>
            </a:r>
          </a:p>
          <a:p>
            <a:pPr marL="0" indent="0" algn="just">
              <a:buNone/>
            </a:pPr>
            <a:r>
              <a:rPr lang="en-US" sz="2000" b="0" i="0" dirty="0">
                <a:solidFill>
                  <a:srgbClr val="333333"/>
                </a:solidFill>
                <a:effectLst/>
                <a:highlight>
                  <a:srgbClr val="FFFFFF"/>
                </a:highlight>
                <a:latin typeface="HelveticaNeue Regular"/>
              </a:rPr>
              <a:t>Any technology that allows a gadget to connect to the Internet is referred to as the “Internet of Things.” For such systems, data collection is crucial. Afterward, the data is used for internet-based control, monitoring, and data transmission to other devices. Smart House technology is the future of domestic technology, with the goal of offering and distributing a range of services both within and outside the home via networked devices that combine and integrate all of the many applications and intelligence behind them. These smart gadgets have the capacity to communicate with one another thanks to the continual availability of a broadband internet connection. As a result, smart home technology is now integrated into the Internet of Things (IoT). We provided a literature review on Smart Home Automation in this research study, which gives homeowners peace of mind by allowing them to monitor and protect their houses from away.</a:t>
            </a:r>
            <a:endParaRPr lang="en-IN" sz="2000" dirty="0"/>
          </a:p>
        </p:txBody>
      </p:sp>
    </p:spTree>
    <p:extLst>
      <p:ext uri="{BB962C8B-B14F-4D97-AF65-F5344CB8AC3E}">
        <p14:creationId xmlns:p14="http://schemas.microsoft.com/office/powerpoint/2010/main" val="634269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3639-5F27-6A06-A872-02D1F742396C}"/>
              </a:ext>
            </a:extLst>
          </p:cNvPr>
          <p:cNvSpPr>
            <a:spLocks noGrp="1"/>
          </p:cNvSpPr>
          <p:nvPr>
            <p:ph type="title"/>
          </p:nvPr>
        </p:nvSpPr>
        <p:spPr>
          <a:xfrm>
            <a:off x="838200" y="-2569463"/>
            <a:ext cx="10515600" cy="1600199"/>
          </a:xfrm>
        </p:spPr>
        <p:txBody>
          <a:bodyPr/>
          <a:lstStyle/>
          <a:p>
            <a:endParaRPr lang="en-IN" dirty="0"/>
          </a:p>
        </p:txBody>
      </p:sp>
      <p:sp>
        <p:nvSpPr>
          <p:cNvPr id="5" name="Content Placeholder 4">
            <a:extLst>
              <a:ext uri="{FF2B5EF4-FFF2-40B4-BE49-F238E27FC236}">
                <a16:creationId xmlns:a16="http://schemas.microsoft.com/office/drawing/2014/main" id="{D7724FD9-9C11-BCB7-B069-3251A63EE453}"/>
              </a:ext>
            </a:extLst>
          </p:cNvPr>
          <p:cNvSpPr>
            <a:spLocks noGrp="1"/>
          </p:cNvSpPr>
          <p:nvPr>
            <p:ph idx="1"/>
          </p:nvPr>
        </p:nvSpPr>
        <p:spPr>
          <a:xfrm>
            <a:off x="838200" y="720435"/>
            <a:ext cx="10515600" cy="5456527"/>
          </a:xfrm>
        </p:spPr>
        <p:style>
          <a:lnRef idx="2">
            <a:schemeClr val="accent1"/>
          </a:lnRef>
          <a:fillRef idx="1">
            <a:schemeClr val="lt1"/>
          </a:fillRef>
          <a:effectRef idx="0">
            <a:schemeClr val="accent1"/>
          </a:effectRef>
          <a:fontRef idx="minor">
            <a:schemeClr val="dk1"/>
          </a:fontRef>
        </p:style>
        <p:txBody>
          <a:bodyPr>
            <a:normAutofit/>
          </a:bodyPr>
          <a:lstStyle/>
          <a:p>
            <a:pPr marL="0" indent="0" algn="just">
              <a:buNone/>
            </a:pPr>
            <a:r>
              <a:rPr lang="en-US" sz="2000" b="1" i="0" u="none" strike="noStrike" dirty="0">
                <a:solidFill>
                  <a:srgbClr val="0076D4"/>
                </a:solidFill>
                <a:effectLst/>
                <a:latin typeface="NexusSansWebPro"/>
                <a:hlinkClick r:id="rId2" tooltip="View other papers by this author"/>
              </a:rPr>
              <a:t>Prachi </a:t>
            </a:r>
            <a:r>
              <a:rPr lang="en-US" sz="2000" b="1" i="0" u="none" strike="noStrike" dirty="0" err="1">
                <a:solidFill>
                  <a:srgbClr val="0076D4"/>
                </a:solidFill>
                <a:effectLst/>
                <a:latin typeface="NexusSansWebPro"/>
                <a:hlinkClick r:id="rId2" tooltip="View other papers by this author"/>
              </a:rPr>
              <a:t>Sharma</a:t>
            </a:r>
            <a:r>
              <a:rPr lang="en-US" sz="2000" b="1" i="0" dirty="0" err="1">
                <a:solidFill>
                  <a:srgbClr val="505050"/>
                </a:solidFill>
                <a:effectLst/>
                <a:latin typeface="inherit"/>
              </a:rPr>
              <a:t>NSUT</a:t>
            </a:r>
            <a:endParaRPr lang="en-US" sz="2000" b="1" i="0" dirty="0">
              <a:solidFill>
                <a:srgbClr val="505050"/>
              </a:solidFill>
              <a:effectLst/>
              <a:latin typeface="inherit"/>
            </a:endParaRPr>
          </a:p>
          <a:p>
            <a:pPr marL="0" indent="0" algn="just">
              <a:buNone/>
            </a:pPr>
            <a:r>
              <a:rPr lang="en-US" sz="2000" b="1" i="0" u="none" strike="noStrike" dirty="0">
                <a:solidFill>
                  <a:srgbClr val="0076D4"/>
                </a:solidFill>
                <a:effectLst/>
                <a:latin typeface="NexusSansWebPro"/>
                <a:hlinkClick r:id="rId3" tooltip="View other papers by this author"/>
              </a:rPr>
              <a:t>Vibha </a:t>
            </a:r>
            <a:r>
              <a:rPr lang="en-US" sz="2000" b="1" i="0" u="none" strike="noStrike" dirty="0" err="1">
                <a:solidFill>
                  <a:srgbClr val="0076D4"/>
                </a:solidFill>
                <a:effectLst/>
                <a:latin typeface="NexusSansWebPro"/>
                <a:hlinkClick r:id="rId3" tooltip="View other papers by this author"/>
              </a:rPr>
              <a:t>Jain</a:t>
            </a:r>
            <a:r>
              <a:rPr lang="en-US" sz="2000" b="1" i="0" dirty="0" err="1">
                <a:solidFill>
                  <a:srgbClr val="505050"/>
                </a:solidFill>
                <a:effectLst/>
                <a:latin typeface="inherit"/>
              </a:rPr>
              <a:t>NSUT</a:t>
            </a:r>
            <a:r>
              <a:rPr lang="en-US" sz="2000" b="1" dirty="0">
                <a:solidFill>
                  <a:srgbClr val="505050"/>
                </a:solidFill>
                <a:latin typeface="inherit"/>
              </a:rPr>
              <a:t>   </a:t>
            </a:r>
            <a:r>
              <a:rPr lang="en-US" sz="2000" b="1" i="0" dirty="0">
                <a:solidFill>
                  <a:srgbClr val="222222"/>
                </a:solidFill>
                <a:effectLst/>
                <a:latin typeface="NexusSerifWebPro"/>
              </a:rPr>
              <a:t>[15]Smart Home Automation: Literature Review</a:t>
            </a:r>
          </a:p>
          <a:p>
            <a:pPr marL="0" indent="0" algn="just">
              <a:buNone/>
            </a:pPr>
            <a:r>
              <a:rPr lang="en-US" sz="2000" b="1" i="0" u="none" strike="noStrike" dirty="0">
                <a:solidFill>
                  <a:srgbClr val="0076D4"/>
                </a:solidFill>
                <a:effectLst/>
                <a:latin typeface="NexusSansWebPro"/>
                <a:hlinkClick r:id="rId4" tooltip="View other papers by this author"/>
              </a:rPr>
              <a:t>Poonam </a:t>
            </a:r>
            <a:r>
              <a:rPr lang="en-US" sz="2000" b="1" i="0" u="none" strike="noStrike" dirty="0" err="1">
                <a:solidFill>
                  <a:srgbClr val="0076D4"/>
                </a:solidFill>
                <a:effectLst/>
                <a:latin typeface="NexusSansWebPro"/>
                <a:hlinkClick r:id="rId4" tooltip="View other papers by this author"/>
              </a:rPr>
              <a:t>Rani</a:t>
            </a:r>
            <a:r>
              <a:rPr lang="en-US" sz="2000" b="1" i="0" dirty="0" err="1">
                <a:solidFill>
                  <a:srgbClr val="505050"/>
                </a:solidFill>
                <a:effectLst/>
                <a:latin typeface="inherit"/>
              </a:rPr>
              <a:t>Netaji</a:t>
            </a:r>
            <a:r>
              <a:rPr lang="en-US" sz="2000" b="1" i="0" dirty="0">
                <a:solidFill>
                  <a:srgbClr val="505050"/>
                </a:solidFill>
                <a:effectLst/>
                <a:latin typeface="inherit"/>
              </a:rPr>
              <a:t> Subhas Institute of Technology (NSIT) – “Netaji Subhas University of Technology”</a:t>
            </a:r>
          </a:p>
          <a:p>
            <a:pPr marL="0" indent="0" algn="just">
              <a:buNone/>
            </a:pPr>
            <a:r>
              <a:rPr lang="en-US" sz="2000" b="1" i="0" dirty="0">
                <a:solidFill>
                  <a:srgbClr val="505050"/>
                </a:solidFill>
                <a:effectLst/>
                <a:latin typeface="NexusSansWebPro"/>
              </a:rPr>
              <a:t>Date Written: July 12, 2021</a:t>
            </a:r>
          </a:p>
          <a:p>
            <a:pPr marL="0" indent="0" algn="just">
              <a:buNone/>
            </a:pPr>
            <a:r>
              <a:rPr lang="en-US" sz="2000" b="1" i="0" dirty="0">
                <a:solidFill>
                  <a:srgbClr val="222222"/>
                </a:solidFill>
                <a:effectLst/>
                <a:latin typeface="NexusSansWebPro"/>
              </a:rPr>
              <a:t>Abstract</a:t>
            </a:r>
          </a:p>
          <a:p>
            <a:pPr marL="0" indent="0" algn="just">
              <a:buNone/>
            </a:pPr>
            <a:r>
              <a:rPr lang="en-US" sz="2000" dirty="0">
                <a:solidFill>
                  <a:srgbClr val="505050"/>
                </a:solidFill>
                <a:latin typeface="inherit"/>
              </a:rPr>
              <a:t>Home automation systems are nowadays becoming very popular and gaining lots of attention. It helps a person to be more comfortable. It has also enhanced the quality of life. Di</a:t>
            </a:r>
            <a:br>
              <a:rPr lang="en-US" sz="2000" dirty="0">
                <a:solidFill>
                  <a:srgbClr val="505050"/>
                </a:solidFill>
                <a:latin typeface="inherit"/>
              </a:rPr>
            </a:br>
            <a:r>
              <a:rPr lang="en-US" sz="2000" dirty="0" err="1">
                <a:solidFill>
                  <a:srgbClr val="505050"/>
                </a:solidFill>
                <a:latin typeface="inherit"/>
              </a:rPr>
              <a:t>erent</a:t>
            </a:r>
            <a:r>
              <a:rPr lang="en-US" sz="2000" dirty="0">
                <a:solidFill>
                  <a:srgbClr val="505050"/>
                </a:solidFill>
                <a:latin typeface="inherit"/>
              </a:rPr>
              <a:t> methods are discussed. Nowadays, a smartphone or a website is used to assist, control and manage the devices present in the home. This paper shows various types of methods. The pros and cons of these along with their features have been discussed A person can choose a </a:t>
            </a:r>
            <a:r>
              <a:rPr lang="en-US" sz="2000" dirty="0" err="1">
                <a:solidFill>
                  <a:srgbClr val="505050"/>
                </a:solidFill>
                <a:latin typeface="inherit"/>
              </a:rPr>
              <a:t>specic</a:t>
            </a:r>
            <a:r>
              <a:rPr lang="en-US" sz="2000" dirty="0">
                <a:solidFill>
                  <a:srgbClr val="505050"/>
                </a:solidFill>
                <a:latin typeface="inherit"/>
              </a:rPr>
              <a:t> method based on their requirements.</a:t>
            </a:r>
          </a:p>
          <a:p>
            <a:pPr marL="0" indent="0" algn="just">
              <a:buNone/>
            </a:pPr>
            <a:endParaRPr lang="en-US" sz="2000" b="1" i="0" dirty="0">
              <a:solidFill>
                <a:srgbClr val="222222"/>
              </a:solidFill>
              <a:effectLst/>
              <a:latin typeface="NexusSansWebPro"/>
            </a:endParaRPr>
          </a:p>
          <a:p>
            <a:pPr marL="0" indent="0" algn="just">
              <a:buNone/>
            </a:pPr>
            <a:endParaRPr lang="en-IN" sz="2000" dirty="0"/>
          </a:p>
        </p:txBody>
      </p:sp>
    </p:spTree>
    <p:extLst>
      <p:ext uri="{BB962C8B-B14F-4D97-AF65-F5344CB8AC3E}">
        <p14:creationId xmlns:p14="http://schemas.microsoft.com/office/powerpoint/2010/main" val="1947734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D8B6-3CA1-19E0-64DE-8F67ECC379C9}"/>
              </a:ext>
            </a:extLst>
          </p:cNvPr>
          <p:cNvSpPr>
            <a:spLocks noGrp="1"/>
          </p:cNvSpPr>
          <p:nvPr>
            <p:ph type="title"/>
          </p:nvPr>
        </p:nvSpPr>
        <p:spPr>
          <a:xfrm>
            <a:off x="838200" y="558800"/>
            <a:ext cx="10515600" cy="832678"/>
          </a:xfrm>
        </p:spPr>
        <p:txBody>
          <a:bodyPr>
            <a:normAutofit/>
          </a:bodyPr>
          <a:lstStyle/>
          <a:p>
            <a:r>
              <a:rPr lang="en-US" b="1" i="1" dirty="0">
                <a:effectLst>
                  <a:outerShdw blurRad="38100" dist="38100" dir="2700000" algn="tl">
                    <a:srgbClr val="000000">
                      <a:alpha val="43137"/>
                    </a:srgbClr>
                  </a:outerShdw>
                </a:effectLst>
                <a:ea typeface="Times New Roman" panose="02020603050405020304" pitchFamily="18" charset="0"/>
              </a:rPr>
              <a:t>PROPOSED SYSTEM</a:t>
            </a:r>
            <a:endParaRPr lang="en-IN" i="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F3037BE4-FB9C-D77F-C215-F44C9F4E2E73}"/>
              </a:ext>
            </a:extLst>
          </p:cNvPr>
          <p:cNvSpPr>
            <a:spLocks noGrp="1"/>
          </p:cNvSpPr>
          <p:nvPr>
            <p:ph idx="1"/>
          </p:nvPr>
        </p:nvSpPr>
        <p:spPr>
          <a:xfrm>
            <a:off x="838200" y="1391478"/>
            <a:ext cx="10515600" cy="4907722"/>
          </a:xfrm>
        </p:spPr>
        <p:txBody>
          <a:bodyPr>
            <a:normAutofit lnSpcReduction="10000"/>
          </a:bodyPr>
          <a:lstStyle/>
          <a:p>
            <a:pPr marL="0" indent="0" algn="l">
              <a:buNone/>
            </a:pPr>
            <a:r>
              <a:rPr lang="en-US" b="0" i="0" dirty="0">
                <a:solidFill>
                  <a:srgbClr val="111111"/>
                </a:solidFill>
                <a:effectLst/>
                <a:highlight>
                  <a:srgbClr val="FFFFFF"/>
                </a:highlight>
              </a:rPr>
              <a:t>The proposed system enhances the existing home automation setup by integrating a Wi-Fi module with various sensors for wireless data transmission. The system uses the </a:t>
            </a:r>
            <a:r>
              <a:rPr lang="en-US" dirty="0" err="1">
                <a:solidFill>
                  <a:srgbClr val="111111"/>
                </a:solidFill>
                <a:highlight>
                  <a:srgbClr val="FFFFFF"/>
                </a:highlight>
              </a:rPr>
              <a:t>Cadio</a:t>
            </a:r>
            <a:r>
              <a:rPr lang="en-US" b="0" i="0" dirty="0">
                <a:solidFill>
                  <a:srgbClr val="111111"/>
                </a:solidFill>
                <a:effectLst/>
                <a:highlight>
                  <a:srgbClr val="FFFFFF"/>
                </a:highlight>
              </a:rPr>
              <a:t> application and the Wi-Fi module to receive sensor data and provide monitoring capabilities. The Wi-Fi module connects to sensors like temperature, motion, and humidity sensors, enabling real-time monitoring and analysis of environmental conditions within the home. The </a:t>
            </a:r>
            <a:r>
              <a:rPr lang="en-US" dirty="0" err="1">
                <a:solidFill>
                  <a:srgbClr val="111111"/>
                </a:solidFill>
                <a:highlight>
                  <a:srgbClr val="FFFFFF"/>
                </a:highlight>
              </a:rPr>
              <a:t>Cadio</a:t>
            </a:r>
            <a:r>
              <a:rPr lang="en-US" b="0" i="0" dirty="0">
                <a:solidFill>
                  <a:srgbClr val="111111"/>
                </a:solidFill>
                <a:effectLst/>
                <a:highlight>
                  <a:srgbClr val="FFFFFF"/>
                </a:highlight>
              </a:rPr>
              <a:t> application serves as a user-friendly dashboard to monitor and visualize sensor data, allowing users to make informed </a:t>
            </a:r>
            <a:r>
              <a:rPr lang="en-US" b="0" i="0" dirty="0" err="1">
                <a:solidFill>
                  <a:srgbClr val="111111"/>
                </a:solidFill>
                <a:effectLst/>
                <a:highlight>
                  <a:srgbClr val="FFFFFF"/>
                </a:highlight>
              </a:rPr>
              <a:t>decisions.Additionally</a:t>
            </a:r>
            <a:r>
              <a:rPr lang="en-US" b="0" i="0" dirty="0">
                <a:solidFill>
                  <a:srgbClr val="111111"/>
                </a:solidFill>
                <a:effectLst/>
                <a:highlight>
                  <a:srgbClr val="FFFFFF"/>
                </a:highlight>
              </a:rPr>
              <a:t>, the </a:t>
            </a:r>
            <a:r>
              <a:rPr lang="en-US" dirty="0" err="1">
                <a:solidFill>
                  <a:srgbClr val="111111"/>
                </a:solidFill>
                <a:highlight>
                  <a:srgbClr val="FFFFFF"/>
                </a:highlight>
              </a:rPr>
              <a:t>Cadio</a:t>
            </a:r>
            <a:r>
              <a:rPr lang="en-US" b="0" i="0" dirty="0">
                <a:solidFill>
                  <a:srgbClr val="111111"/>
                </a:solidFill>
                <a:effectLst/>
                <a:highlight>
                  <a:srgbClr val="FFFFFF"/>
                </a:highlight>
              </a:rPr>
              <a:t> application implements an automatic switch between two sources, such as power sources (electricity and backup generators) or internet service providers (ISPs), based on predefined criteria. This ensures a seamless transition without manual intervention.</a:t>
            </a:r>
          </a:p>
          <a:p>
            <a:endParaRPr lang="en-IN" sz="2400" dirty="0"/>
          </a:p>
        </p:txBody>
      </p:sp>
    </p:spTree>
    <p:extLst>
      <p:ext uri="{BB962C8B-B14F-4D97-AF65-F5344CB8AC3E}">
        <p14:creationId xmlns:p14="http://schemas.microsoft.com/office/powerpoint/2010/main" val="19352611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61C21-72EB-A162-8C3B-DC5AFE2BEF25}"/>
              </a:ext>
            </a:extLst>
          </p:cNvPr>
          <p:cNvSpPr>
            <a:spLocks noGrp="1"/>
          </p:cNvSpPr>
          <p:nvPr>
            <p:ph type="title"/>
          </p:nvPr>
        </p:nvSpPr>
        <p:spPr>
          <a:xfrm>
            <a:off x="838200" y="497840"/>
            <a:ext cx="10515600" cy="918006"/>
          </a:xfrm>
        </p:spPr>
        <p:txBody>
          <a:bodyPr/>
          <a:lstStyle/>
          <a:p>
            <a:r>
              <a:rPr lang="en-US" altLang="en-US" sz="4400" b="1" i="1" dirty="0">
                <a:ln w="15875"/>
                <a:effectLst>
                  <a:outerShdw blurRad="38100" dist="38100" dir="2700000" algn="tl">
                    <a:srgbClr val="000000">
                      <a:alpha val="43137"/>
                    </a:srgbClr>
                  </a:outerShdw>
                </a:effectLst>
                <a:ea typeface="Tahoma" panose="020B0604030504040204" pitchFamily="34" charset="0"/>
                <a:cs typeface="Times New Roman" panose="02020603050405020304" pitchFamily="18" charset="0"/>
              </a:rPr>
              <a:t>IDEA- CURRENT STATUS/ FUTURE PLAN</a:t>
            </a:r>
            <a:endParaRPr lang="en-IN" b="1" i="1" dirty="0">
              <a:effectLst>
                <a:outerShdw blurRad="38100" dist="38100" dir="2700000" algn="tl">
                  <a:srgbClr val="000000">
                    <a:alpha val="43137"/>
                  </a:srgbClr>
                </a:outerShdw>
              </a:effectLst>
              <a:cs typeface="Times New Roman" panose="02020603050405020304" pitchFamily="18" charset="0"/>
            </a:endParaRPr>
          </a:p>
        </p:txBody>
      </p:sp>
      <p:sp>
        <p:nvSpPr>
          <p:cNvPr id="3" name="Content Placeholder 2">
            <a:extLst>
              <a:ext uri="{FF2B5EF4-FFF2-40B4-BE49-F238E27FC236}">
                <a16:creationId xmlns:a16="http://schemas.microsoft.com/office/drawing/2014/main" id="{66BCE0C2-9B32-3B55-482F-96C1A5C5B432}"/>
              </a:ext>
            </a:extLst>
          </p:cNvPr>
          <p:cNvSpPr>
            <a:spLocks noGrp="1"/>
          </p:cNvSpPr>
          <p:nvPr>
            <p:ph idx="1"/>
          </p:nvPr>
        </p:nvSpPr>
        <p:spPr>
          <a:xfrm>
            <a:off x="838200" y="1415846"/>
            <a:ext cx="10515600" cy="4761117"/>
          </a:xfrm>
        </p:spPr>
        <p:txBody>
          <a:bodyPr>
            <a:normAutofit/>
          </a:bodyPr>
          <a:lstStyle/>
          <a:p>
            <a:pPr marL="0" indent="0">
              <a:buNone/>
            </a:pPr>
            <a:r>
              <a:rPr lang="en-US" b="0" i="0" dirty="0">
                <a:solidFill>
                  <a:srgbClr val="111111"/>
                </a:solidFill>
                <a:effectLst/>
                <a:highlight>
                  <a:srgbClr val="FFFFFF"/>
                </a:highlight>
              </a:rPr>
              <a:t>There are a variety of enhancements that could be made to this system to achieve greater accuracy in sensing and detection: </a:t>
            </a:r>
          </a:p>
          <a:p>
            <a:pPr marL="0" indent="0">
              <a:buNone/>
            </a:pPr>
            <a:r>
              <a:rPr lang="en-US" b="0" i="0" dirty="0">
                <a:solidFill>
                  <a:srgbClr val="111111"/>
                </a:solidFill>
                <a:effectLst/>
                <a:highlight>
                  <a:srgbClr val="FFFFFF"/>
                </a:highlight>
              </a:rPr>
              <a:t>a) There are many other sensors that can be used to increase the security and control of the home, such as pressure sensors that can be placed outside to detect when someone is about to enter. </a:t>
            </a:r>
          </a:p>
          <a:p>
            <a:pPr marL="0" indent="0">
              <a:buNone/>
            </a:pPr>
            <a:r>
              <a:rPr lang="en-US" b="0" i="0" dirty="0">
                <a:solidFill>
                  <a:srgbClr val="111111"/>
                </a:solidFill>
                <a:effectLst/>
                <a:highlight>
                  <a:srgbClr val="FFFFFF"/>
                </a:highlight>
              </a:rPr>
              <a:t>b) The future scope for home automation systems involves making homes even smarter. </a:t>
            </a:r>
          </a:p>
          <a:p>
            <a:pPr marL="0" indent="0">
              <a:buNone/>
            </a:pPr>
            <a:r>
              <a:rPr lang="en-US" b="0" i="0" dirty="0">
                <a:solidFill>
                  <a:srgbClr val="111111"/>
                </a:solidFill>
                <a:effectLst/>
                <a:highlight>
                  <a:srgbClr val="FFFFFF"/>
                </a:highlight>
              </a:rPr>
              <a:t>c) Homes can be interfaced with sensors, including motion sensors, light sensors, and temperature sensors, to provide automated toggling of devices based on conditions</a:t>
            </a:r>
            <a:r>
              <a:rPr lang="en-US" sz="2400" b="0" i="0" dirty="0">
                <a:solidFill>
                  <a:srgbClr val="111111"/>
                </a:solidFill>
                <a:effectLst/>
                <a:highlight>
                  <a:srgbClr val="FFFFFF"/>
                </a:highlight>
                <a:latin typeface="-apple-system"/>
              </a:rPr>
              <a:t>.</a:t>
            </a:r>
            <a:endParaRPr lang="en-IN" sz="2400" dirty="0"/>
          </a:p>
        </p:txBody>
      </p:sp>
    </p:spTree>
    <p:extLst>
      <p:ext uri="{BB962C8B-B14F-4D97-AF65-F5344CB8AC3E}">
        <p14:creationId xmlns:p14="http://schemas.microsoft.com/office/powerpoint/2010/main" val="2520495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3899C-0577-CDA8-DD0F-A8CCBFBAE91F}"/>
              </a:ext>
            </a:extLst>
          </p:cNvPr>
          <p:cNvSpPr>
            <a:spLocks noGrp="1"/>
          </p:cNvSpPr>
          <p:nvPr>
            <p:ph type="title"/>
          </p:nvPr>
        </p:nvSpPr>
        <p:spPr/>
        <p:txBody>
          <a:bodyPr/>
          <a:lstStyle/>
          <a:p>
            <a:r>
              <a:rPr lang="en-IN" b="1" i="1" dirty="0">
                <a:effectLst>
                  <a:outerShdw blurRad="38100" dist="38100" dir="2700000" algn="tl">
                    <a:srgbClr val="000000">
                      <a:alpha val="43137"/>
                    </a:srgbClr>
                  </a:outerShdw>
                </a:effectLst>
              </a:rPr>
              <a:t>SAMPLE VIEW OF OUR PROJECT</a:t>
            </a:r>
          </a:p>
        </p:txBody>
      </p:sp>
      <p:pic>
        <p:nvPicPr>
          <p:cNvPr id="7" name="Content Placeholder 6">
            <a:extLst>
              <a:ext uri="{FF2B5EF4-FFF2-40B4-BE49-F238E27FC236}">
                <a16:creationId xmlns:a16="http://schemas.microsoft.com/office/drawing/2014/main" id="{9D4FB71A-0CA2-5257-EEB6-9DE40B20E5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9112" y="1353312"/>
            <a:ext cx="8055864" cy="4823651"/>
          </a:xfrm>
        </p:spPr>
      </p:pic>
    </p:spTree>
    <p:extLst>
      <p:ext uri="{BB962C8B-B14F-4D97-AF65-F5344CB8AC3E}">
        <p14:creationId xmlns:p14="http://schemas.microsoft.com/office/powerpoint/2010/main" val="13174102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C5A7-0D97-69DA-4A54-55CE037B5DEF}"/>
              </a:ext>
            </a:extLst>
          </p:cNvPr>
          <p:cNvSpPr>
            <a:spLocks noGrp="1"/>
          </p:cNvSpPr>
          <p:nvPr>
            <p:ph type="title"/>
          </p:nvPr>
        </p:nvSpPr>
        <p:spPr/>
        <p:txBody>
          <a:bodyPr>
            <a:normAutofit/>
          </a:bodyPr>
          <a:lstStyle/>
          <a:p>
            <a:r>
              <a:rPr lang="en-US" b="1" i="1" dirty="0">
                <a:effectLst>
                  <a:outerShdw blurRad="38100" dist="38100" dir="2700000" algn="tl">
                    <a:srgbClr val="000000">
                      <a:alpha val="43137"/>
                    </a:srgbClr>
                  </a:outerShdw>
                </a:effectLst>
                <a:ea typeface="Times New Roman" panose="02020603050405020304" pitchFamily="18" charset="0"/>
              </a:rPr>
              <a:t>HARDWARE</a:t>
            </a:r>
            <a:r>
              <a:rPr lang="en-US" b="1" i="1" spc="20" dirty="0">
                <a:effectLst>
                  <a:outerShdw blurRad="38100" dist="38100" dir="2700000" algn="tl">
                    <a:srgbClr val="000000">
                      <a:alpha val="43137"/>
                    </a:srgbClr>
                  </a:outerShdw>
                </a:effectLst>
                <a:ea typeface="Times New Roman" panose="02020603050405020304" pitchFamily="18" charset="0"/>
              </a:rPr>
              <a:t> </a:t>
            </a:r>
            <a:r>
              <a:rPr lang="en-US" b="1" i="1" dirty="0">
                <a:effectLst>
                  <a:outerShdw blurRad="38100" dist="38100" dir="2700000" algn="tl">
                    <a:srgbClr val="000000">
                      <a:alpha val="43137"/>
                    </a:srgbClr>
                  </a:outerShdw>
                </a:effectLst>
                <a:ea typeface="Times New Roman" panose="02020603050405020304" pitchFamily="18" charset="0"/>
              </a:rPr>
              <a:t>AND SOFTWARE</a:t>
            </a:r>
            <a:r>
              <a:rPr lang="en-US" b="1" i="1" spc="5" dirty="0">
                <a:effectLst>
                  <a:outerShdw blurRad="38100" dist="38100" dir="2700000" algn="tl">
                    <a:srgbClr val="000000">
                      <a:alpha val="43137"/>
                    </a:srgbClr>
                  </a:outerShdw>
                </a:effectLst>
                <a:ea typeface="Times New Roman" panose="02020603050405020304" pitchFamily="18" charset="0"/>
              </a:rPr>
              <a:t> </a:t>
            </a:r>
            <a:r>
              <a:rPr lang="en-US" b="1" i="1" dirty="0">
                <a:effectLst>
                  <a:outerShdw blurRad="38100" dist="38100" dir="2700000" algn="tl">
                    <a:srgbClr val="000000">
                      <a:alpha val="43137"/>
                    </a:srgbClr>
                  </a:outerShdw>
                </a:effectLst>
                <a:ea typeface="Times New Roman" panose="02020603050405020304" pitchFamily="18" charset="0"/>
              </a:rPr>
              <a:t>USED</a:t>
            </a:r>
            <a:endParaRPr lang="en-IN" sz="8800" i="1" dirty="0">
              <a:effectLst>
                <a:outerShdw blurRad="38100" dist="38100" dir="2700000" algn="tl">
                  <a:srgbClr val="000000">
                    <a:alpha val="43137"/>
                  </a:srgbClr>
                </a:outerShdw>
              </a:effectLst>
            </a:endParaRPr>
          </a:p>
        </p:txBody>
      </p:sp>
      <p:pic>
        <p:nvPicPr>
          <p:cNvPr id="4" name="image3.jpeg">
            <a:extLst>
              <a:ext uri="{FF2B5EF4-FFF2-40B4-BE49-F238E27FC236}">
                <a16:creationId xmlns:a16="http://schemas.microsoft.com/office/drawing/2014/main" id="{C7537853-D65B-0B8D-C186-9014C4439183}"/>
              </a:ext>
            </a:extLst>
          </p:cNvPr>
          <p:cNvPicPr>
            <a:picLocks noGrp="1" noChangeAspect="1"/>
          </p:cNvPicPr>
          <p:nvPr>
            <p:ph idx="1"/>
          </p:nvPr>
        </p:nvPicPr>
        <p:blipFill>
          <a:blip r:embed="rId2" cstate="print"/>
          <a:stretch>
            <a:fillRect/>
          </a:stretch>
        </p:blipFill>
        <p:spPr>
          <a:xfrm>
            <a:off x="641685" y="2248694"/>
            <a:ext cx="6128084" cy="3505200"/>
          </a:xfrm>
          <a:prstGeom prst="rect">
            <a:avLst/>
          </a:prstGeom>
        </p:spPr>
      </p:pic>
      <p:pic>
        <p:nvPicPr>
          <p:cNvPr id="5" name="image4.jpeg">
            <a:extLst>
              <a:ext uri="{FF2B5EF4-FFF2-40B4-BE49-F238E27FC236}">
                <a16:creationId xmlns:a16="http://schemas.microsoft.com/office/drawing/2014/main" id="{E50F5185-9910-BBEB-B02D-E7B9D4BFD2C7}"/>
              </a:ext>
            </a:extLst>
          </p:cNvPr>
          <p:cNvPicPr>
            <a:picLocks noChangeAspect="1"/>
          </p:cNvPicPr>
          <p:nvPr/>
        </p:nvPicPr>
        <p:blipFill>
          <a:blip r:embed="rId3" cstate="print"/>
          <a:stretch>
            <a:fillRect/>
          </a:stretch>
        </p:blipFill>
        <p:spPr>
          <a:xfrm>
            <a:off x="7475620" y="2248694"/>
            <a:ext cx="3449053" cy="3285832"/>
          </a:xfrm>
          <a:prstGeom prst="rect">
            <a:avLst/>
          </a:prstGeom>
        </p:spPr>
      </p:pic>
      <p:sp>
        <p:nvSpPr>
          <p:cNvPr id="7" name="TextBox 6">
            <a:extLst>
              <a:ext uri="{FF2B5EF4-FFF2-40B4-BE49-F238E27FC236}">
                <a16:creationId xmlns:a16="http://schemas.microsoft.com/office/drawing/2014/main" id="{43913381-7043-5B2A-86C1-CBB819C04646}"/>
              </a:ext>
            </a:extLst>
          </p:cNvPr>
          <p:cNvSpPr txBox="1"/>
          <p:nvPr/>
        </p:nvSpPr>
        <p:spPr>
          <a:xfrm>
            <a:off x="3048000" y="3248344"/>
            <a:ext cx="6096000" cy="369332"/>
          </a:xfrm>
          <a:prstGeom prst="rect">
            <a:avLst/>
          </a:prstGeom>
          <a:noFill/>
        </p:spPr>
        <p:txBody>
          <a:bodyPr wrap="square">
            <a:spAutoFit/>
          </a:bodyPr>
          <a:lstStyle/>
          <a:p>
            <a:r>
              <a:rPr lang="en-IN" dirty="0"/>
              <a:t>NODE MCU</a:t>
            </a:r>
          </a:p>
        </p:txBody>
      </p:sp>
    </p:spTree>
    <p:extLst>
      <p:ext uri="{BB962C8B-B14F-4D97-AF65-F5344CB8AC3E}">
        <p14:creationId xmlns:p14="http://schemas.microsoft.com/office/powerpoint/2010/main" val="2428784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66385-D4AA-B509-BF6F-F9A53299B44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A2DFEFD-C9B9-211C-C169-6E07607A177A}"/>
              </a:ext>
            </a:extLst>
          </p:cNvPr>
          <p:cNvSpPr>
            <a:spLocks noGrp="1"/>
          </p:cNvSpPr>
          <p:nvPr>
            <p:ph idx="1"/>
          </p:nvPr>
        </p:nvSpPr>
        <p:spPr>
          <a:xfrm>
            <a:off x="838200" y="713232"/>
            <a:ext cx="10515600" cy="5463731"/>
          </a:xfrm>
        </p:spPr>
        <p:txBody>
          <a:bodyPr/>
          <a:lstStyle/>
          <a:p>
            <a:pPr marL="0" indent="0">
              <a:buNone/>
            </a:pPr>
            <a:r>
              <a:rPr lang="en-US" dirty="0"/>
              <a:t>HARDWARE:</a:t>
            </a:r>
          </a:p>
          <a:p>
            <a:pPr marL="1066800" marR="4685665" indent="0">
              <a:lnSpc>
                <a:spcPct val="100000"/>
              </a:lnSpc>
              <a:spcBef>
                <a:spcPts val="785"/>
              </a:spcBef>
              <a:spcAft>
                <a:spcPts val="0"/>
              </a:spcAft>
              <a:buNone/>
            </a:pPr>
            <a:r>
              <a:rPr lang="en-US" sz="1800" b="1" dirty="0">
                <a:effectLst/>
                <a:latin typeface="Times New Roman" panose="02020603050405020304" pitchFamily="18" charset="0"/>
                <a:ea typeface="Times New Roman" panose="02020603050405020304" pitchFamily="18" charset="0"/>
              </a:rPr>
              <a:t>Node MCU</a:t>
            </a:r>
            <a:r>
              <a:rPr lang="en-US" sz="1800" b="1" spc="5" dirty="0">
                <a:effectLst/>
                <a:latin typeface="Times New Roman" panose="02020603050405020304" pitchFamily="18" charset="0"/>
                <a:ea typeface="Times New Roman" panose="02020603050405020304" pitchFamily="18" charset="0"/>
              </a:rPr>
              <a:t> </a:t>
            </a:r>
          </a:p>
          <a:p>
            <a:pPr marL="1066800" marR="4685665" indent="0">
              <a:lnSpc>
                <a:spcPct val="100000"/>
              </a:lnSpc>
              <a:spcBef>
                <a:spcPts val="785"/>
              </a:spcBef>
              <a:spcAft>
                <a:spcPts val="0"/>
              </a:spcAft>
              <a:buNone/>
            </a:pPr>
            <a:r>
              <a:rPr lang="en-US" sz="1800" b="1" dirty="0">
                <a:effectLst/>
                <a:latin typeface="Times New Roman" panose="02020603050405020304" pitchFamily="18" charset="0"/>
                <a:ea typeface="Times New Roman" panose="02020603050405020304" pitchFamily="18" charset="0"/>
              </a:rPr>
              <a:t>Relay module</a:t>
            </a:r>
            <a:r>
              <a:rPr lang="en-US" sz="1800" b="1" spc="-285" dirty="0">
                <a:effectLst/>
                <a:latin typeface="Times New Roman" panose="02020603050405020304" pitchFamily="18" charset="0"/>
                <a:ea typeface="Times New Roman" panose="02020603050405020304" pitchFamily="18" charset="0"/>
              </a:rPr>
              <a:t> </a:t>
            </a:r>
          </a:p>
          <a:p>
            <a:pPr marL="1066800" marR="4685665" indent="0">
              <a:lnSpc>
                <a:spcPct val="100000"/>
              </a:lnSpc>
              <a:spcBef>
                <a:spcPts val="785"/>
              </a:spcBef>
              <a:spcAft>
                <a:spcPts val="0"/>
              </a:spcAft>
              <a:buNone/>
            </a:pPr>
            <a:r>
              <a:rPr lang="en-US" sz="1800" b="1" dirty="0">
                <a:effectLst/>
                <a:latin typeface="Times New Roman" panose="02020603050405020304" pitchFamily="18" charset="0"/>
                <a:ea typeface="Times New Roman" panose="02020603050405020304" pitchFamily="18" charset="0"/>
              </a:rPr>
              <a:t>Power supply</a:t>
            </a:r>
            <a:r>
              <a:rPr lang="en-US" sz="1800" b="1" spc="-28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Bulb</a:t>
            </a:r>
            <a:endParaRPr lang="en-IN" sz="1800" b="1" dirty="0">
              <a:effectLst/>
              <a:latin typeface="Times New Roman" panose="02020603050405020304" pitchFamily="18" charset="0"/>
              <a:ea typeface="Times New Roman" panose="02020603050405020304" pitchFamily="18" charset="0"/>
            </a:endParaRPr>
          </a:p>
          <a:p>
            <a:pPr marL="1066800" marR="4770755" indent="0">
              <a:lnSpc>
                <a:spcPct val="100000"/>
              </a:lnSpc>
              <a:spcAft>
                <a:spcPts val="0"/>
              </a:spcAft>
              <a:buNone/>
            </a:pPr>
            <a:r>
              <a:rPr lang="en-US" sz="1800" b="1" dirty="0">
                <a:effectLst/>
                <a:latin typeface="Times New Roman" panose="02020603050405020304" pitchFamily="18" charset="0"/>
                <a:ea typeface="Times New Roman" panose="02020603050405020304" pitchFamily="18" charset="0"/>
              </a:rPr>
              <a:t>Jumper wires</a:t>
            </a:r>
            <a:r>
              <a:rPr lang="en-US" sz="1800" b="1" spc="-285" dirty="0">
                <a:effectLst/>
                <a:latin typeface="Times New Roman" panose="02020603050405020304" pitchFamily="18" charset="0"/>
                <a:ea typeface="Times New Roman" panose="02020603050405020304" pitchFamily="18" charset="0"/>
              </a:rPr>
              <a:t> </a:t>
            </a:r>
          </a:p>
          <a:p>
            <a:pPr marL="1066800" marR="4770755" indent="0">
              <a:lnSpc>
                <a:spcPct val="100000"/>
              </a:lnSpc>
              <a:spcAft>
                <a:spcPts val="0"/>
              </a:spcAft>
              <a:buNone/>
            </a:pPr>
            <a:r>
              <a:rPr lang="en-IN" sz="1800" b="1" dirty="0">
                <a:solidFill>
                  <a:srgbClr val="1F1F1F"/>
                </a:solidFill>
                <a:highlight>
                  <a:srgbClr val="FFFFFF"/>
                </a:highlight>
                <a:latin typeface="Google Sans"/>
              </a:rPr>
              <a:t>A</a:t>
            </a:r>
            <a:r>
              <a:rPr lang="en-IN" sz="1800" b="1" i="0" dirty="0">
                <a:solidFill>
                  <a:srgbClr val="1F1F1F"/>
                </a:solidFill>
                <a:effectLst/>
                <a:highlight>
                  <a:srgbClr val="FFFFFF"/>
                </a:highlight>
                <a:latin typeface="Google Sans"/>
              </a:rPr>
              <a:t>ntenna</a:t>
            </a:r>
            <a:endParaRPr lang="en-US" sz="1800" b="1" spc="-285" dirty="0">
              <a:effectLst/>
              <a:ea typeface="Times New Roman" panose="02020603050405020304" pitchFamily="18" charset="0"/>
            </a:endParaRPr>
          </a:p>
          <a:p>
            <a:pPr marL="1066800" marR="4770755" indent="0">
              <a:lnSpc>
                <a:spcPct val="100000"/>
              </a:lnSpc>
              <a:spcAft>
                <a:spcPts val="0"/>
              </a:spcAft>
              <a:buNone/>
            </a:pPr>
            <a:r>
              <a:rPr lang="en-IN" sz="1800" b="1" dirty="0">
                <a:effectLst/>
                <a:ea typeface="Times New Roman" panose="02020603050405020304" pitchFamily="18" charset="0"/>
              </a:rPr>
              <a:t>Mother Board</a:t>
            </a:r>
          </a:p>
          <a:p>
            <a:pPr marL="0" indent="0">
              <a:buNone/>
            </a:pPr>
            <a:r>
              <a:rPr lang="en-IN" dirty="0"/>
              <a:t>Software:</a:t>
            </a:r>
          </a:p>
          <a:p>
            <a:pPr marL="0" indent="0">
              <a:buNone/>
            </a:pPr>
            <a:r>
              <a:rPr lang="en-US" sz="1800" b="1" dirty="0">
                <a:effectLst/>
                <a:latin typeface="Times New Roman" panose="02020603050405020304" pitchFamily="18" charset="0"/>
                <a:ea typeface="Times New Roman" panose="02020603050405020304" pitchFamily="18" charset="0"/>
              </a:rPr>
              <a:t>Arduino</a:t>
            </a:r>
            <a:r>
              <a:rPr lang="en-US" sz="1800" b="1" spc="6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ide</a:t>
            </a:r>
          </a:p>
          <a:p>
            <a:pPr marL="0" indent="0">
              <a:buNone/>
            </a:pPr>
            <a:r>
              <a:rPr lang="en-US" sz="1800" b="1" spc="5" dirty="0">
                <a:effectLst/>
                <a:latin typeface="Times New Roman" panose="02020603050405020304" pitchFamily="18" charset="0"/>
                <a:ea typeface="Times New Roman" panose="02020603050405020304" pitchFamily="18" charset="0"/>
              </a:rPr>
              <a:t> </a:t>
            </a:r>
            <a:r>
              <a:rPr lang="en-US" sz="1800" b="1" spc="5" dirty="0" err="1">
                <a:latin typeface="Times New Roman" panose="02020603050405020304" pitchFamily="18" charset="0"/>
                <a:ea typeface="Times New Roman" panose="02020603050405020304" pitchFamily="18" charset="0"/>
              </a:rPr>
              <a:t>Cadio</a:t>
            </a:r>
            <a:r>
              <a:rPr lang="en-US" sz="1800" b="1" dirty="0">
                <a:effectLst/>
                <a:latin typeface="Times New Roman" panose="02020603050405020304" pitchFamily="18" charset="0"/>
                <a:ea typeface="Times New Roman" panose="02020603050405020304" pitchFamily="18" charset="0"/>
              </a:rPr>
              <a:t> application</a:t>
            </a:r>
            <a:r>
              <a:rPr lang="en-US" sz="1800" b="1" spc="-285" dirty="0">
                <a:effectLst/>
                <a:latin typeface="Times New Roman" panose="02020603050405020304" pitchFamily="18" charset="0"/>
                <a:ea typeface="Times New Roman" panose="02020603050405020304" pitchFamily="18" charset="0"/>
              </a:rPr>
              <a:t> </a:t>
            </a:r>
          </a:p>
          <a:p>
            <a:pPr marL="0" indent="0">
              <a:buNone/>
            </a:pPr>
            <a:r>
              <a:rPr lang="en-US" sz="1800" b="1" dirty="0" err="1">
                <a:effectLst/>
                <a:latin typeface="Times New Roman" panose="02020603050405020304" pitchFamily="18" charset="0"/>
                <a:ea typeface="Times New Roman" panose="02020603050405020304" pitchFamily="18" charset="0"/>
              </a:rPr>
              <a:t>Portronics</a:t>
            </a:r>
            <a:endParaRPr lang="en-IN" sz="1800" b="1"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9752792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C6930-9097-3002-44D4-CAE69120EEB7}"/>
              </a:ext>
            </a:extLst>
          </p:cNvPr>
          <p:cNvSpPr>
            <a:spLocks noGrp="1"/>
          </p:cNvSpPr>
          <p:nvPr>
            <p:ph type="title"/>
          </p:nvPr>
        </p:nvSpPr>
        <p:spPr>
          <a:xfrm>
            <a:off x="838200" y="1361171"/>
            <a:ext cx="10515600" cy="51068"/>
          </a:xfrm>
        </p:spPr>
        <p:txBody>
          <a:bodyPr>
            <a:normAutofit fontScale="90000"/>
          </a:bodyPr>
          <a:lstStyle/>
          <a:p>
            <a:r>
              <a:rPr lang="en-US" sz="4900" b="1" i="1" dirty="0">
                <a:effectLst>
                  <a:outerShdw blurRad="38100" dist="38100" dir="2700000" algn="tl">
                    <a:srgbClr val="000000">
                      <a:alpha val="43137"/>
                    </a:srgbClr>
                  </a:outerShdw>
                </a:effectLst>
                <a:ea typeface="Times New Roman" panose="02020603050405020304" pitchFamily="18" charset="0"/>
              </a:rPr>
              <a:t>CONCLUSION</a:t>
            </a:r>
            <a:r>
              <a:rPr lang="en-US" sz="4900" b="1" i="1" spc="140" dirty="0">
                <a:effectLst>
                  <a:outerShdw blurRad="38100" dist="38100" dir="2700000" algn="tl">
                    <a:srgbClr val="000000">
                      <a:alpha val="43137"/>
                    </a:srgbClr>
                  </a:outerShdw>
                </a:effectLst>
                <a:ea typeface="Times New Roman" panose="02020603050405020304" pitchFamily="18" charset="0"/>
              </a:rPr>
              <a:t> </a:t>
            </a:r>
            <a:r>
              <a:rPr lang="en-US" sz="4900" b="1" i="1" dirty="0">
                <a:effectLst>
                  <a:outerShdw blurRad="38100" dist="38100" dir="2700000" algn="tl">
                    <a:srgbClr val="000000">
                      <a:alpha val="43137"/>
                    </a:srgbClr>
                  </a:outerShdw>
                </a:effectLst>
                <a:ea typeface="Times New Roman" panose="02020603050405020304" pitchFamily="18" charset="0"/>
              </a:rPr>
              <a:t>AND</a:t>
            </a:r>
            <a:r>
              <a:rPr lang="en-US" sz="4900" b="1" i="1" spc="105" dirty="0">
                <a:effectLst>
                  <a:outerShdw blurRad="38100" dist="38100" dir="2700000" algn="tl">
                    <a:srgbClr val="000000">
                      <a:alpha val="43137"/>
                    </a:srgbClr>
                  </a:outerShdw>
                </a:effectLst>
                <a:ea typeface="Times New Roman" panose="02020603050405020304" pitchFamily="18" charset="0"/>
              </a:rPr>
              <a:t> </a:t>
            </a:r>
            <a:r>
              <a:rPr lang="en-US" sz="4900" b="1" i="1" dirty="0">
                <a:effectLst>
                  <a:outerShdw blurRad="38100" dist="38100" dir="2700000" algn="tl">
                    <a:srgbClr val="000000">
                      <a:alpha val="43137"/>
                    </a:srgbClr>
                  </a:outerShdw>
                </a:effectLst>
                <a:ea typeface="Times New Roman" panose="02020603050405020304" pitchFamily="18" charset="0"/>
              </a:rPr>
              <a:t>FUTURE</a:t>
            </a:r>
            <a:r>
              <a:rPr lang="en-US" sz="4900" b="1" i="1" spc="110" dirty="0">
                <a:effectLst>
                  <a:outerShdw blurRad="38100" dist="38100" dir="2700000" algn="tl">
                    <a:srgbClr val="000000">
                      <a:alpha val="43137"/>
                    </a:srgbClr>
                  </a:outerShdw>
                </a:effectLst>
                <a:ea typeface="Times New Roman" panose="02020603050405020304" pitchFamily="18" charset="0"/>
              </a:rPr>
              <a:t> </a:t>
            </a:r>
            <a:r>
              <a:rPr lang="en-US" sz="4900" b="1" i="1" dirty="0">
                <a:effectLst>
                  <a:outerShdw blurRad="38100" dist="38100" dir="2700000" algn="tl">
                    <a:srgbClr val="000000">
                      <a:alpha val="43137"/>
                    </a:srgbClr>
                  </a:outerShdw>
                </a:effectLst>
                <a:ea typeface="Times New Roman" panose="02020603050405020304" pitchFamily="18" charset="0"/>
              </a:rPr>
              <a:t>SCOPE</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25660416-2708-A2D6-04E7-DEE4AA729581}"/>
              </a:ext>
            </a:extLst>
          </p:cNvPr>
          <p:cNvSpPr>
            <a:spLocks noGrp="1"/>
          </p:cNvSpPr>
          <p:nvPr>
            <p:ph idx="1"/>
          </p:nvPr>
        </p:nvSpPr>
        <p:spPr>
          <a:xfrm>
            <a:off x="838200" y="1412238"/>
            <a:ext cx="10515600" cy="4723866"/>
          </a:xfrm>
        </p:spPr>
        <p:txBody>
          <a:bodyPr>
            <a:normAutofit fontScale="92500" lnSpcReduction="10000"/>
          </a:bodyPr>
          <a:lstStyle/>
          <a:p>
            <a:pPr marL="0" indent="0" algn="l">
              <a:buNone/>
            </a:pPr>
            <a:r>
              <a:rPr lang="en-US" sz="3000" b="0" i="0" dirty="0">
                <a:solidFill>
                  <a:srgbClr val="111111"/>
                </a:solidFill>
                <a:effectLst/>
                <a:highlight>
                  <a:srgbClr val="FFFFFF"/>
                </a:highlight>
                <a:latin typeface="-apple-system"/>
              </a:rPr>
              <a:t>In this project, voice commands are given to Google Assistant. The voice commands for Google Assistant have been added through the IFTTT website, and the </a:t>
            </a:r>
            <a:r>
              <a:rPr lang="en-US" sz="3000" b="0" i="0" dirty="0" err="1">
                <a:solidFill>
                  <a:srgbClr val="111111"/>
                </a:solidFill>
                <a:effectLst/>
                <a:highlight>
                  <a:srgbClr val="FFFFFF"/>
                </a:highlight>
                <a:latin typeface="-apple-system"/>
              </a:rPr>
              <a:t>Cadio</a:t>
            </a:r>
            <a:r>
              <a:rPr lang="en-US" sz="3000" b="0" i="0" dirty="0">
                <a:solidFill>
                  <a:srgbClr val="111111"/>
                </a:solidFill>
                <a:effectLst/>
                <a:highlight>
                  <a:srgbClr val="FFFFFF"/>
                </a:highlight>
                <a:latin typeface="-apple-system"/>
              </a:rPr>
              <a:t> app is also linked to it. In this home automation system, users give commands to Google Assistant, and LEDs are controlled according to the given commands. This project is about wireless home automation using an Android mobile, helping us implement such a fantastic system in our home at a very reasonable price using cost-effective </a:t>
            </a:r>
            <a:r>
              <a:rPr lang="en-US" sz="3000" b="0" i="0" dirty="0" err="1">
                <a:solidFill>
                  <a:srgbClr val="111111"/>
                </a:solidFill>
                <a:effectLst/>
                <a:highlight>
                  <a:srgbClr val="FFFFFF"/>
                </a:highlight>
                <a:latin typeface="-apple-system"/>
              </a:rPr>
              <a:t>devices.Thus</a:t>
            </a:r>
            <a:r>
              <a:rPr lang="en-US" sz="3000" b="0" i="0" dirty="0">
                <a:solidFill>
                  <a:srgbClr val="111111"/>
                </a:solidFill>
                <a:effectLst/>
                <a:highlight>
                  <a:srgbClr val="FFFFFF"/>
                </a:highlight>
                <a:latin typeface="-apple-system"/>
              </a:rPr>
              <a:t>, it overcomes many problems like costs, inflexibility, and security. Additionally, it provides greater advantages, such as decreasing our energy costs and improving home security. It is very convenient to use and will improve the comfort of our home. The project proposes the idea of smart homes that can support a wide range of home automation systems</a:t>
            </a:r>
          </a:p>
          <a:p>
            <a:endParaRPr lang="en-IN" dirty="0"/>
          </a:p>
        </p:txBody>
      </p:sp>
    </p:spTree>
    <p:extLst>
      <p:ext uri="{BB962C8B-B14F-4D97-AF65-F5344CB8AC3E}">
        <p14:creationId xmlns:p14="http://schemas.microsoft.com/office/powerpoint/2010/main" val="1521874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D8B1B-24CA-229D-417F-6316216B4C44}"/>
              </a:ext>
            </a:extLst>
          </p:cNvPr>
          <p:cNvSpPr>
            <a:spLocks noGrp="1"/>
          </p:cNvSpPr>
          <p:nvPr>
            <p:ph type="title"/>
          </p:nvPr>
        </p:nvSpPr>
        <p:spPr/>
        <p:txBody>
          <a:bodyPr>
            <a:normAutofit/>
          </a:bodyPr>
          <a:lstStyle/>
          <a:p>
            <a:r>
              <a:rPr lang="en-IN" b="1" i="1" dirty="0">
                <a:effectLst>
                  <a:outerShdw blurRad="38100" dist="38100" dir="2700000" algn="tl">
                    <a:srgbClr val="000000">
                      <a:alpha val="43137"/>
                    </a:srgbClr>
                  </a:outerShdw>
                </a:effectLst>
              </a:rPr>
              <a:t>ADVANTAGES</a:t>
            </a:r>
          </a:p>
        </p:txBody>
      </p:sp>
      <p:sp>
        <p:nvSpPr>
          <p:cNvPr id="3" name="Content Placeholder 2">
            <a:extLst>
              <a:ext uri="{FF2B5EF4-FFF2-40B4-BE49-F238E27FC236}">
                <a16:creationId xmlns:a16="http://schemas.microsoft.com/office/drawing/2014/main" id="{223F37C2-C1A9-2CD1-387C-36AF46150DA9}"/>
              </a:ext>
            </a:extLst>
          </p:cNvPr>
          <p:cNvSpPr>
            <a:spLocks noGrp="1"/>
          </p:cNvSpPr>
          <p:nvPr>
            <p:ph idx="1"/>
          </p:nvPr>
        </p:nvSpPr>
        <p:spPr/>
        <p:txBody>
          <a:bodyPr>
            <a:normAutofit/>
          </a:bodyPr>
          <a:lstStyle/>
          <a:p>
            <a:pPr marL="342900" lvl="0" indent="-342900">
              <a:spcBef>
                <a:spcPts val="890"/>
              </a:spcBef>
              <a:spcAft>
                <a:spcPts val="0"/>
              </a:spcAft>
              <a:buSzPts val="1500"/>
              <a:buFont typeface="Times New Roman" panose="02020603050405020304" pitchFamily="18" charset="0"/>
              <a:buAutoNum type="arabicParenR"/>
              <a:tabLst>
                <a:tab pos="962025" algn="l"/>
              </a:tabLst>
            </a:pPr>
            <a:r>
              <a:rPr lang="en-US" sz="2400" b="1" spc="0" dirty="0">
                <a:effectLst/>
                <a:ea typeface="Times New Roman" panose="02020603050405020304" pitchFamily="18" charset="0"/>
              </a:rPr>
              <a:t>Easy</a:t>
            </a:r>
            <a:r>
              <a:rPr lang="en-US" sz="2400" b="1" spc="-35" dirty="0">
                <a:effectLst/>
                <a:ea typeface="Times New Roman" panose="02020603050405020304" pitchFamily="18" charset="0"/>
              </a:rPr>
              <a:t> </a:t>
            </a:r>
            <a:r>
              <a:rPr lang="en-US" sz="2400" b="1" spc="0" dirty="0">
                <a:effectLst/>
                <a:ea typeface="Times New Roman" panose="02020603050405020304" pitchFamily="18" charset="0"/>
              </a:rPr>
              <a:t>deployment,</a:t>
            </a:r>
            <a:r>
              <a:rPr lang="en-US" sz="2400" b="1" spc="-30" dirty="0">
                <a:effectLst/>
                <a:ea typeface="Times New Roman" panose="02020603050405020304" pitchFamily="18" charset="0"/>
              </a:rPr>
              <a:t> </a:t>
            </a:r>
            <a:r>
              <a:rPr lang="en-US" sz="2400" b="1" spc="0" dirty="0">
                <a:effectLst/>
                <a:ea typeface="Times New Roman" panose="02020603050405020304" pitchFamily="18" charset="0"/>
              </a:rPr>
              <a:t>installation,</a:t>
            </a:r>
            <a:r>
              <a:rPr lang="en-US" sz="2400" b="1" spc="-20" dirty="0">
                <a:effectLst/>
                <a:ea typeface="Times New Roman" panose="02020603050405020304" pitchFamily="18" charset="0"/>
              </a:rPr>
              <a:t> </a:t>
            </a:r>
            <a:r>
              <a:rPr lang="en-US" sz="2400" b="1" spc="0" dirty="0">
                <a:effectLst/>
                <a:ea typeface="Times New Roman" panose="02020603050405020304" pitchFamily="18" charset="0"/>
              </a:rPr>
              <a:t>and</a:t>
            </a:r>
            <a:r>
              <a:rPr lang="en-US" sz="2400" b="1" spc="-35" dirty="0">
                <a:effectLst/>
                <a:ea typeface="Times New Roman" panose="02020603050405020304" pitchFamily="18" charset="0"/>
              </a:rPr>
              <a:t> </a:t>
            </a:r>
            <a:r>
              <a:rPr lang="en-US" sz="2400" b="1" spc="0" dirty="0">
                <a:effectLst/>
                <a:ea typeface="Times New Roman" panose="02020603050405020304" pitchFamily="18" charset="0"/>
              </a:rPr>
              <a:t>coverage.</a:t>
            </a:r>
            <a:endParaRPr lang="en-IN" sz="2400" b="1" spc="0" dirty="0">
              <a:effectLst/>
              <a:ea typeface="Times New Roman" panose="02020603050405020304" pitchFamily="18" charset="0"/>
            </a:endParaRPr>
          </a:p>
          <a:p>
            <a:pPr marL="342900" lvl="0" indent="-342900">
              <a:spcBef>
                <a:spcPts val="700"/>
              </a:spcBef>
              <a:spcAft>
                <a:spcPts val="0"/>
              </a:spcAft>
              <a:buSzPts val="1500"/>
              <a:buFont typeface="Times New Roman" panose="02020603050405020304" pitchFamily="18" charset="0"/>
              <a:buAutoNum type="arabicParenR"/>
              <a:tabLst>
                <a:tab pos="962025" algn="l"/>
              </a:tabLst>
            </a:pPr>
            <a:r>
              <a:rPr lang="en-US" sz="2400" b="1" spc="0" dirty="0">
                <a:effectLst/>
                <a:ea typeface="Times New Roman" panose="02020603050405020304" pitchFamily="18" charset="0"/>
              </a:rPr>
              <a:t>Reduced</a:t>
            </a:r>
            <a:r>
              <a:rPr lang="en-US" sz="2400" b="1" spc="-35" dirty="0">
                <a:effectLst/>
                <a:ea typeface="Times New Roman" panose="02020603050405020304" pitchFamily="18" charset="0"/>
              </a:rPr>
              <a:t> </a:t>
            </a:r>
            <a:r>
              <a:rPr lang="en-US" sz="2400" b="1" spc="0" dirty="0">
                <a:effectLst/>
                <a:ea typeface="Times New Roman" panose="02020603050405020304" pitchFamily="18" charset="0"/>
              </a:rPr>
              <a:t>installation</a:t>
            </a:r>
            <a:r>
              <a:rPr lang="en-US" sz="2400" b="1" spc="-25" dirty="0">
                <a:effectLst/>
                <a:ea typeface="Times New Roman" panose="02020603050405020304" pitchFamily="18" charset="0"/>
              </a:rPr>
              <a:t> </a:t>
            </a:r>
            <a:r>
              <a:rPr lang="en-US" sz="2400" b="1" spc="0" dirty="0">
                <a:effectLst/>
                <a:ea typeface="Times New Roman" panose="02020603050405020304" pitchFamily="18" charset="0"/>
              </a:rPr>
              <a:t>costs.</a:t>
            </a:r>
            <a:endParaRPr lang="en-IN" sz="2400" b="1" spc="0" dirty="0">
              <a:effectLst/>
              <a:ea typeface="Times New Roman" panose="02020603050405020304" pitchFamily="18" charset="0"/>
            </a:endParaRPr>
          </a:p>
          <a:p>
            <a:pPr marL="342900" lvl="0" indent="-342900">
              <a:spcBef>
                <a:spcPts val="895"/>
              </a:spcBef>
              <a:spcAft>
                <a:spcPts val="0"/>
              </a:spcAft>
              <a:buSzPts val="1500"/>
              <a:buFont typeface="Times New Roman" panose="02020603050405020304" pitchFamily="18" charset="0"/>
              <a:buAutoNum type="arabicParenR"/>
              <a:tabLst>
                <a:tab pos="962025" algn="l"/>
              </a:tabLst>
            </a:pPr>
            <a:r>
              <a:rPr lang="en-US" sz="2400" b="1" spc="0" dirty="0">
                <a:effectLst/>
                <a:ea typeface="Times New Roman" panose="02020603050405020304" pitchFamily="18" charset="0"/>
              </a:rPr>
              <a:t>System</a:t>
            </a:r>
            <a:r>
              <a:rPr lang="en-US" sz="2400" b="1" spc="-30" dirty="0">
                <a:effectLst/>
                <a:ea typeface="Times New Roman" panose="02020603050405020304" pitchFamily="18" charset="0"/>
              </a:rPr>
              <a:t> </a:t>
            </a:r>
            <a:r>
              <a:rPr lang="en-US" sz="2400" b="1" spc="0" dirty="0">
                <a:effectLst/>
                <a:ea typeface="Times New Roman" panose="02020603050405020304" pitchFamily="18" charset="0"/>
              </a:rPr>
              <a:t>scalability</a:t>
            </a:r>
            <a:r>
              <a:rPr lang="en-US" sz="2400" b="1" spc="-10" dirty="0">
                <a:effectLst/>
                <a:ea typeface="Times New Roman" panose="02020603050405020304" pitchFamily="18" charset="0"/>
              </a:rPr>
              <a:t> </a:t>
            </a:r>
            <a:r>
              <a:rPr lang="en-US" sz="2400" b="1" spc="0" dirty="0">
                <a:effectLst/>
                <a:ea typeface="Times New Roman" panose="02020603050405020304" pitchFamily="18" charset="0"/>
              </a:rPr>
              <a:t>and</a:t>
            </a:r>
            <a:r>
              <a:rPr lang="en-US" sz="2400" b="1" spc="-20" dirty="0">
                <a:effectLst/>
                <a:ea typeface="Times New Roman" panose="02020603050405020304" pitchFamily="18" charset="0"/>
              </a:rPr>
              <a:t> </a:t>
            </a:r>
            <a:r>
              <a:rPr lang="en-US" sz="2400" b="1" spc="0" dirty="0">
                <a:effectLst/>
                <a:ea typeface="Times New Roman" panose="02020603050405020304" pitchFamily="18" charset="0"/>
              </a:rPr>
              <a:t>easy</a:t>
            </a:r>
            <a:r>
              <a:rPr lang="en-US" sz="2400" b="1" spc="-15" dirty="0">
                <a:effectLst/>
                <a:ea typeface="Times New Roman" panose="02020603050405020304" pitchFamily="18" charset="0"/>
              </a:rPr>
              <a:t> </a:t>
            </a:r>
            <a:r>
              <a:rPr lang="en-US" sz="2400" b="1" spc="0" dirty="0">
                <a:effectLst/>
                <a:ea typeface="Times New Roman" panose="02020603050405020304" pitchFamily="18" charset="0"/>
              </a:rPr>
              <a:t>extension.</a:t>
            </a:r>
            <a:endParaRPr lang="en-IN" sz="2400" b="1" spc="0" dirty="0">
              <a:effectLst/>
              <a:ea typeface="Times New Roman" panose="02020603050405020304" pitchFamily="18" charset="0"/>
            </a:endParaRPr>
          </a:p>
          <a:p>
            <a:pPr marL="0" indent="0">
              <a:buNone/>
            </a:pPr>
            <a:r>
              <a:rPr lang="en-US" sz="2400" b="1" dirty="0">
                <a:effectLst/>
                <a:ea typeface="Times New Roman" panose="02020603050405020304" pitchFamily="18" charset="0"/>
              </a:rPr>
              <a:t>4) Integration</a:t>
            </a:r>
            <a:r>
              <a:rPr lang="en-US" sz="2400" b="1" spc="-30" dirty="0">
                <a:effectLst/>
                <a:ea typeface="Times New Roman" panose="02020603050405020304" pitchFamily="18" charset="0"/>
              </a:rPr>
              <a:t> </a:t>
            </a:r>
            <a:r>
              <a:rPr lang="en-US" sz="2400" b="1" dirty="0">
                <a:effectLst/>
                <a:ea typeface="Times New Roman" panose="02020603050405020304" pitchFamily="18" charset="0"/>
              </a:rPr>
              <a:t>of</a:t>
            </a:r>
            <a:r>
              <a:rPr lang="en-US" sz="2400" b="1" spc="-20" dirty="0">
                <a:effectLst/>
                <a:ea typeface="Times New Roman" panose="02020603050405020304" pitchFamily="18" charset="0"/>
              </a:rPr>
              <a:t> </a:t>
            </a:r>
            <a:r>
              <a:rPr lang="en-US" sz="2400" b="1" dirty="0">
                <a:effectLst/>
                <a:ea typeface="Times New Roman" panose="02020603050405020304" pitchFamily="18" charset="0"/>
              </a:rPr>
              <a:t>mobile</a:t>
            </a:r>
            <a:r>
              <a:rPr lang="en-US" sz="2400" b="1" spc="-30" dirty="0">
                <a:effectLst/>
                <a:ea typeface="Times New Roman" panose="02020603050405020304" pitchFamily="18" charset="0"/>
              </a:rPr>
              <a:t> </a:t>
            </a:r>
            <a:r>
              <a:rPr lang="en-US" sz="2400" b="1" dirty="0">
                <a:effectLst/>
                <a:ea typeface="Times New Roman" panose="02020603050405020304" pitchFamily="18" charset="0"/>
              </a:rPr>
              <a:t>devices</a:t>
            </a:r>
            <a:endParaRPr lang="en-IN" sz="2400" b="1" dirty="0"/>
          </a:p>
        </p:txBody>
      </p:sp>
    </p:spTree>
    <p:extLst>
      <p:ext uri="{BB962C8B-B14F-4D97-AF65-F5344CB8AC3E}">
        <p14:creationId xmlns:p14="http://schemas.microsoft.com/office/powerpoint/2010/main" val="26986125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CE653-FA43-94FD-7BD2-07AC1EED907D}"/>
              </a:ext>
            </a:extLst>
          </p:cNvPr>
          <p:cNvSpPr>
            <a:spLocks noGrp="1"/>
          </p:cNvSpPr>
          <p:nvPr>
            <p:ph type="title"/>
          </p:nvPr>
        </p:nvSpPr>
        <p:spPr>
          <a:xfrm>
            <a:off x="838200" y="82297"/>
            <a:ext cx="10515600" cy="512063"/>
          </a:xfrm>
        </p:spPr>
        <p:txBody>
          <a:bodyPr>
            <a:normAutofit/>
          </a:bodyPr>
          <a:lstStyle/>
          <a:p>
            <a:pPr algn="just"/>
            <a:r>
              <a:rPr lang="en-US" sz="2400" b="1" dirty="0"/>
              <a:t>REFERENCE</a:t>
            </a:r>
            <a:endParaRPr lang="en-IN" sz="2400" b="1" dirty="0"/>
          </a:p>
        </p:txBody>
      </p:sp>
      <p:sp>
        <p:nvSpPr>
          <p:cNvPr id="3" name="Content Placeholder 2">
            <a:extLst>
              <a:ext uri="{FF2B5EF4-FFF2-40B4-BE49-F238E27FC236}">
                <a16:creationId xmlns:a16="http://schemas.microsoft.com/office/drawing/2014/main" id="{E703C013-8671-5419-8B7C-97A7D4DE9120}"/>
              </a:ext>
            </a:extLst>
          </p:cNvPr>
          <p:cNvSpPr>
            <a:spLocks noGrp="1"/>
          </p:cNvSpPr>
          <p:nvPr>
            <p:ph idx="1"/>
          </p:nvPr>
        </p:nvSpPr>
        <p:spPr>
          <a:xfrm>
            <a:off x="838200" y="512064"/>
            <a:ext cx="10515600" cy="5664899"/>
          </a:xfrm>
        </p:spPr>
        <p:txBody>
          <a:bodyPr>
            <a:normAutofit fontScale="25000" lnSpcReduction="20000"/>
          </a:bodyPr>
          <a:lstStyle/>
          <a:p>
            <a:pPr marL="0" marR="610235" indent="0">
              <a:lnSpc>
                <a:spcPct val="150000"/>
              </a:lnSpc>
              <a:spcAft>
                <a:spcPts val="0"/>
              </a:spcAft>
              <a:buNone/>
              <a:tabLst>
                <a:tab pos="6061075" algn="l"/>
              </a:tabLst>
            </a:pPr>
            <a:r>
              <a:rPr lang="en-IN" sz="4800" b="1" dirty="0">
                <a:effectLst/>
                <a:latin typeface="Times New Roman" panose="02020603050405020304" pitchFamily="18" charset="0"/>
                <a:ea typeface="Times New Roman" panose="02020603050405020304" pitchFamily="18" charset="0"/>
              </a:rPr>
              <a:t> </a:t>
            </a:r>
            <a:r>
              <a:rPr lang="en-US" sz="4800" b="1" spc="-5" dirty="0">
                <a:effectLst/>
                <a:latin typeface="Times New Roman" panose="02020603050405020304" pitchFamily="18" charset="0"/>
                <a:ea typeface="Times New Roman" panose="02020603050405020304" pitchFamily="18" charset="0"/>
              </a:rPr>
              <a:t>[1].</a:t>
            </a:r>
            <a:r>
              <a:rPr lang="en-US" sz="4800" b="1" spc="-60" dirty="0">
                <a:effectLst/>
                <a:latin typeface="Times New Roman" panose="02020603050405020304" pitchFamily="18" charset="0"/>
                <a:ea typeface="Times New Roman" panose="02020603050405020304" pitchFamily="18" charset="0"/>
              </a:rPr>
              <a:t> </a:t>
            </a:r>
            <a:r>
              <a:rPr lang="en-US" sz="4800" b="1" spc="-5" dirty="0" err="1">
                <a:effectLst/>
                <a:latin typeface="Times New Roman" panose="02020603050405020304" pitchFamily="18" charset="0"/>
                <a:ea typeface="Times New Roman" panose="02020603050405020304" pitchFamily="18" charset="0"/>
              </a:rPr>
              <a:t>Mummaka</a:t>
            </a:r>
            <a:r>
              <a:rPr lang="en-US" sz="4800" b="1" spc="-65" dirty="0">
                <a:effectLst/>
                <a:latin typeface="Times New Roman" panose="02020603050405020304" pitchFamily="18" charset="0"/>
                <a:ea typeface="Times New Roman" panose="02020603050405020304" pitchFamily="18" charset="0"/>
              </a:rPr>
              <a:t> </a:t>
            </a:r>
            <a:r>
              <a:rPr lang="en-US" sz="4800" b="1" spc="-5" dirty="0" err="1">
                <a:effectLst/>
                <a:latin typeface="Times New Roman" panose="02020603050405020304" pitchFamily="18" charset="0"/>
                <a:ea typeface="Times New Roman" panose="02020603050405020304" pitchFamily="18" charset="0"/>
              </a:rPr>
              <a:t>sai</a:t>
            </a:r>
            <a:r>
              <a:rPr lang="en-US" sz="4800" b="1" spc="-60" dirty="0">
                <a:effectLst/>
                <a:latin typeface="Times New Roman" panose="02020603050405020304" pitchFamily="18" charset="0"/>
                <a:ea typeface="Times New Roman" panose="02020603050405020304" pitchFamily="18" charset="0"/>
              </a:rPr>
              <a:t> </a:t>
            </a:r>
            <a:r>
              <a:rPr lang="en-US" sz="4800" b="1" spc="-5" dirty="0">
                <a:effectLst/>
                <a:latin typeface="Times New Roman" panose="02020603050405020304" pitchFamily="18" charset="0"/>
                <a:ea typeface="Times New Roman" panose="02020603050405020304" pitchFamily="18" charset="0"/>
              </a:rPr>
              <a:t>Srinath,</a:t>
            </a:r>
            <a:r>
              <a:rPr lang="en-US" sz="4800" b="1" spc="-55" dirty="0">
                <a:effectLst/>
                <a:latin typeface="Times New Roman" panose="02020603050405020304" pitchFamily="18" charset="0"/>
                <a:ea typeface="Times New Roman" panose="02020603050405020304" pitchFamily="18" charset="0"/>
              </a:rPr>
              <a:t> </a:t>
            </a:r>
            <a:r>
              <a:rPr lang="en-US" sz="4800" b="1" spc="-5" dirty="0" err="1">
                <a:effectLst/>
                <a:latin typeface="Times New Roman" panose="02020603050405020304" pitchFamily="18" charset="0"/>
                <a:ea typeface="Times New Roman" panose="02020603050405020304" pitchFamily="18" charset="0"/>
              </a:rPr>
              <a:t>Manepalli</a:t>
            </a:r>
            <a:r>
              <a:rPr lang="en-US" sz="4800" b="1" spc="-50" dirty="0">
                <a:effectLst/>
                <a:latin typeface="Times New Roman" panose="02020603050405020304" pitchFamily="18" charset="0"/>
                <a:ea typeface="Times New Roman" panose="02020603050405020304" pitchFamily="18" charset="0"/>
              </a:rPr>
              <a:t> </a:t>
            </a:r>
            <a:r>
              <a:rPr lang="en-US" sz="4800" b="1" spc="-5" dirty="0">
                <a:effectLst/>
                <a:latin typeface="Times New Roman" panose="02020603050405020304" pitchFamily="18" charset="0"/>
                <a:ea typeface="Times New Roman" panose="02020603050405020304" pitchFamily="18" charset="0"/>
              </a:rPr>
              <a:t>Nanda</a:t>
            </a:r>
            <a:r>
              <a:rPr lang="en-US" sz="4800" b="1" spc="-60" dirty="0">
                <a:effectLst/>
                <a:latin typeface="Times New Roman" panose="02020603050405020304" pitchFamily="18" charset="0"/>
                <a:ea typeface="Times New Roman" panose="02020603050405020304" pitchFamily="18" charset="0"/>
              </a:rPr>
              <a:t> </a:t>
            </a:r>
            <a:r>
              <a:rPr lang="en-US" sz="4800" b="1" spc="-5" dirty="0">
                <a:effectLst/>
                <a:latin typeface="Times New Roman" panose="02020603050405020304" pitchFamily="18" charset="0"/>
                <a:ea typeface="Times New Roman" panose="02020603050405020304" pitchFamily="18" charset="0"/>
              </a:rPr>
              <a:t>Kishore,</a:t>
            </a:r>
            <a:r>
              <a:rPr lang="en-US" sz="4800" b="1" spc="-60"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‘Interactive</a:t>
            </a:r>
            <a:r>
              <a:rPr lang="en-US" sz="4800" b="1" spc="-60"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home</a:t>
            </a:r>
            <a:r>
              <a:rPr lang="en-US" sz="4800" b="1" spc="-60"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automation</a:t>
            </a:r>
            <a:r>
              <a:rPr lang="en-US" sz="4800" b="1" spc="-60"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system</a:t>
            </a:r>
            <a:r>
              <a:rPr lang="en-US" sz="4800" b="1" spc="-5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with	</a:t>
            </a:r>
            <a:r>
              <a:rPr lang="en-US" sz="4800" b="1" spc="-5" dirty="0">
                <a:effectLst/>
                <a:latin typeface="Times New Roman" panose="02020603050405020304" pitchFamily="18" charset="0"/>
                <a:ea typeface="Times New Roman" panose="02020603050405020304" pitchFamily="18" charset="0"/>
              </a:rPr>
              <a:t>google</a:t>
            </a:r>
            <a:r>
              <a:rPr lang="en-US" sz="4800" b="1" spc="-28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assistant’, International</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Journal</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of</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pure and</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applied</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mathematics,Year:2018,Volume</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119,</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No.12.</a:t>
            </a:r>
            <a:endParaRPr lang="en-IN" sz="4800" b="1" dirty="0">
              <a:effectLst/>
              <a:latin typeface="Times New Roman" panose="02020603050405020304" pitchFamily="18" charset="0"/>
              <a:ea typeface="Times New Roman" panose="02020603050405020304" pitchFamily="18" charset="0"/>
            </a:endParaRPr>
          </a:p>
          <a:p>
            <a:pPr marL="0" indent="0">
              <a:spcBef>
                <a:spcPts val="10"/>
              </a:spcBef>
              <a:buNone/>
            </a:pPr>
            <a:r>
              <a:rPr lang="en-US" sz="4800" b="1" dirty="0">
                <a:effectLst/>
                <a:latin typeface="Times New Roman" panose="02020603050405020304" pitchFamily="18" charset="0"/>
                <a:ea typeface="Times New Roman" panose="02020603050405020304" pitchFamily="18" charset="0"/>
              </a:rPr>
              <a:t> </a:t>
            </a:r>
            <a:endParaRPr lang="en-IN" sz="4800" b="1" dirty="0">
              <a:effectLst/>
              <a:latin typeface="Times New Roman" panose="02020603050405020304" pitchFamily="18" charset="0"/>
              <a:ea typeface="Times New Roman" panose="02020603050405020304" pitchFamily="18" charset="0"/>
            </a:endParaRPr>
          </a:p>
          <a:p>
            <a:pPr marL="0" marR="610870" indent="0">
              <a:lnSpc>
                <a:spcPct val="150000"/>
              </a:lnSpc>
              <a:spcAft>
                <a:spcPts val="0"/>
              </a:spcAft>
              <a:buNone/>
              <a:tabLst>
                <a:tab pos="519430" algn="l"/>
                <a:tab pos="1271905" algn="l"/>
                <a:tab pos="1776095" algn="l"/>
                <a:tab pos="2426335" algn="l"/>
                <a:tab pos="3382645" algn="l"/>
                <a:tab pos="3975100" algn="l"/>
                <a:tab pos="5576570" algn="l"/>
                <a:tab pos="5956935" algn="l"/>
              </a:tabLst>
            </a:pPr>
            <a:r>
              <a:rPr lang="en-US" sz="4800" b="1" dirty="0">
                <a:effectLst/>
                <a:latin typeface="Times New Roman" panose="02020603050405020304" pitchFamily="18" charset="0"/>
                <a:ea typeface="Times New Roman" panose="02020603050405020304" pitchFamily="18" charset="0"/>
              </a:rPr>
              <a:t>[2].	Madhuri	Das,	‘Home	Automation	Using	ESP8266’,Transaction	on	</a:t>
            </a:r>
            <a:r>
              <a:rPr lang="en-US" sz="4800" b="1" spc="-5" dirty="0">
                <a:effectLst/>
                <a:latin typeface="Times New Roman" panose="02020603050405020304" pitchFamily="18" charset="0"/>
                <a:ea typeface="Times New Roman" panose="02020603050405020304" pitchFamily="18" charset="0"/>
              </a:rPr>
              <a:t>machine</a:t>
            </a:r>
            <a:r>
              <a:rPr lang="en-US" sz="4800" b="1" spc="-28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design,Year:2018,Volume</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06,No.02.</a:t>
            </a:r>
            <a:endParaRPr lang="en-IN" sz="4800" b="1" dirty="0">
              <a:effectLst/>
              <a:latin typeface="Times New Roman" panose="02020603050405020304" pitchFamily="18" charset="0"/>
              <a:ea typeface="Times New Roman" panose="02020603050405020304" pitchFamily="18" charset="0"/>
            </a:endParaRPr>
          </a:p>
          <a:p>
            <a:pPr marL="0" indent="0" algn="r">
              <a:spcBef>
                <a:spcPts val="50"/>
              </a:spcBef>
              <a:buNone/>
            </a:pPr>
            <a:r>
              <a:rPr lang="en-US" sz="4800" b="1" dirty="0">
                <a:effectLst/>
                <a:latin typeface="Times New Roman" panose="02020603050405020304" pitchFamily="18" charset="0"/>
                <a:ea typeface="Times New Roman" panose="02020603050405020304" pitchFamily="18" charset="0"/>
              </a:rPr>
              <a:t> </a:t>
            </a:r>
            <a:endParaRPr lang="en-IN" sz="4800" b="1" dirty="0">
              <a:effectLst/>
              <a:latin typeface="Times New Roman" panose="02020603050405020304" pitchFamily="18" charset="0"/>
              <a:ea typeface="Times New Roman" panose="02020603050405020304" pitchFamily="18" charset="0"/>
            </a:endParaRPr>
          </a:p>
          <a:p>
            <a:pPr marL="0" marR="267335" indent="0">
              <a:lnSpc>
                <a:spcPct val="150000"/>
              </a:lnSpc>
              <a:spcAft>
                <a:spcPts val="0"/>
              </a:spcAft>
              <a:buNone/>
            </a:pPr>
            <a:r>
              <a:rPr lang="en-US" sz="4800" b="1" dirty="0">
                <a:effectLst/>
                <a:latin typeface="Times New Roman" panose="02020603050405020304" pitchFamily="18" charset="0"/>
                <a:ea typeface="Times New Roman" panose="02020603050405020304" pitchFamily="18" charset="0"/>
              </a:rPr>
              <a:t>[3].</a:t>
            </a:r>
            <a:r>
              <a:rPr lang="en-US" sz="4800" b="1" spc="280"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Anjum</a:t>
            </a:r>
            <a:r>
              <a:rPr lang="en-US" sz="4800" b="1" spc="28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Ara,</a:t>
            </a:r>
            <a:r>
              <a:rPr lang="en-US" sz="4800" b="1" spc="280" dirty="0">
                <a:effectLst/>
                <a:latin typeface="Times New Roman" panose="02020603050405020304" pitchFamily="18" charset="0"/>
                <a:ea typeface="Times New Roman" panose="02020603050405020304" pitchFamily="18" charset="0"/>
              </a:rPr>
              <a:t> </a:t>
            </a:r>
            <a:r>
              <a:rPr lang="en-US" sz="4800" b="1" dirty="0" err="1">
                <a:effectLst/>
                <a:latin typeface="Times New Roman" panose="02020603050405020304" pitchFamily="18" charset="0"/>
                <a:ea typeface="Times New Roman" panose="02020603050405020304" pitchFamily="18" charset="0"/>
              </a:rPr>
              <a:t>Shivkumar</a:t>
            </a:r>
            <a:r>
              <a:rPr lang="en-US" sz="4800" b="1" spc="285" dirty="0">
                <a:effectLst/>
                <a:latin typeface="Times New Roman" panose="02020603050405020304" pitchFamily="18" charset="0"/>
                <a:ea typeface="Times New Roman" panose="02020603050405020304" pitchFamily="18" charset="0"/>
              </a:rPr>
              <a:t> </a:t>
            </a:r>
            <a:r>
              <a:rPr lang="en-US" sz="4800" b="1" dirty="0" err="1">
                <a:effectLst/>
                <a:latin typeface="Times New Roman" panose="02020603050405020304" pitchFamily="18" charset="0"/>
                <a:ea typeface="Times New Roman" panose="02020603050405020304" pitchFamily="18" charset="0"/>
              </a:rPr>
              <a:t>Jawaligi</a:t>
            </a:r>
            <a:r>
              <a:rPr lang="en-US" sz="4800" b="1" dirty="0">
                <a:effectLst/>
                <a:latin typeface="Times New Roman" panose="02020603050405020304" pitchFamily="18" charset="0"/>
                <a:ea typeface="Times New Roman" panose="02020603050405020304" pitchFamily="18" charset="0"/>
              </a:rPr>
              <a:t>,‘</a:t>
            </a:r>
            <a:r>
              <a:rPr lang="en-US" sz="4800" b="1" dirty="0" err="1">
                <a:effectLst/>
                <a:latin typeface="Times New Roman" panose="02020603050405020304" pitchFamily="18" charset="0"/>
                <a:ea typeface="Times New Roman" panose="02020603050405020304" pitchFamily="18" charset="0"/>
              </a:rPr>
              <a:t>NodeMCU</a:t>
            </a:r>
            <a:r>
              <a:rPr lang="en-US" sz="4800" b="1" dirty="0">
                <a:effectLst/>
                <a:latin typeface="Times New Roman" panose="02020603050405020304" pitchFamily="18" charset="0"/>
                <a:ea typeface="Times New Roman" panose="02020603050405020304" pitchFamily="18" charset="0"/>
              </a:rPr>
              <a:t>(ESP8266)</a:t>
            </a:r>
            <a:r>
              <a:rPr lang="en-US" sz="4800" b="1" spc="280"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control</a:t>
            </a:r>
            <a:r>
              <a:rPr lang="en-US" sz="4800" b="1" spc="28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home</a:t>
            </a:r>
            <a:r>
              <a:rPr lang="en-US" sz="4800" b="1" spc="280"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automation</a:t>
            </a:r>
            <a:r>
              <a:rPr lang="en-US" sz="4800" b="1" spc="28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using</a:t>
            </a:r>
            <a:r>
              <a:rPr lang="en-US" sz="4800" b="1" spc="28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google</a:t>
            </a:r>
            <a:r>
              <a:rPr lang="en-US" sz="4800" b="1" spc="-28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assistant’,</a:t>
            </a:r>
            <a:r>
              <a:rPr lang="en-US" sz="4800" b="1" spc="-1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International</a:t>
            </a:r>
            <a:r>
              <a:rPr lang="en-US" sz="4800" b="1" spc="-1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research</a:t>
            </a:r>
            <a:r>
              <a:rPr lang="en-US" sz="4800" b="1" spc="-1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journal</a:t>
            </a:r>
            <a:r>
              <a:rPr lang="en-US" sz="4800" b="1" spc="-20"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of</a:t>
            </a:r>
            <a:r>
              <a:rPr lang="en-US" sz="4800" b="1" spc="-10"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engineering</a:t>
            </a:r>
            <a:r>
              <a:rPr lang="en-US" sz="4800" b="1" spc="-1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and</a:t>
            </a:r>
            <a:r>
              <a:rPr lang="en-US" sz="4800" b="1" spc="-1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technology,Year:2019,Volume:06,Issue:07.</a:t>
            </a:r>
            <a:endParaRPr lang="en-IN" sz="4800" b="1" dirty="0">
              <a:effectLst/>
              <a:latin typeface="Times New Roman" panose="02020603050405020304" pitchFamily="18" charset="0"/>
              <a:ea typeface="Times New Roman" panose="02020603050405020304" pitchFamily="18" charset="0"/>
            </a:endParaRPr>
          </a:p>
          <a:p>
            <a:pPr marL="0" indent="0">
              <a:spcBef>
                <a:spcPts val="40"/>
              </a:spcBef>
              <a:buNone/>
            </a:pPr>
            <a:r>
              <a:rPr lang="en-US" sz="4800" b="1" dirty="0">
                <a:effectLst/>
                <a:latin typeface="Times New Roman" panose="02020603050405020304" pitchFamily="18" charset="0"/>
                <a:ea typeface="Times New Roman" panose="02020603050405020304" pitchFamily="18" charset="0"/>
              </a:rPr>
              <a:t> </a:t>
            </a:r>
            <a:endParaRPr lang="en-IN" sz="4800" b="1" dirty="0">
              <a:effectLst/>
              <a:latin typeface="Times New Roman" panose="02020603050405020304" pitchFamily="18" charset="0"/>
              <a:ea typeface="Times New Roman" panose="02020603050405020304" pitchFamily="18" charset="0"/>
            </a:endParaRPr>
          </a:p>
          <a:p>
            <a:pPr marL="0" marR="267335" indent="0">
              <a:lnSpc>
                <a:spcPct val="150000"/>
              </a:lnSpc>
              <a:spcAft>
                <a:spcPts val="0"/>
              </a:spcAft>
              <a:buNone/>
            </a:pPr>
            <a:r>
              <a:rPr lang="en-US" sz="4800" b="1" dirty="0">
                <a:effectLst/>
                <a:latin typeface="Times New Roman" panose="02020603050405020304" pitchFamily="18" charset="0"/>
                <a:ea typeface="Times New Roman" panose="02020603050405020304" pitchFamily="18" charset="0"/>
              </a:rPr>
              <a:t>[4].</a:t>
            </a:r>
            <a:r>
              <a:rPr lang="en-US" sz="4800" b="1" spc="180"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Mr.</a:t>
            </a:r>
            <a:r>
              <a:rPr lang="en-US" sz="4800" b="1" spc="190"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Kalyan</a:t>
            </a:r>
            <a:r>
              <a:rPr lang="en-US" sz="4800" b="1" spc="185" dirty="0">
                <a:effectLst/>
                <a:latin typeface="Times New Roman" panose="02020603050405020304" pitchFamily="18" charset="0"/>
                <a:ea typeface="Times New Roman" panose="02020603050405020304" pitchFamily="18" charset="0"/>
              </a:rPr>
              <a:t> </a:t>
            </a:r>
            <a:r>
              <a:rPr lang="en-US" sz="4800" b="1" dirty="0" err="1">
                <a:effectLst/>
                <a:latin typeface="Times New Roman" panose="02020603050405020304" pitchFamily="18" charset="0"/>
                <a:ea typeface="Times New Roman" panose="02020603050405020304" pitchFamily="18" charset="0"/>
              </a:rPr>
              <a:t>Chenumalla</a:t>
            </a:r>
            <a:r>
              <a:rPr lang="en-US" sz="4800" b="1" dirty="0">
                <a:effectLst/>
                <a:latin typeface="Times New Roman" panose="02020603050405020304" pitchFamily="18" charset="0"/>
                <a:ea typeface="Times New Roman" panose="02020603050405020304" pitchFamily="18" charset="0"/>
              </a:rPr>
              <a:t>,</a:t>
            </a:r>
            <a:r>
              <a:rPr lang="en-US" sz="4800" b="1" spc="17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Mr.</a:t>
            </a:r>
            <a:r>
              <a:rPr lang="en-US" sz="4800" b="1" spc="180"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Srikanth</a:t>
            </a:r>
            <a:r>
              <a:rPr lang="en-US" sz="4800" b="1" spc="195" dirty="0">
                <a:effectLst/>
                <a:latin typeface="Times New Roman" panose="02020603050405020304" pitchFamily="18" charset="0"/>
                <a:ea typeface="Times New Roman" panose="02020603050405020304" pitchFamily="18" charset="0"/>
              </a:rPr>
              <a:t> </a:t>
            </a:r>
            <a:r>
              <a:rPr lang="en-US" sz="4800" b="1" dirty="0" err="1">
                <a:effectLst/>
                <a:latin typeface="Times New Roman" panose="02020603050405020304" pitchFamily="18" charset="0"/>
                <a:ea typeface="Times New Roman" panose="02020603050405020304" pitchFamily="18" charset="0"/>
              </a:rPr>
              <a:t>Gottam</a:t>
            </a:r>
            <a:r>
              <a:rPr lang="en-US" sz="4800" b="1" dirty="0">
                <a:effectLst/>
                <a:latin typeface="Times New Roman" panose="02020603050405020304" pitchFamily="18" charset="0"/>
                <a:ea typeface="Times New Roman" panose="02020603050405020304" pitchFamily="18" charset="0"/>
              </a:rPr>
              <a:t>,</a:t>
            </a:r>
            <a:r>
              <a:rPr lang="en-US" sz="4800" b="1" spc="185" dirty="0">
                <a:effectLst/>
                <a:latin typeface="Times New Roman" panose="02020603050405020304" pitchFamily="18" charset="0"/>
                <a:ea typeface="Times New Roman" panose="02020603050405020304" pitchFamily="18" charset="0"/>
              </a:rPr>
              <a:t> </a:t>
            </a:r>
            <a:r>
              <a:rPr lang="en-US" sz="4800" b="1" dirty="0" err="1">
                <a:effectLst/>
                <a:latin typeface="Times New Roman" panose="02020603050405020304" pitchFamily="18" charset="0"/>
                <a:ea typeface="Times New Roman" panose="02020603050405020304" pitchFamily="18" charset="0"/>
              </a:rPr>
              <a:t>Ms.p.Bhavya</a:t>
            </a:r>
            <a:r>
              <a:rPr lang="en-US" sz="4800" b="1" spc="17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Shri,</a:t>
            </a:r>
            <a:r>
              <a:rPr lang="en-US" sz="4800" b="1" spc="19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‘Google</a:t>
            </a:r>
            <a:r>
              <a:rPr lang="en-US" sz="4800" b="1" spc="190"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Assistant</a:t>
            </a:r>
            <a:r>
              <a:rPr lang="en-US" sz="4800" b="1" spc="18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Controlled</a:t>
            </a:r>
            <a:r>
              <a:rPr lang="en-US" sz="4800" b="1" spc="-28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Home</a:t>
            </a:r>
            <a:r>
              <a:rPr lang="en-US" sz="4800" b="1" spc="-10"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Automation’,</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IEEE VEC SB,Year:2019.</a:t>
            </a:r>
            <a:endParaRPr lang="en-IN" sz="4800" b="1" dirty="0">
              <a:effectLst/>
              <a:latin typeface="Times New Roman" panose="02020603050405020304" pitchFamily="18" charset="0"/>
              <a:ea typeface="Times New Roman" panose="02020603050405020304" pitchFamily="18" charset="0"/>
            </a:endParaRPr>
          </a:p>
          <a:p>
            <a:pPr marL="0" indent="0">
              <a:spcBef>
                <a:spcPts val="50"/>
              </a:spcBef>
              <a:buNone/>
            </a:pPr>
            <a:r>
              <a:rPr lang="en-US" sz="4800" b="1" dirty="0">
                <a:effectLst/>
                <a:latin typeface="Times New Roman" panose="02020603050405020304" pitchFamily="18" charset="0"/>
                <a:ea typeface="Times New Roman" panose="02020603050405020304" pitchFamily="18" charset="0"/>
              </a:rPr>
              <a:t> </a:t>
            </a:r>
            <a:endParaRPr lang="en-IN" sz="4800" b="1" dirty="0">
              <a:effectLst/>
              <a:latin typeface="Times New Roman" panose="02020603050405020304" pitchFamily="18" charset="0"/>
              <a:ea typeface="Times New Roman" panose="02020603050405020304" pitchFamily="18" charset="0"/>
            </a:endParaRPr>
          </a:p>
          <a:p>
            <a:pPr marL="0" marR="607060" indent="0" algn="just">
              <a:lnSpc>
                <a:spcPct val="150000"/>
              </a:lnSpc>
              <a:spcAft>
                <a:spcPts val="0"/>
              </a:spcAft>
              <a:buNone/>
            </a:pPr>
            <a:r>
              <a:rPr lang="en-US" sz="4800" b="1" dirty="0">
                <a:effectLst/>
                <a:latin typeface="Times New Roman" panose="02020603050405020304" pitchFamily="18" charset="0"/>
                <a:ea typeface="Times New Roman" panose="02020603050405020304" pitchFamily="18" charset="0"/>
              </a:rPr>
              <a:t>[5].</a:t>
            </a:r>
            <a:r>
              <a:rPr lang="en-US" sz="4800" b="1" dirty="0" err="1">
                <a:effectLst/>
                <a:latin typeface="Times New Roman" panose="02020603050405020304" pitchFamily="18" charset="0"/>
                <a:ea typeface="Times New Roman" panose="02020603050405020304" pitchFamily="18" charset="0"/>
              </a:rPr>
              <a:t>RajeshRishi</a:t>
            </a:r>
            <a:r>
              <a:rPr lang="en-US" sz="4800" b="1" dirty="0">
                <a:effectLst/>
                <a:latin typeface="Times New Roman" panose="02020603050405020304" pitchFamily="18" charset="0"/>
                <a:ea typeface="Times New Roman" panose="02020603050405020304" pitchFamily="18" charset="0"/>
              </a:rPr>
              <a:t>,</a:t>
            </a:r>
            <a:r>
              <a:rPr lang="en-US" sz="4800" b="1" spc="5" dirty="0">
                <a:effectLst/>
                <a:latin typeface="Times New Roman" panose="02020603050405020304" pitchFamily="18" charset="0"/>
                <a:ea typeface="Times New Roman" panose="02020603050405020304" pitchFamily="18" charset="0"/>
              </a:rPr>
              <a:t> </a:t>
            </a:r>
            <a:r>
              <a:rPr lang="en-US" sz="4800" b="1" dirty="0" err="1">
                <a:effectLst/>
                <a:latin typeface="Times New Roman" panose="02020603050405020304" pitchFamily="18" charset="0"/>
                <a:ea typeface="Times New Roman" panose="02020603050405020304" pitchFamily="18" charset="0"/>
              </a:rPr>
              <a:t>PinikDoloi</a:t>
            </a:r>
            <a:r>
              <a:rPr lang="en-US" sz="4800" b="1" dirty="0">
                <a:effectLst/>
                <a:latin typeface="Times New Roman" panose="02020603050405020304" pitchFamily="18" charset="0"/>
                <a:ea typeface="Times New Roman" panose="02020603050405020304" pitchFamily="18" charset="0"/>
              </a:rPr>
              <a:t>,</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‘Home</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automation</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using</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google</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assistant’,</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International</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journal</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of</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innovative</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research</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in</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electrical,</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electronics,</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instrumentation</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and</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control</a:t>
            </a:r>
            <a:r>
              <a:rPr lang="en-US" sz="4800" b="1" spc="5" dirty="0">
                <a:effectLst/>
                <a:latin typeface="Times New Roman" panose="02020603050405020304" pitchFamily="18" charset="0"/>
                <a:ea typeface="Times New Roman" panose="02020603050405020304" pitchFamily="18" charset="0"/>
              </a:rPr>
              <a:t> </a:t>
            </a:r>
            <a:r>
              <a:rPr lang="en-US" sz="4800" b="1" dirty="0">
                <a:effectLst/>
                <a:latin typeface="Times New Roman" panose="02020603050405020304" pitchFamily="18" charset="0"/>
                <a:ea typeface="Times New Roman" panose="02020603050405020304" pitchFamily="18" charset="0"/>
              </a:rPr>
              <a:t>engineering,Year:2021,Volume:09,issue:06.</a:t>
            </a:r>
            <a:endParaRPr lang="en-IN" sz="48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4800" b="1" dirty="0">
                <a:effectLst/>
                <a:latin typeface="Times New Roman" panose="02020603050405020304" pitchFamily="18" charset="0"/>
                <a:ea typeface="Times New Roman" panose="02020603050405020304" pitchFamily="18" charset="0"/>
              </a:rPr>
              <a:t> </a:t>
            </a:r>
            <a:endParaRPr lang="en-IN" sz="48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4800" b="1" dirty="0">
                <a:effectLst/>
                <a:latin typeface="Times New Roman" panose="02020603050405020304" pitchFamily="18" charset="0"/>
                <a:ea typeface="Times New Roman" panose="02020603050405020304" pitchFamily="18" charset="0"/>
              </a:rPr>
              <a:t>[6] </a:t>
            </a:r>
            <a:r>
              <a:rPr lang="en-US" sz="4800" b="1" dirty="0" err="1">
                <a:effectLst/>
                <a:latin typeface="Times New Roman" panose="02020603050405020304" pitchFamily="18" charset="0"/>
                <a:ea typeface="Times New Roman" panose="02020603050405020304" pitchFamily="18" charset="0"/>
              </a:rPr>
              <a:t>Hittu</a:t>
            </a:r>
            <a:r>
              <a:rPr lang="en-US" sz="4800" b="1" dirty="0">
                <a:effectLst/>
                <a:latin typeface="Times New Roman" panose="02020603050405020304" pitchFamily="18" charset="0"/>
                <a:ea typeface="Times New Roman" panose="02020603050405020304" pitchFamily="18" charset="0"/>
              </a:rPr>
              <a:t> Garg,  Mayank Dave  ,‘Securing IoT Devices and </a:t>
            </a:r>
            <a:r>
              <a:rPr lang="en-US" sz="4800" b="1" dirty="0" err="1">
                <a:effectLst/>
                <a:latin typeface="Times New Roman" panose="02020603050405020304" pitchFamily="18" charset="0"/>
                <a:ea typeface="Times New Roman" panose="02020603050405020304" pitchFamily="18" charset="0"/>
              </a:rPr>
              <a:t>SecurelyConnecting</a:t>
            </a:r>
            <a:r>
              <a:rPr lang="en-US" sz="4800" b="1" dirty="0">
                <a:effectLst/>
                <a:latin typeface="Times New Roman" panose="02020603050405020304" pitchFamily="18" charset="0"/>
                <a:ea typeface="Times New Roman" panose="02020603050405020304" pitchFamily="18" charset="0"/>
              </a:rPr>
              <a:t> the Dots Using REST API and </a:t>
            </a:r>
            <a:endParaRPr lang="en-IN" sz="48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4800" b="1" dirty="0">
                <a:effectLst/>
                <a:latin typeface="Times New Roman" panose="02020603050405020304" pitchFamily="18" charset="0"/>
                <a:ea typeface="Times New Roman" panose="02020603050405020304" pitchFamily="18" charset="0"/>
              </a:rPr>
              <a:t>Middleware ’  2019 4th International Conference on Internet of Things: Smart Innovation and Usages (IoT-SIU)</a:t>
            </a:r>
            <a:endParaRPr lang="en-IN" sz="48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4800" b="1" dirty="0">
                <a:effectLst/>
                <a:latin typeface="Times New Roman" panose="02020603050405020304" pitchFamily="18" charset="0"/>
                <a:ea typeface="Times New Roman" panose="02020603050405020304" pitchFamily="18" charset="0"/>
              </a:rPr>
              <a:t> Year :2019</a:t>
            </a:r>
            <a:endParaRPr lang="en-IN" sz="48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4800" b="1" dirty="0">
                <a:effectLst/>
                <a:latin typeface="Times New Roman" panose="02020603050405020304" pitchFamily="18" charset="0"/>
                <a:ea typeface="Times New Roman" panose="02020603050405020304" pitchFamily="18" charset="0"/>
              </a:rPr>
              <a:t>[7] C. Wang, G. Yang, G. </a:t>
            </a:r>
            <a:r>
              <a:rPr lang="en-US" sz="4800" b="1" dirty="0" err="1">
                <a:effectLst/>
                <a:latin typeface="Times New Roman" panose="02020603050405020304" pitchFamily="18" charset="0"/>
                <a:ea typeface="Times New Roman" panose="02020603050405020304" pitchFamily="18" charset="0"/>
              </a:rPr>
              <a:t>Papanastasiou</a:t>
            </a:r>
            <a:r>
              <a:rPr lang="en-US" sz="4800" b="1" dirty="0">
                <a:effectLst/>
                <a:latin typeface="Times New Roman" panose="02020603050405020304" pitchFamily="18" charset="0"/>
                <a:ea typeface="Times New Roman" panose="02020603050405020304" pitchFamily="18" charset="0"/>
              </a:rPr>
              <a:t>, H. Zhang, J. Rodrigues, and V. Albuquerque,</a:t>
            </a:r>
            <a:endParaRPr lang="en-IN" sz="48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4800" b="1" dirty="0">
                <a:effectLst/>
                <a:latin typeface="Times New Roman" panose="02020603050405020304" pitchFamily="18" charset="0"/>
                <a:ea typeface="Times New Roman" panose="02020603050405020304" pitchFamily="18" charset="0"/>
              </a:rPr>
              <a:t>‘‘Industrial cyber-physical systems-based cloud IoT edge for federated heterogeneous</a:t>
            </a:r>
            <a:endParaRPr lang="en-IN" sz="48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4800" b="1" dirty="0">
                <a:effectLst/>
                <a:latin typeface="Times New Roman" panose="02020603050405020304" pitchFamily="18" charset="0"/>
                <a:ea typeface="Times New Roman" panose="02020603050405020304" pitchFamily="18" charset="0"/>
              </a:rPr>
              <a:t>distillation,’’ IEEE Trans. Ind. </a:t>
            </a:r>
            <a:r>
              <a:rPr lang="en-US" sz="4800" b="1" dirty="0" err="1">
                <a:effectLst/>
                <a:latin typeface="Times New Roman" panose="02020603050405020304" pitchFamily="18" charset="0"/>
                <a:ea typeface="Times New Roman" panose="02020603050405020304" pitchFamily="18" charset="0"/>
              </a:rPr>
              <a:t>Informat</a:t>
            </a:r>
            <a:r>
              <a:rPr lang="en-US" sz="4800" b="1" dirty="0">
                <a:effectLst/>
                <a:latin typeface="Times New Roman" panose="02020603050405020304" pitchFamily="18" charset="0"/>
                <a:ea typeface="Times New Roman" panose="02020603050405020304" pitchFamily="18" charset="0"/>
              </a:rPr>
              <a:t>., early access, Jul. 7, 2020, </a:t>
            </a:r>
            <a:r>
              <a:rPr lang="en-US" sz="4800" b="1" dirty="0" err="1">
                <a:effectLst/>
                <a:latin typeface="Times New Roman" panose="02020603050405020304" pitchFamily="18" charset="0"/>
                <a:ea typeface="Times New Roman" panose="02020603050405020304" pitchFamily="18" charset="0"/>
              </a:rPr>
              <a:t>doi</a:t>
            </a:r>
            <a:r>
              <a:rPr lang="en-US" sz="4800" b="1" dirty="0">
                <a:effectLst/>
                <a:latin typeface="Times New Roman" panose="02020603050405020304" pitchFamily="18" charset="0"/>
                <a:ea typeface="Times New Roman" panose="02020603050405020304" pitchFamily="18" charset="0"/>
              </a:rPr>
              <a:t>:</a:t>
            </a:r>
            <a:endParaRPr lang="en-IN" sz="48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4800" b="1" dirty="0">
                <a:effectLst/>
                <a:latin typeface="Times New Roman" panose="02020603050405020304" pitchFamily="18" charset="0"/>
                <a:ea typeface="Times New Roman" panose="02020603050405020304" pitchFamily="18" charset="0"/>
              </a:rPr>
              <a:t>10.1109/TII.2020.3007407.</a:t>
            </a:r>
            <a:endParaRPr lang="en-IN" sz="48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4800" b="1" dirty="0">
                <a:effectLst/>
                <a:latin typeface="Times New Roman" panose="02020603050405020304" pitchFamily="18" charset="0"/>
                <a:ea typeface="Times New Roman" panose="02020603050405020304" pitchFamily="18" charset="0"/>
              </a:rPr>
              <a:t>38</a:t>
            </a:r>
            <a:endParaRPr lang="en-IN" sz="4800" b="1" dirty="0">
              <a:effectLst/>
              <a:latin typeface="Times New Roman" panose="02020603050405020304" pitchFamily="18" charset="0"/>
              <a:ea typeface="Times New Roman" panose="02020603050405020304" pitchFamily="18" charset="0"/>
            </a:endParaRPr>
          </a:p>
          <a:p>
            <a:pPr marL="0" indent="0">
              <a:buNone/>
            </a:pPr>
            <a:endParaRPr lang="en-IN" sz="1100" dirty="0"/>
          </a:p>
        </p:txBody>
      </p:sp>
    </p:spTree>
    <p:extLst>
      <p:ext uri="{BB962C8B-B14F-4D97-AF65-F5344CB8AC3E}">
        <p14:creationId xmlns:p14="http://schemas.microsoft.com/office/powerpoint/2010/main" val="468237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8DCDD-6BDA-74AA-D28A-6B240F071E8C}"/>
              </a:ext>
            </a:extLst>
          </p:cNvPr>
          <p:cNvSpPr>
            <a:spLocks noGrp="1"/>
          </p:cNvSpPr>
          <p:nvPr>
            <p:ph type="title"/>
          </p:nvPr>
        </p:nvSpPr>
        <p:spPr>
          <a:xfrm>
            <a:off x="838200" y="-393192"/>
            <a:ext cx="10515600" cy="32918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9F87C9F8-70FF-9DFE-395C-71AC7C839AB6}"/>
              </a:ext>
            </a:extLst>
          </p:cNvPr>
          <p:cNvSpPr>
            <a:spLocks noGrp="1"/>
          </p:cNvSpPr>
          <p:nvPr>
            <p:ph idx="1"/>
          </p:nvPr>
        </p:nvSpPr>
        <p:spPr>
          <a:xfrm>
            <a:off x="838200" y="0"/>
            <a:ext cx="10515600" cy="6176963"/>
          </a:xfrm>
        </p:spPr>
        <p:txBody>
          <a:bodyPr>
            <a:noAutofit/>
          </a:bodyPr>
          <a:lstStyle/>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[8] A. M. </a:t>
            </a:r>
            <a:r>
              <a:rPr lang="en-US" sz="900" b="1" dirty="0" err="1">
                <a:effectLst/>
                <a:latin typeface="Times New Roman" panose="02020603050405020304" pitchFamily="18" charset="0"/>
                <a:ea typeface="Times New Roman" panose="02020603050405020304" pitchFamily="18" charset="0"/>
              </a:rPr>
              <a:t>Elmisery</a:t>
            </a:r>
            <a:r>
              <a:rPr lang="en-US" sz="900" b="1" dirty="0">
                <a:effectLst/>
                <a:latin typeface="Times New Roman" panose="02020603050405020304" pitchFamily="18" charset="0"/>
                <a:ea typeface="Times New Roman" panose="02020603050405020304" pitchFamily="18" charset="0"/>
              </a:rPr>
              <a:t>, M. </a:t>
            </a:r>
            <a:r>
              <a:rPr lang="en-US" sz="900" b="1" dirty="0" err="1">
                <a:effectLst/>
                <a:latin typeface="Times New Roman" panose="02020603050405020304" pitchFamily="18" charset="0"/>
                <a:ea typeface="Times New Roman" panose="02020603050405020304" pitchFamily="18" charset="0"/>
              </a:rPr>
              <a:t>Sertovic</a:t>
            </a:r>
            <a:r>
              <a:rPr lang="en-US" sz="900" b="1" dirty="0">
                <a:effectLst/>
                <a:latin typeface="Times New Roman" panose="02020603050405020304" pitchFamily="18" charset="0"/>
                <a:ea typeface="Times New Roman" panose="02020603050405020304" pitchFamily="18" charset="0"/>
              </a:rPr>
              <a:t>, and B. B. Gupta, ‘‘Cognitive privacy middle</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ware for deep learning mashup in environmental IoT,’’ IEEE Access, vol. 6, pp. 8029–</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8041, 2018.</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[9] F. </a:t>
            </a:r>
            <a:r>
              <a:rPr lang="en-US" sz="900" b="1" dirty="0" err="1">
                <a:effectLst/>
                <a:latin typeface="Times New Roman" panose="02020603050405020304" pitchFamily="18" charset="0"/>
                <a:ea typeface="Times New Roman" panose="02020603050405020304" pitchFamily="18" charset="0"/>
              </a:rPr>
              <a:t>Montori</a:t>
            </a:r>
            <a:r>
              <a:rPr lang="en-US" sz="900" b="1" dirty="0">
                <a:effectLst/>
                <a:latin typeface="Times New Roman" panose="02020603050405020304" pitchFamily="18" charset="0"/>
                <a:ea typeface="Times New Roman" panose="02020603050405020304" pitchFamily="18" charset="0"/>
              </a:rPr>
              <a:t>, L. </a:t>
            </a:r>
            <a:r>
              <a:rPr lang="en-US" sz="900" b="1" dirty="0" err="1">
                <a:effectLst/>
                <a:latin typeface="Times New Roman" panose="02020603050405020304" pitchFamily="18" charset="0"/>
                <a:ea typeface="Times New Roman" panose="02020603050405020304" pitchFamily="18" charset="0"/>
              </a:rPr>
              <a:t>Bedogni</a:t>
            </a:r>
            <a:r>
              <a:rPr lang="en-US" sz="900" b="1" dirty="0">
                <a:effectLst/>
                <a:latin typeface="Times New Roman" panose="02020603050405020304" pitchFamily="18" charset="0"/>
                <a:ea typeface="Times New Roman" panose="02020603050405020304" pitchFamily="18" charset="0"/>
              </a:rPr>
              <a:t>, and L. </a:t>
            </a:r>
            <a:r>
              <a:rPr lang="en-US" sz="900" b="1" dirty="0" err="1">
                <a:effectLst/>
                <a:latin typeface="Times New Roman" panose="02020603050405020304" pitchFamily="18" charset="0"/>
                <a:ea typeface="Times New Roman" panose="02020603050405020304" pitchFamily="18" charset="0"/>
              </a:rPr>
              <a:t>Bononi</a:t>
            </a:r>
            <a:r>
              <a:rPr lang="en-US" sz="900" b="1" dirty="0">
                <a:effectLst/>
                <a:latin typeface="Times New Roman" panose="02020603050405020304" pitchFamily="18" charset="0"/>
                <a:ea typeface="Times New Roman" panose="02020603050405020304" pitchFamily="18" charset="0"/>
              </a:rPr>
              <a:t>, ‘‘A collaborative Internet of Things</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architecture for smart cities and environmental monitoring,’’ IEEE Internet Things J.,</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vol. 5, no. 2, pp. 592–605, Apr. 2018.</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[10] B. </a:t>
            </a:r>
            <a:r>
              <a:rPr lang="en-US" sz="900" b="1" dirty="0" err="1">
                <a:effectLst/>
                <a:latin typeface="Times New Roman" panose="02020603050405020304" pitchFamily="18" charset="0"/>
                <a:ea typeface="Times New Roman" panose="02020603050405020304" pitchFamily="18" charset="0"/>
              </a:rPr>
              <a:t>Keswani</a:t>
            </a:r>
            <a:r>
              <a:rPr lang="en-US" sz="900" b="1" dirty="0">
                <a:effectLst/>
                <a:latin typeface="Times New Roman" panose="02020603050405020304" pitchFamily="18" charset="0"/>
                <a:ea typeface="Times New Roman" panose="02020603050405020304" pitchFamily="18" charset="0"/>
              </a:rPr>
              <a:t>, A. G. Mohapatra, A. Mohanty, A. Khanna, J. J. P. C. Rodrigues, D.</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Gupta, and V. H. C. de Albuquerque, ‘‘Adapting weather conditions based IoT</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enabled smart irrigation technique in precision agriculture mechanisms,’’ Neural</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err="1">
                <a:effectLst/>
                <a:latin typeface="Times New Roman" panose="02020603050405020304" pitchFamily="18" charset="0"/>
                <a:ea typeface="Times New Roman" panose="02020603050405020304" pitchFamily="18" charset="0"/>
              </a:rPr>
              <a:t>Comput</a:t>
            </a:r>
            <a:r>
              <a:rPr lang="en-US" sz="900" b="1" dirty="0">
                <a:effectLst/>
                <a:latin typeface="Times New Roman" panose="02020603050405020304" pitchFamily="18" charset="0"/>
                <a:ea typeface="Times New Roman" panose="02020603050405020304" pitchFamily="18" charset="0"/>
              </a:rPr>
              <a:t>. Appl., vol. 31, no. S1, pp. 277–292, Sep. 2018.</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[11] L.-M. Ang, K. P. Seng, A. M. </a:t>
            </a:r>
            <a:r>
              <a:rPr lang="en-US" sz="900" b="1" dirty="0" err="1">
                <a:effectLst/>
                <a:latin typeface="Times New Roman" panose="02020603050405020304" pitchFamily="18" charset="0"/>
                <a:ea typeface="Times New Roman" panose="02020603050405020304" pitchFamily="18" charset="0"/>
              </a:rPr>
              <a:t>Zungeru</a:t>
            </a:r>
            <a:r>
              <a:rPr lang="en-US" sz="900" b="1" dirty="0">
                <a:effectLst/>
                <a:latin typeface="Times New Roman" panose="02020603050405020304" pitchFamily="18" charset="0"/>
                <a:ea typeface="Times New Roman" panose="02020603050405020304" pitchFamily="18" charset="0"/>
              </a:rPr>
              <a:t>, and G. K. </a:t>
            </a:r>
            <a:r>
              <a:rPr lang="en-US" sz="900" b="1" dirty="0" err="1">
                <a:effectLst/>
                <a:latin typeface="Times New Roman" panose="02020603050405020304" pitchFamily="18" charset="0"/>
                <a:ea typeface="Times New Roman" panose="02020603050405020304" pitchFamily="18" charset="0"/>
              </a:rPr>
              <a:t>Ijemaru</a:t>
            </a:r>
            <a:r>
              <a:rPr lang="en-US" sz="900" b="1" dirty="0">
                <a:effectLst/>
                <a:latin typeface="Times New Roman" panose="02020603050405020304" pitchFamily="18" charset="0"/>
                <a:ea typeface="Times New Roman" panose="02020603050405020304" pitchFamily="18" charset="0"/>
              </a:rPr>
              <a:t>, ‘‘Big sensor data</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systems for smart cities,’’ IEEE Internet Things J., vol. 4, no. 5, pp. 1259–1271, Oct.</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2017.</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[12] J. Santos, T. </a:t>
            </a:r>
            <a:r>
              <a:rPr lang="en-US" sz="900" b="1" dirty="0" err="1">
                <a:effectLst/>
                <a:latin typeface="Times New Roman" panose="02020603050405020304" pitchFamily="18" charset="0"/>
                <a:ea typeface="Times New Roman" panose="02020603050405020304" pitchFamily="18" charset="0"/>
              </a:rPr>
              <a:t>Vanhove</a:t>
            </a:r>
            <a:r>
              <a:rPr lang="en-US" sz="900" b="1" dirty="0">
                <a:effectLst/>
                <a:latin typeface="Times New Roman" panose="02020603050405020304" pitchFamily="18" charset="0"/>
                <a:ea typeface="Times New Roman" panose="02020603050405020304" pitchFamily="18" charset="0"/>
              </a:rPr>
              <a:t>, M. </a:t>
            </a:r>
            <a:r>
              <a:rPr lang="en-US" sz="900" b="1" dirty="0" err="1">
                <a:effectLst/>
                <a:latin typeface="Times New Roman" panose="02020603050405020304" pitchFamily="18" charset="0"/>
                <a:ea typeface="Times New Roman" panose="02020603050405020304" pitchFamily="18" charset="0"/>
              </a:rPr>
              <a:t>Sebrechts</a:t>
            </a:r>
            <a:r>
              <a:rPr lang="en-US" sz="900" b="1" dirty="0">
                <a:effectLst/>
                <a:latin typeface="Times New Roman" panose="02020603050405020304" pitchFamily="18" charset="0"/>
                <a:ea typeface="Times New Roman" panose="02020603050405020304" pitchFamily="18" charset="0"/>
              </a:rPr>
              <a:t>, T. Dupont, W. </a:t>
            </a:r>
            <a:r>
              <a:rPr lang="en-US" sz="900" b="1" dirty="0" err="1">
                <a:effectLst/>
                <a:latin typeface="Times New Roman" panose="02020603050405020304" pitchFamily="18" charset="0"/>
                <a:ea typeface="Times New Roman" panose="02020603050405020304" pitchFamily="18" charset="0"/>
              </a:rPr>
              <a:t>Kerckhove</a:t>
            </a:r>
            <a:r>
              <a:rPr lang="en-US" sz="900" b="1" dirty="0">
                <a:effectLst/>
                <a:latin typeface="Times New Roman" panose="02020603050405020304" pitchFamily="18" charset="0"/>
                <a:ea typeface="Times New Roman" panose="02020603050405020304" pitchFamily="18" charset="0"/>
              </a:rPr>
              <a:t>, B. </a:t>
            </a:r>
            <a:r>
              <a:rPr lang="en-US" sz="900" b="1" dirty="0" err="1">
                <a:effectLst/>
                <a:latin typeface="Times New Roman" panose="02020603050405020304" pitchFamily="18" charset="0"/>
                <a:ea typeface="Times New Roman" panose="02020603050405020304" pitchFamily="18" charset="0"/>
              </a:rPr>
              <a:t>Braem</a:t>
            </a:r>
            <a:r>
              <a:rPr lang="en-US" sz="900" b="1" dirty="0">
                <a:effectLst/>
                <a:latin typeface="Times New Roman" panose="02020603050405020304" pitchFamily="18" charset="0"/>
                <a:ea typeface="Times New Roman" panose="02020603050405020304" pitchFamily="18" charset="0"/>
              </a:rPr>
              <a:t>, G. V.</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err="1">
                <a:effectLst/>
                <a:latin typeface="Times New Roman" panose="02020603050405020304" pitchFamily="18" charset="0"/>
                <a:ea typeface="Times New Roman" panose="02020603050405020304" pitchFamily="18" charset="0"/>
              </a:rPr>
              <a:t>Seghbroeck</a:t>
            </a:r>
            <a:r>
              <a:rPr lang="en-US" sz="900" b="1" dirty="0">
                <a:effectLst/>
                <a:latin typeface="Times New Roman" panose="02020603050405020304" pitchFamily="18" charset="0"/>
                <a:ea typeface="Times New Roman" panose="02020603050405020304" pitchFamily="18" charset="0"/>
              </a:rPr>
              <a:t>, T. </a:t>
            </a:r>
            <a:r>
              <a:rPr lang="en-US" sz="900" b="1" dirty="0" err="1">
                <a:effectLst/>
                <a:latin typeface="Times New Roman" panose="02020603050405020304" pitchFamily="18" charset="0"/>
                <a:ea typeface="Times New Roman" panose="02020603050405020304" pitchFamily="18" charset="0"/>
              </a:rPr>
              <a:t>Wauters</a:t>
            </a:r>
            <a:r>
              <a:rPr lang="en-US" sz="900" b="1" dirty="0">
                <a:effectLst/>
                <a:latin typeface="Times New Roman" panose="02020603050405020304" pitchFamily="18" charset="0"/>
                <a:ea typeface="Times New Roman" panose="02020603050405020304" pitchFamily="18" charset="0"/>
              </a:rPr>
              <a:t>, P. Leroux, S. </a:t>
            </a:r>
            <a:r>
              <a:rPr lang="en-US" sz="900" b="1" dirty="0" err="1">
                <a:effectLst/>
                <a:latin typeface="Times New Roman" panose="02020603050405020304" pitchFamily="18" charset="0"/>
                <a:ea typeface="Times New Roman" panose="02020603050405020304" pitchFamily="18" charset="0"/>
              </a:rPr>
              <a:t>Latre</a:t>
            </a:r>
            <a:r>
              <a:rPr lang="en-US" sz="900" b="1" dirty="0">
                <a:effectLst/>
                <a:latin typeface="Times New Roman" panose="02020603050405020304" pitchFamily="18" charset="0"/>
                <a:ea typeface="Times New Roman" panose="02020603050405020304" pitchFamily="18" charset="0"/>
              </a:rPr>
              <a:t>, B. </a:t>
            </a:r>
            <a:r>
              <a:rPr lang="en-US" sz="900" b="1" dirty="0" err="1">
                <a:effectLst/>
                <a:latin typeface="Times New Roman" panose="02020603050405020304" pitchFamily="18" charset="0"/>
                <a:ea typeface="Times New Roman" panose="02020603050405020304" pitchFamily="18" charset="0"/>
              </a:rPr>
              <a:t>Volckaert</a:t>
            </a:r>
            <a:r>
              <a:rPr lang="en-US" sz="900" b="1" dirty="0">
                <a:effectLst/>
                <a:latin typeface="Times New Roman" panose="02020603050405020304" pitchFamily="18" charset="0"/>
                <a:ea typeface="Times New Roman" panose="02020603050405020304" pitchFamily="18" charset="0"/>
              </a:rPr>
              <a:t>, and F. D. </a:t>
            </a:r>
            <a:r>
              <a:rPr lang="en-US" sz="900" b="1" dirty="0" err="1">
                <a:effectLst/>
                <a:latin typeface="Times New Roman" panose="02020603050405020304" pitchFamily="18" charset="0"/>
                <a:ea typeface="Times New Roman" panose="02020603050405020304" pitchFamily="18" charset="0"/>
              </a:rPr>
              <a:t>Turck</a:t>
            </a:r>
            <a:r>
              <a:rPr lang="en-US" sz="900" b="1" dirty="0">
                <a:effectLst/>
                <a:latin typeface="Times New Roman" panose="02020603050405020304" pitchFamily="18" charset="0"/>
                <a:ea typeface="Times New Roman" panose="02020603050405020304" pitchFamily="18" charset="0"/>
              </a:rPr>
              <a:t>, ‘‘City of</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things: Enabling resource provisioning in smart cities,’’ IEEE </a:t>
            </a:r>
            <a:r>
              <a:rPr lang="en-US" sz="900" b="1" dirty="0" err="1">
                <a:effectLst/>
                <a:latin typeface="Times New Roman" panose="02020603050405020304" pitchFamily="18" charset="0"/>
                <a:ea typeface="Times New Roman" panose="02020603050405020304" pitchFamily="18" charset="0"/>
              </a:rPr>
              <a:t>Commun</a:t>
            </a:r>
            <a:r>
              <a:rPr lang="en-US" sz="900" b="1" dirty="0">
                <a:effectLst/>
                <a:latin typeface="Times New Roman" panose="02020603050405020304" pitchFamily="18" charset="0"/>
                <a:ea typeface="Times New Roman" panose="02020603050405020304" pitchFamily="18" charset="0"/>
              </a:rPr>
              <a:t>. Mag., vol. 56,</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no. 7, pp. 177–183, Jul. 2018.</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[13] K. </a:t>
            </a:r>
            <a:r>
              <a:rPr lang="en-US" sz="900" b="1" dirty="0" err="1">
                <a:effectLst/>
                <a:latin typeface="Times New Roman" panose="02020603050405020304" pitchFamily="18" charset="0"/>
                <a:ea typeface="Times New Roman" panose="02020603050405020304" pitchFamily="18" charset="0"/>
              </a:rPr>
              <a:t>Pardini</a:t>
            </a:r>
            <a:r>
              <a:rPr lang="en-US" sz="900" b="1" dirty="0">
                <a:effectLst/>
                <a:latin typeface="Times New Roman" panose="02020603050405020304" pitchFamily="18" charset="0"/>
                <a:ea typeface="Times New Roman" panose="02020603050405020304" pitchFamily="18" charset="0"/>
              </a:rPr>
              <a:t>, J. J. P. C. Rodrigues, O. Diallo, A. K. Das, V. H. C. de Albuquerque,</a:t>
            </a:r>
            <a:endParaRPr lang="en-IN" sz="900" b="1"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900" b="1" dirty="0">
                <a:effectLst/>
                <a:latin typeface="Times New Roman" panose="02020603050405020304" pitchFamily="18" charset="0"/>
                <a:ea typeface="Times New Roman" panose="02020603050405020304" pitchFamily="18" charset="0"/>
              </a:rPr>
              <a:t>and S. A. Kozlov, ‘‘A smart waste management solution geared towards citizens,’’</a:t>
            </a:r>
            <a:endParaRPr lang="en-IN" sz="900" b="1" dirty="0">
              <a:effectLst/>
              <a:latin typeface="Times New Roman" panose="02020603050405020304" pitchFamily="18" charset="0"/>
              <a:ea typeface="Times New Roman" panose="02020603050405020304" pitchFamily="18" charset="0"/>
            </a:endParaRPr>
          </a:p>
          <a:p>
            <a:pPr marL="0" indent="0">
              <a:buNone/>
            </a:pPr>
            <a:r>
              <a:rPr lang="en-US" sz="900" b="1" dirty="0">
                <a:effectLst/>
                <a:latin typeface="Times New Roman" panose="02020603050405020304" pitchFamily="18" charset="0"/>
                <a:ea typeface="Times New Roman" panose="02020603050405020304" pitchFamily="18" charset="0"/>
              </a:rPr>
              <a:t>Sensors, vol. 20, no. 8, p. 2380, Apr. 2020.</a:t>
            </a:r>
            <a:endParaRPr lang="en-IN" sz="900" b="1" dirty="0"/>
          </a:p>
        </p:txBody>
      </p:sp>
    </p:spTree>
    <p:extLst>
      <p:ext uri="{BB962C8B-B14F-4D97-AF65-F5344CB8AC3E}">
        <p14:creationId xmlns:p14="http://schemas.microsoft.com/office/powerpoint/2010/main" val="1090751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A5EBB-55A5-F651-882D-0DA2ADC9391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A01D878-5360-EA94-8290-3D24A148C0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7512" y="585216"/>
            <a:ext cx="10936223" cy="5591747"/>
          </a:xfrm>
        </p:spPr>
      </p:pic>
    </p:spTree>
    <p:extLst>
      <p:ext uri="{BB962C8B-B14F-4D97-AF65-F5344CB8AC3E}">
        <p14:creationId xmlns:p14="http://schemas.microsoft.com/office/powerpoint/2010/main" val="9902321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974</TotalTime>
  <Words>4652</Words>
  <Application>Microsoft Office PowerPoint</Application>
  <PresentationFormat>Widescreen</PresentationFormat>
  <Paragraphs>136</Paragraphs>
  <Slides>31</Slides>
  <Notes>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31</vt:i4>
      </vt:variant>
    </vt:vector>
  </HeadingPairs>
  <TitlesOfParts>
    <vt:vector size="45" baseType="lpstr">
      <vt:lpstr>Abadi</vt:lpstr>
      <vt:lpstr>-apple-system</vt:lpstr>
      <vt:lpstr>Arial</vt:lpstr>
      <vt:lpstr>Calbiri</vt:lpstr>
      <vt:lpstr>Calibri</vt:lpstr>
      <vt:lpstr>Calibri Light</vt:lpstr>
      <vt:lpstr>Google Sans</vt:lpstr>
      <vt:lpstr>HelveticaNeue Regular</vt:lpstr>
      <vt:lpstr>inherit</vt:lpstr>
      <vt:lpstr>NexusSansWebPro</vt:lpstr>
      <vt:lpstr>NexusSerifWebPro</vt:lpstr>
      <vt:lpstr>Tahoma</vt:lpstr>
      <vt:lpstr>Times New Roman</vt:lpstr>
      <vt:lpstr>Office Theme</vt:lpstr>
      <vt:lpstr>“SMART HOME AUTOMATION” A MINI PROJECT REPORT   submitted by </vt:lpstr>
      <vt:lpstr>ABSTRACT. </vt:lpstr>
      <vt:lpstr>SCOPE OF THE PROJECT</vt:lpstr>
      <vt:lpstr>THE PROBLEM STATEMENT</vt:lpstr>
      <vt:lpstr>SOLUTION</vt:lpstr>
      <vt:lpstr>EXISITING SYSTEM</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PROPOSED SYSTEM</vt:lpstr>
      <vt:lpstr>IDEA- CURRENT STATUS/ FUTURE PLAN</vt:lpstr>
      <vt:lpstr>SAMPLE VIEW OF OUR PROJECT</vt:lpstr>
      <vt:lpstr>HARDWARE AND SOFTWARE USED</vt:lpstr>
      <vt:lpstr>PowerPoint Presentation</vt:lpstr>
      <vt:lpstr>CONCLUSION AND FUTURE SCOPE </vt:lpstr>
      <vt:lpstr>ADVANTAGES</vt:lpstr>
      <vt:lpstr>REFERENCE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Neha Mohan</dc:creator>
  <cp:lastModifiedBy>pranathi reddy</cp:lastModifiedBy>
  <cp:revision>7</cp:revision>
  <dcterms:created xsi:type="dcterms:W3CDTF">2024-08-16T04:35:19Z</dcterms:created>
  <dcterms:modified xsi:type="dcterms:W3CDTF">2024-09-01T14:03:45Z</dcterms:modified>
</cp:coreProperties>
</file>