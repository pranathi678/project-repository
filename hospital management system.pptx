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8" r:id="rId4"/>
    <p:sldId id="259" r:id="rId5"/>
    <p:sldId id="285" r:id="rId6"/>
    <p:sldId id="286" r:id="rId7"/>
    <p:sldId id="261" r:id="rId8"/>
    <p:sldId id="290" r:id="rId9"/>
    <p:sldId id="262" r:id="rId10"/>
    <p:sldId id="284" r:id="rId11"/>
    <p:sldId id="266" r:id="rId12"/>
    <p:sldId id="267" r:id="rId13"/>
    <p:sldId id="268" r:id="rId14"/>
  </p:sldIdLst>
  <p:sldSz cx="18288000" cy="10287000"/>
  <p:notesSz cx="6858000" cy="9144000"/>
  <p:embeddedFontLst>
    <p:embeddedFont>
      <p:font typeface="Lora" pitchFamily="2"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autoAdjust="0"/>
    <p:restoredTop sz="94622" autoAdjust="0"/>
  </p:normalViewPr>
  <p:slideViewPr>
    <p:cSldViewPr showGuides="1">
      <p:cViewPr varScale="1">
        <p:scale>
          <a:sx n="43" d="100"/>
          <a:sy n="43" d="100"/>
        </p:scale>
        <p:origin x="101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1FCE3-A6B5-4DF9-AFA2-3B6F22D1F6D5}" type="datetimeFigureOut">
              <a:rPr lang="en-US" smtClean="0"/>
              <a:pPr/>
              <a:t>7/7/2025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DA28B7-F7A7-40DA-9072-823C27E816A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DDA28B7-F7A7-40DA-9072-823C27E816A3}" type="slidenum">
              <a:rPr lang="en-US" smtClean="0"/>
              <a:pPr/>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877281" y="0"/>
            <a:ext cx="3088591" cy="10287000"/>
            <a:chOff x="0" y="0"/>
            <a:chExt cx="813456" cy="2709333"/>
          </a:xfrm>
        </p:grpSpPr>
        <p:sp>
          <p:nvSpPr>
            <p:cNvPr id="3" name="Freeform 3"/>
            <p:cNvSpPr/>
            <p:nvPr/>
          </p:nvSpPr>
          <p:spPr>
            <a:xfrm>
              <a:off x="0" y="0"/>
              <a:ext cx="813456" cy="2709333"/>
            </a:xfrm>
            <a:custGeom>
              <a:avLst/>
              <a:gdLst/>
              <a:ahLst/>
              <a:cxnLst/>
              <a:rect l="l" t="t" r="r" b="b"/>
              <a:pathLst>
                <a:path w="813456" h="2709333">
                  <a:moveTo>
                    <a:pt x="0" y="0"/>
                  </a:moveTo>
                  <a:lnTo>
                    <a:pt x="813456" y="0"/>
                  </a:lnTo>
                  <a:lnTo>
                    <a:pt x="813456" y="2709333"/>
                  </a:lnTo>
                  <a:lnTo>
                    <a:pt x="0" y="2709333"/>
                  </a:lnTo>
                  <a:close/>
                </a:path>
              </a:pathLst>
            </a:custGeom>
            <a:solidFill>
              <a:srgbClr val="DFD3CA"/>
            </a:solidFill>
            <a:ln cap="sq">
              <a:noFill/>
              <a:prstDash val="solid"/>
              <a:miter/>
            </a:ln>
          </p:spPr>
        </p:sp>
        <p:sp>
          <p:nvSpPr>
            <p:cNvPr id="4" name="TextBox 4"/>
            <p:cNvSpPr txBox="1"/>
            <p:nvPr/>
          </p:nvSpPr>
          <p:spPr>
            <a:xfrm>
              <a:off x="0" y="-28575"/>
              <a:ext cx="813456" cy="2737908"/>
            </a:xfrm>
            <a:prstGeom prst="rect">
              <a:avLst/>
            </a:prstGeom>
          </p:spPr>
          <p:txBody>
            <a:bodyPr lIns="50800" tIns="50800" rIns="50800" bIns="50800" rtlCol="0" anchor="ctr"/>
            <a:lstStyle/>
            <a:p>
              <a:pPr algn="ctr">
                <a:lnSpc>
                  <a:spcPts val="2850"/>
                </a:lnSpc>
              </a:pPr>
              <a:endParaRPr/>
            </a:p>
          </p:txBody>
        </p:sp>
      </p:grpSp>
      <p:sp>
        <p:nvSpPr>
          <p:cNvPr id="5" name="Freeform 5"/>
          <p:cNvSpPr/>
          <p:nvPr/>
        </p:nvSpPr>
        <p:spPr>
          <a:xfrm>
            <a:off x="-3725255" y="7105272"/>
            <a:ext cx="7450509" cy="7450509"/>
          </a:xfrm>
          <a:custGeom>
            <a:avLst/>
            <a:gdLst/>
            <a:ahLst/>
            <a:cxnLst/>
            <a:rect l="l" t="t" r="r" b="b"/>
            <a:pathLst>
              <a:path w="7450509" h="7450509">
                <a:moveTo>
                  <a:pt x="0" y="0"/>
                </a:moveTo>
                <a:lnTo>
                  <a:pt x="7450510" y="0"/>
                </a:lnTo>
                <a:lnTo>
                  <a:pt x="7450510" y="7450510"/>
                </a:lnTo>
                <a:lnTo>
                  <a:pt x="0" y="74505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6706625" y="-4304799"/>
            <a:ext cx="7450509" cy="7450509"/>
          </a:xfrm>
          <a:custGeom>
            <a:avLst/>
            <a:gdLst/>
            <a:ahLst/>
            <a:cxnLst/>
            <a:rect l="l" t="t" r="r" b="b"/>
            <a:pathLst>
              <a:path w="7450509" h="7450509">
                <a:moveTo>
                  <a:pt x="0" y="0"/>
                </a:moveTo>
                <a:lnTo>
                  <a:pt x="7450509" y="0"/>
                </a:lnTo>
                <a:lnTo>
                  <a:pt x="7450509" y="7450509"/>
                </a:lnTo>
                <a:lnTo>
                  <a:pt x="0" y="74505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3299781" y="1744468"/>
            <a:ext cx="12789368" cy="1551305"/>
          </a:xfrm>
          <a:prstGeom prst="rect">
            <a:avLst/>
          </a:prstGeom>
        </p:spPr>
        <p:txBody>
          <a:bodyPr lIns="0" tIns="0" rIns="0" bIns="0" rtlCol="0" anchor="t">
            <a:spAutoFit/>
          </a:bodyPr>
          <a:lstStyle/>
          <a:p>
            <a:pPr algn="ctr">
              <a:lnSpc>
                <a:spcPts val="6050"/>
              </a:lnSpc>
            </a:pPr>
            <a:r>
              <a:rPr lang="en-US" sz="5400" spc="184" dirty="0">
                <a:solidFill>
                  <a:srgbClr val="000000"/>
                </a:solidFill>
                <a:latin typeface="Times New Roman" panose="02020603050405020304" pitchFamily="18" charset="0"/>
                <a:ea typeface="Dream Avenue"/>
                <a:cs typeface="Times New Roman" panose="02020603050405020304" pitchFamily="18" charset="0"/>
                <a:sym typeface="Dream Avenue"/>
              </a:rPr>
              <a:t>HOSPITAL MANAGEMENT SYSTEM</a:t>
            </a:r>
          </a:p>
          <a:p>
            <a:pPr algn="ctr">
              <a:lnSpc>
                <a:spcPts val="6050"/>
              </a:lnSpc>
            </a:pPr>
            <a:r>
              <a:rPr lang="en-US" sz="5400" spc="184" dirty="0">
                <a:solidFill>
                  <a:srgbClr val="000000"/>
                </a:solidFill>
                <a:latin typeface="Times New Roman" panose="02020603050405020304" pitchFamily="18" charset="0"/>
                <a:ea typeface="Dream Avenue"/>
                <a:cs typeface="Times New Roman" panose="02020603050405020304" pitchFamily="18" charset="0"/>
                <a:sym typeface="Dream Avenue"/>
              </a:rPr>
              <a:t>USING IoT</a:t>
            </a:r>
          </a:p>
        </p:txBody>
      </p:sp>
      <p:sp>
        <p:nvSpPr>
          <p:cNvPr id="8" name="TextBox 8"/>
          <p:cNvSpPr txBox="1"/>
          <p:nvPr/>
        </p:nvSpPr>
        <p:spPr>
          <a:xfrm>
            <a:off x="10948648" y="5978090"/>
            <a:ext cx="6627597" cy="1253228"/>
          </a:xfrm>
          <a:prstGeom prst="rect">
            <a:avLst/>
          </a:prstGeom>
        </p:spPr>
        <p:txBody>
          <a:bodyPr lIns="0" tIns="0" rIns="0" bIns="0" rtlCol="0" anchor="t">
            <a:spAutoFit/>
          </a:bodyPr>
          <a:lstStyle/>
          <a:p>
            <a:pPr algn="l">
              <a:lnSpc>
                <a:spcPts val="5065"/>
              </a:lnSpc>
            </a:pPr>
            <a:r>
              <a:rPr lang="en-US" sz="3615" dirty="0">
                <a:solidFill>
                  <a:srgbClr val="010101"/>
                </a:solidFill>
                <a:latin typeface="Times New Roman" panose="02020603050405020304" pitchFamily="18" charset="0"/>
                <a:ea typeface="Lora" panose="00000500000000000000"/>
                <a:cs typeface="Times New Roman" panose="02020603050405020304" pitchFamily="18" charset="0"/>
                <a:sym typeface="Lora" panose="00000500000000000000"/>
              </a:rPr>
              <a:t>Done by:</a:t>
            </a:r>
          </a:p>
          <a:p>
            <a:pPr algn="l">
              <a:lnSpc>
                <a:spcPts val="5065"/>
              </a:lnSpc>
            </a:pPr>
            <a:r>
              <a:rPr lang="en-US" sz="3615" dirty="0">
                <a:solidFill>
                  <a:srgbClr val="010101"/>
                </a:solidFill>
                <a:latin typeface="Times New Roman" panose="02020603050405020304" pitchFamily="18" charset="0"/>
                <a:ea typeface="Lora" panose="00000500000000000000"/>
                <a:cs typeface="Times New Roman" panose="02020603050405020304" pitchFamily="18" charset="0"/>
                <a:sym typeface="Lora" panose="00000500000000000000"/>
              </a:rPr>
              <a:t>NAGALAKUNTLA PRANATHI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2428828" y="642906"/>
            <a:ext cx="6546798" cy="1057982"/>
          </a:xfrm>
          <a:prstGeom prst="rect">
            <a:avLst/>
          </a:prstGeom>
        </p:spPr>
        <p:txBody>
          <a:bodyPr lIns="0" tIns="0" rIns="0" bIns="0" rtlCol="0" anchor="t">
            <a:spAutoFit/>
          </a:bodyPr>
          <a:lstStyle/>
          <a:p>
            <a:pPr marL="0" lvl="0" indent="0" algn="l">
              <a:lnSpc>
                <a:spcPts val="8960"/>
              </a:lnSpc>
              <a:spcBef>
                <a:spcPct val="0"/>
              </a:spcBef>
            </a:pPr>
            <a:r>
              <a:rPr lang="en-US" sz="6400" spc="83" dirty="0">
                <a:solidFill>
                  <a:srgbClr val="000000"/>
                </a:solidFill>
                <a:latin typeface="Times New Roman" panose="02020603050405020304" pitchFamily="18" charset="0"/>
                <a:ea typeface="Dream Avenue"/>
                <a:cs typeface="Times New Roman" panose="02020603050405020304" pitchFamily="18" charset="0"/>
                <a:sym typeface="Dream Avenue"/>
              </a:rPr>
              <a:t>ABSTRACT</a:t>
            </a:r>
          </a:p>
        </p:txBody>
      </p:sp>
      <p:grpSp>
        <p:nvGrpSpPr>
          <p:cNvPr id="3" name="Group 3"/>
          <p:cNvGrpSpPr/>
          <p:nvPr/>
        </p:nvGrpSpPr>
        <p:grpSpPr>
          <a:xfrm>
            <a:off x="-877281" y="0"/>
            <a:ext cx="3088591" cy="10287000"/>
            <a:chOff x="0" y="0"/>
            <a:chExt cx="813456" cy="2709333"/>
          </a:xfrm>
        </p:grpSpPr>
        <p:sp>
          <p:nvSpPr>
            <p:cNvPr id="4" name="Freeform 4"/>
            <p:cNvSpPr/>
            <p:nvPr/>
          </p:nvSpPr>
          <p:spPr>
            <a:xfrm>
              <a:off x="0" y="0"/>
              <a:ext cx="813456" cy="2709333"/>
            </a:xfrm>
            <a:custGeom>
              <a:avLst/>
              <a:gdLst/>
              <a:ahLst/>
              <a:cxnLst/>
              <a:rect l="l" t="t" r="r" b="b"/>
              <a:pathLst>
                <a:path w="813456" h="2709333">
                  <a:moveTo>
                    <a:pt x="0" y="0"/>
                  </a:moveTo>
                  <a:lnTo>
                    <a:pt x="813456" y="0"/>
                  </a:lnTo>
                  <a:lnTo>
                    <a:pt x="813456" y="2709333"/>
                  </a:lnTo>
                  <a:lnTo>
                    <a:pt x="0" y="2709333"/>
                  </a:lnTo>
                  <a:close/>
                </a:path>
              </a:pathLst>
            </a:custGeom>
            <a:solidFill>
              <a:srgbClr val="DFD3CA"/>
            </a:solidFill>
            <a:ln cap="sq">
              <a:noFill/>
              <a:prstDash val="solid"/>
              <a:miter/>
            </a:ln>
          </p:spPr>
        </p:sp>
        <p:sp>
          <p:nvSpPr>
            <p:cNvPr id="5" name="TextBox 5"/>
            <p:cNvSpPr txBox="1"/>
            <p:nvPr/>
          </p:nvSpPr>
          <p:spPr>
            <a:xfrm>
              <a:off x="0" y="-28575"/>
              <a:ext cx="813456" cy="2737908"/>
            </a:xfrm>
            <a:prstGeom prst="rect">
              <a:avLst/>
            </a:prstGeom>
          </p:spPr>
          <p:txBody>
            <a:bodyPr lIns="50800" tIns="50800" rIns="50800" bIns="50800" rtlCol="0" anchor="ctr"/>
            <a:lstStyle/>
            <a:p>
              <a:pPr marL="0" lvl="0" indent="0" algn="ctr">
                <a:lnSpc>
                  <a:spcPts val="2850"/>
                </a:lnSpc>
                <a:spcBef>
                  <a:spcPct val="0"/>
                </a:spcBef>
              </a:pPr>
              <a:endParaRPr/>
            </a:p>
          </p:txBody>
        </p:sp>
      </p:grpSp>
      <p:sp>
        <p:nvSpPr>
          <p:cNvPr id="6" name="Freeform 6"/>
          <p:cNvSpPr/>
          <p:nvPr/>
        </p:nvSpPr>
        <p:spPr>
          <a:xfrm rot="-5400000">
            <a:off x="-2114183" y="4957327"/>
            <a:ext cx="7929618" cy="1872544"/>
          </a:xfrm>
          <a:custGeom>
            <a:avLst/>
            <a:gdLst/>
            <a:ahLst/>
            <a:cxnLst/>
            <a:rect l="l" t="t" r="r" b="b"/>
            <a:pathLst>
              <a:path w="8543440" h="1872544">
                <a:moveTo>
                  <a:pt x="0" y="0"/>
                </a:moveTo>
                <a:lnTo>
                  <a:pt x="8543440" y="0"/>
                </a:lnTo>
                <a:lnTo>
                  <a:pt x="8543440" y="1872544"/>
                </a:lnTo>
                <a:lnTo>
                  <a:pt x="0" y="1872544"/>
                </a:lnTo>
                <a:lnTo>
                  <a:pt x="0" y="0"/>
                </a:lnTo>
                <a:close/>
              </a:path>
            </a:pathLst>
          </a:custGeom>
          <a:blipFill>
            <a:blip r:embed="rId2">
              <a:extLst>
                <a:ext uri="{96DAC541-7B7A-43D3-8B79-37D633B846F1}">
                  <asvg:svgBlip xmlns:asvg="http://schemas.microsoft.com/office/drawing/2016/SVG/main" r:embed="rId3"/>
                </a:ext>
              </a:extLst>
            </a:blip>
            <a:stretch>
              <a:fillRect b="-38523"/>
            </a:stretch>
          </a:blipFill>
        </p:spPr>
      </p:sp>
      <p:sp>
        <p:nvSpPr>
          <p:cNvPr id="7" name="TextBox 7"/>
          <p:cNvSpPr txBox="1"/>
          <p:nvPr/>
        </p:nvSpPr>
        <p:spPr>
          <a:xfrm>
            <a:off x="2643142" y="2000228"/>
            <a:ext cx="15119358" cy="7700645"/>
          </a:xfrm>
          <a:prstGeom prst="rect">
            <a:avLst/>
          </a:prstGeom>
        </p:spPr>
        <p:txBody>
          <a:bodyPr wrap="square" lIns="0" tIns="0" rIns="0" bIns="0" rtlCol="0" anchor="t">
            <a:spAutoFit/>
          </a:bodyPr>
          <a:lstStyle/>
          <a:p>
            <a:pPr algn="just">
              <a:lnSpc>
                <a:spcPct val="110000"/>
              </a:lnSpc>
              <a:buNone/>
            </a:pPr>
            <a:r>
              <a:rPr lang="en-US" sz="2600" dirty="0">
                <a:sym typeface="+mn-ea"/>
              </a:rPr>
              <a:t>	</a:t>
            </a:r>
            <a:r>
              <a:rPr lang="en-US" sz="3600" dirty="0">
                <a:latin typeface="Times New Roman" panose="02020603050405020304" pitchFamily="18" charset="0"/>
                <a:cs typeface="Times New Roman" panose="02020603050405020304" pitchFamily="18" charset="0"/>
                <a:sym typeface="+mn-ea"/>
              </a:rPr>
              <a:t>The </a:t>
            </a:r>
            <a:r>
              <a:rPr lang="en-US" sz="3600" b="1" dirty="0" err="1">
                <a:latin typeface="Times New Roman" panose="02020603050405020304" pitchFamily="18" charset="0"/>
                <a:cs typeface="Times New Roman" panose="02020603050405020304" pitchFamily="18" charset="0"/>
                <a:sym typeface="+mn-ea"/>
              </a:rPr>
              <a:t>IoT</a:t>
            </a:r>
            <a:r>
              <a:rPr lang="en-US" sz="3600" b="1" dirty="0">
                <a:latin typeface="Times New Roman" panose="02020603050405020304" pitchFamily="18" charset="0"/>
                <a:cs typeface="Times New Roman" panose="02020603050405020304" pitchFamily="18" charset="0"/>
                <a:sym typeface="+mn-ea"/>
              </a:rPr>
              <a:t>-powered Hospital Management System (HMS)</a:t>
            </a:r>
            <a:r>
              <a:rPr lang="en-US" sz="3600" dirty="0">
                <a:latin typeface="Times New Roman" panose="02020603050405020304" pitchFamily="18" charset="0"/>
                <a:cs typeface="Times New Roman" panose="02020603050405020304" pitchFamily="18" charset="0"/>
                <a:sym typeface="+mn-ea"/>
              </a:rPr>
              <a:t> integrates </a:t>
            </a:r>
            <a:r>
              <a:rPr lang="en-US" sz="3600" b="1" dirty="0">
                <a:latin typeface="Times New Roman" panose="02020603050405020304" pitchFamily="18" charset="0"/>
                <a:cs typeface="Times New Roman" panose="02020603050405020304" pitchFamily="18" charset="0"/>
                <a:sym typeface="+mn-ea"/>
              </a:rPr>
              <a:t>Artificial Intelligence (AI)</a:t>
            </a:r>
            <a:r>
              <a:rPr lang="en-US" sz="3600" dirty="0">
                <a:latin typeface="Times New Roman" panose="02020603050405020304" pitchFamily="18" charset="0"/>
                <a:cs typeface="Times New Roman" panose="02020603050405020304" pitchFamily="18" charset="0"/>
                <a:sym typeface="+mn-ea"/>
              </a:rPr>
              <a:t> to enhance real-time hospital operations. By leveraging </a:t>
            </a:r>
            <a:r>
              <a:rPr lang="en-US" sz="3600" b="1" dirty="0" err="1">
                <a:latin typeface="Times New Roman" panose="02020603050405020304" pitchFamily="18" charset="0"/>
                <a:cs typeface="Times New Roman" panose="02020603050405020304" pitchFamily="18" charset="0"/>
                <a:sym typeface="+mn-ea"/>
              </a:rPr>
              <a:t>IoT</a:t>
            </a:r>
            <a:r>
              <a:rPr lang="en-US" sz="3600" b="1" dirty="0">
                <a:latin typeface="Times New Roman" panose="02020603050405020304" pitchFamily="18" charset="0"/>
                <a:cs typeface="Times New Roman" panose="02020603050405020304" pitchFamily="18" charset="0"/>
                <a:sym typeface="+mn-ea"/>
              </a:rPr>
              <a:t> sensors</a:t>
            </a:r>
            <a:r>
              <a:rPr lang="en-US" sz="3600" dirty="0">
                <a:latin typeface="Times New Roman" panose="02020603050405020304" pitchFamily="18" charset="0"/>
                <a:cs typeface="Times New Roman" panose="02020603050405020304" pitchFamily="18" charset="0"/>
                <a:sym typeface="+mn-ea"/>
              </a:rPr>
              <a:t> for continuous data collection and </a:t>
            </a:r>
            <a:r>
              <a:rPr lang="en-US" sz="3600" b="1" dirty="0">
                <a:latin typeface="Times New Roman" panose="02020603050405020304" pitchFamily="18" charset="0"/>
                <a:cs typeface="Times New Roman" panose="02020603050405020304" pitchFamily="18" charset="0"/>
                <a:sym typeface="+mn-ea"/>
              </a:rPr>
              <a:t>AI-driven analytics</a:t>
            </a:r>
            <a:r>
              <a:rPr lang="en-US" sz="3600" dirty="0">
                <a:latin typeface="Times New Roman" panose="02020603050405020304" pitchFamily="18" charset="0"/>
                <a:cs typeface="Times New Roman" panose="02020603050405020304" pitchFamily="18" charset="0"/>
                <a:sym typeface="+mn-ea"/>
              </a:rPr>
              <a:t>, the system improves patient management, resource tracking, and emergency response. Key features include </a:t>
            </a:r>
            <a:r>
              <a:rPr lang="en-US" sz="3600" b="1" dirty="0">
                <a:latin typeface="Times New Roman" panose="02020603050405020304" pitchFamily="18" charset="0"/>
                <a:cs typeface="Times New Roman" panose="02020603050405020304" pitchFamily="18" charset="0"/>
                <a:sym typeface="+mn-ea"/>
              </a:rPr>
              <a:t>real-time equipment monitoring</a:t>
            </a:r>
            <a:r>
              <a:rPr lang="en-US" sz="3600" dirty="0">
                <a:latin typeface="Times New Roman" panose="02020603050405020304" pitchFamily="18" charset="0"/>
                <a:cs typeface="Times New Roman" panose="02020603050405020304" pitchFamily="18" charset="0"/>
                <a:sym typeface="+mn-ea"/>
              </a:rPr>
              <a:t>, </a:t>
            </a:r>
            <a:r>
              <a:rPr lang="en-US" sz="3600" b="1" dirty="0">
                <a:latin typeface="Times New Roman" panose="02020603050405020304" pitchFamily="18" charset="0"/>
                <a:cs typeface="Times New Roman" panose="02020603050405020304" pitchFamily="18" charset="0"/>
                <a:sym typeface="+mn-ea"/>
              </a:rPr>
              <a:t>automated inventory tracking</a:t>
            </a:r>
            <a:r>
              <a:rPr lang="en-US" sz="3600" dirty="0">
                <a:latin typeface="Times New Roman" panose="02020603050405020304" pitchFamily="18" charset="0"/>
                <a:cs typeface="Times New Roman" panose="02020603050405020304" pitchFamily="18" charset="0"/>
                <a:sym typeface="+mn-ea"/>
              </a:rPr>
              <a:t>, and </a:t>
            </a:r>
            <a:r>
              <a:rPr lang="en-US" sz="3600" b="1" dirty="0">
                <a:latin typeface="Times New Roman" panose="02020603050405020304" pitchFamily="18" charset="0"/>
                <a:cs typeface="Times New Roman" panose="02020603050405020304" pitchFamily="18" charset="0"/>
                <a:sym typeface="+mn-ea"/>
              </a:rPr>
              <a:t>smart patient queue management</a:t>
            </a:r>
            <a:r>
              <a:rPr lang="en-US" sz="3600" dirty="0">
                <a:latin typeface="Times New Roman" panose="02020603050405020304" pitchFamily="18" charset="0"/>
                <a:cs typeface="Times New Roman" panose="02020603050405020304" pitchFamily="18" charset="0"/>
                <a:sym typeface="+mn-ea"/>
              </a:rPr>
              <a:t>. AI-based scheduling optimizes doctor availability, while predictive maintenance ensures the efficient functioning of medical equipment. This system significantly </a:t>
            </a:r>
            <a:r>
              <a:rPr lang="en-US" sz="3600" b="1" dirty="0">
                <a:latin typeface="Times New Roman" panose="02020603050405020304" pitchFamily="18" charset="0"/>
                <a:cs typeface="Times New Roman" panose="02020603050405020304" pitchFamily="18" charset="0"/>
                <a:sym typeface="+mn-ea"/>
              </a:rPr>
              <a:t>reduces patient wait times</a:t>
            </a:r>
            <a:r>
              <a:rPr lang="en-US" sz="3600" dirty="0">
                <a:latin typeface="Times New Roman" panose="02020603050405020304" pitchFamily="18" charset="0"/>
                <a:cs typeface="Times New Roman" panose="02020603050405020304" pitchFamily="18" charset="0"/>
                <a:sym typeface="+mn-ea"/>
              </a:rPr>
              <a:t>, </a:t>
            </a:r>
            <a:r>
              <a:rPr lang="en-US" sz="3600" b="1" dirty="0">
                <a:latin typeface="Times New Roman" panose="02020603050405020304" pitchFamily="18" charset="0"/>
                <a:cs typeface="Times New Roman" panose="02020603050405020304" pitchFamily="18" charset="0"/>
                <a:sym typeface="+mn-ea"/>
              </a:rPr>
              <a:t>optimizes hospital resource utilization</a:t>
            </a:r>
            <a:r>
              <a:rPr lang="en-US" sz="3600" dirty="0">
                <a:latin typeface="Times New Roman" panose="02020603050405020304" pitchFamily="18" charset="0"/>
                <a:cs typeface="Times New Roman" panose="02020603050405020304" pitchFamily="18" charset="0"/>
                <a:sym typeface="+mn-ea"/>
              </a:rPr>
              <a:t>, and </a:t>
            </a:r>
            <a:r>
              <a:rPr lang="en-US" sz="3600" b="1" dirty="0">
                <a:latin typeface="Times New Roman" panose="02020603050405020304" pitchFamily="18" charset="0"/>
                <a:cs typeface="Times New Roman" panose="02020603050405020304" pitchFamily="18" charset="0"/>
                <a:sym typeface="+mn-ea"/>
              </a:rPr>
              <a:t>enhances emergency response efficiency</a:t>
            </a:r>
            <a:r>
              <a:rPr lang="en-US" sz="3600" dirty="0">
                <a:latin typeface="Times New Roman" panose="02020603050405020304" pitchFamily="18" charset="0"/>
                <a:cs typeface="Times New Roman" panose="02020603050405020304" pitchFamily="18" charset="0"/>
                <a:sym typeface="+mn-ea"/>
              </a:rPr>
              <a:t>, creating a </a:t>
            </a:r>
            <a:r>
              <a:rPr lang="en-US" sz="3600" b="1" dirty="0">
                <a:latin typeface="Times New Roman" panose="02020603050405020304" pitchFamily="18" charset="0"/>
                <a:cs typeface="Times New Roman" panose="02020603050405020304" pitchFamily="18" charset="0"/>
                <a:sym typeface="+mn-ea"/>
              </a:rPr>
              <a:t>smart, automated, and data-driven healthcare ecosystem</a:t>
            </a:r>
            <a:r>
              <a:rPr lang="en-US" sz="3600" dirty="0">
                <a:latin typeface="Times New Roman" panose="02020603050405020304" pitchFamily="18" charset="0"/>
                <a:cs typeface="Times New Roman" panose="02020603050405020304" pitchFamily="18" charset="0"/>
                <a:sym typeface="+mn-ea"/>
              </a:rPr>
              <a:t>.</a:t>
            </a:r>
            <a:endParaRPr lang="en-US" sz="3600" dirty="0">
              <a:latin typeface="Times New Roman" panose="02020603050405020304" pitchFamily="18" charset="0"/>
              <a:cs typeface="Times New Roman" panose="02020603050405020304" pitchFamily="18" charset="0"/>
            </a:endParaRPr>
          </a:p>
          <a:p>
            <a:pPr>
              <a:buNone/>
            </a:pPr>
            <a:endParaRPr lang="en-US" sz="2600" dirty="0">
              <a:latin typeface="Times New Roman" panose="02020603050405020304" pitchFamily="18" charset="0"/>
              <a:cs typeface="Times New Roman" panose="02020603050405020304" pitchFamily="18" charset="0"/>
            </a:endParaRPr>
          </a:p>
          <a:p>
            <a:pPr algn="just">
              <a:lnSpc>
                <a:spcPct val="150000"/>
              </a:lnSpc>
            </a:pPr>
            <a:endParaRPr lang="en-US" sz="2600" dirty="0">
              <a:solidFill>
                <a:srgbClr val="000000"/>
              </a:solidFill>
              <a:latin typeface="Times New Roman" panose="02020603050405020304" pitchFamily="18" charset="0"/>
              <a:ea typeface="Lora" panose="00000500000000000000"/>
              <a:cs typeface="Times New Roman" panose="02020603050405020304" pitchFamily="18" charset="0"/>
              <a:sym typeface="Lora" panose="0000050000000000000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FD3CA"/>
        </a:solidFill>
        <a:effectLst/>
      </p:bgPr>
    </p:bg>
    <p:spTree>
      <p:nvGrpSpPr>
        <p:cNvPr id="1" name=""/>
        <p:cNvGrpSpPr/>
        <p:nvPr/>
      </p:nvGrpSpPr>
      <p:grpSpPr>
        <a:xfrm>
          <a:off x="0" y="0"/>
          <a:ext cx="0" cy="0"/>
          <a:chOff x="0" y="0"/>
          <a:chExt cx="0" cy="0"/>
        </a:xfrm>
      </p:grpSpPr>
      <p:sp>
        <p:nvSpPr>
          <p:cNvPr id="2" name="TextBox 2"/>
          <p:cNvSpPr txBox="1"/>
          <p:nvPr/>
        </p:nvSpPr>
        <p:spPr>
          <a:xfrm>
            <a:off x="1789013" y="1535652"/>
            <a:ext cx="8713872" cy="1077218"/>
          </a:xfrm>
          <a:prstGeom prst="rect">
            <a:avLst/>
          </a:prstGeom>
        </p:spPr>
        <p:txBody>
          <a:bodyPr lIns="0" tIns="0" rIns="0" bIns="0" rtlCol="0" anchor="t">
            <a:spAutoFit/>
          </a:bodyPr>
          <a:lstStyle/>
          <a:p>
            <a:pPr marL="0" lvl="0" indent="0" algn="l">
              <a:lnSpc>
                <a:spcPts val="9185"/>
              </a:lnSpc>
              <a:spcBef>
                <a:spcPct val="0"/>
              </a:spcBef>
            </a:pPr>
            <a:r>
              <a:rPr lang="en-US" sz="6400" dirty="0">
                <a:solidFill>
                  <a:srgbClr val="000000"/>
                </a:solidFill>
                <a:latin typeface="Times New Roman" panose="02020603050405020304" pitchFamily="18" charset="0"/>
                <a:ea typeface="TAN Pearl"/>
                <a:cs typeface="Times New Roman" panose="02020603050405020304" pitchFamily="18" charset="0"/>
                <a:sym typeface="TAN Pearl"/>
              </a:rPr>
              <a:t>INTRODUCTION</a:t>
            </a:r>
          </a:p>
        </p:txBody>
      </p:sp>
      <p:sp>
        <p:nvSpPr>
          <p:cNvPr id="3" name="Freeform 3"/>
          <p:cNvSpPr/>
          <p:nvPr/>
        </p:nvSpPr>
        <p:spPr>
          <a:xfrm>
            <a:off x="-1071900" y="-1271394"/>
            <a:ext cx="2860913" cy="2850185"/>
          </a:xfrm>
          <a:custGeom>
            <a:avLst/>
            <a:gdLst/>
            <a:ahLst/>
            <a:cxnLst/>
            <a:rect l="l" t="t" r="r" b="b"/>
            <a:pathLst>
              <a:path w="2860913" h="2850185">
                <a:moveTo>
                  <a:pt x="0" y="0"/>
                </a:moveTo>
                <a:lnTo>
                  <a:pt x="2860913" y="0"/>
                </a:lnTo>
                <a:lnTo>
                  <a:pt x="2860913" y="2850185"/>
                </a:lnTo>
                <a:lnTo>
                  <a:pt x="0" y="2850185"/>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6546422" y="8476926"/>
            <a:ext cx="3035383" cy="3024000"/>
          </a:xfrm>
          <a:custGeom>
            <a:avLst/>
            <a:gdLst/>
            <a:ahLst/>
            <a:cxnLst/>
            <a:rect l="l" t="t" r="r" b="b"/>
            <a:pathLst>
              <a:path w="3035383" h="3024000">
                <a:moveTo>
                  <a:pt x="0" y="0"/>
                </a:moveTo>
                <a:lnTo>
                  <a:pt x="3035383" y="0"/>
                </a:lnTo>
                <a:lnTo>
                  <a:pt x="3035383" y="3024000"/>
                </a:lnTo>
                <a:lnTo>
                  <a:pt x="0" y="302400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5" name="Freeform 5"/>
          <p:cNvSpPr/>
          <p:nvPr/>
        </p:nvSpPr>
        <p:spPr>
          <a:xfrm>
            <a:off x="825842" y="8476926"/>
            <a:ext cx="1926343" cy="1474528"/>
          </a:xfrm>
          <a:custGeom>
            <a:avLst/>
            <a:gdLst/>
            <a:ahLst/>
            <a:cxnLst/>
            <a:rect l="l" t="t" r="r" b="b"/>
            <a:pathLst>
              <a:path w="1926343" h="1474528">
                <a:moveTo>
                  <a:pt x="0" y="0"/>
                </a:moveTo>
                <a:lnTo>
                  <a:pt x="1926343" y="0"/>
                </a:lnTo>
                <a:lnTo>
                  <a:pt x="1926343" y="1474528"/>
                </a:lnTo>
                <a:lnTo>
                  <a:pt x="0" y="1474528"/>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6" name="Freeform 6"/>
          <p:cNvSpPr/>
          <p:nvPr/>
        </p:nvSpPr>
        <p:spPr>
          <a:xfrm>
            <a:off x="16126038" y="836949"/>
            <a:ext cx="1926343" cy="1474528"/>
          </a:xfrm>
          <a:custGeom>
            <a:avLst/>
            <a:gdLst/>
            <a:ahLst/>
            <a:cxnLst/>
            <a:rect l="l" t="t" r="r" b="b"/>
            <a:pathLst>
              <a:path w="1926343" h="1474528">
                <a:moveTo>
                  <a:pt x="0" y="0"/>
                </a:moveTo>
                <a:lnTo>
                  <a:pt x="1926343" y="0"/>
                </a:lnTo>
                <a:lnTo>
                  <a:pt x="1926343" y="1474528"/>
                </a:lnTo>
                <a:lnTo>
                  <a:pt x="0" y="1474528"/>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7" name="TextBox 7"/>
          <p:cNvSpPr txBox="1"/>
          <p:nvPr/>
        </p:nvSpPr>
        <p:spPr>
          <a:xfrm>
            <a:off x="1028700" y="3217771"/>
            <a:ext cx="16230600" cy="5314950"/>
          </a:xfrm>
          <a:prstGeom prst="rect">
            <a:avLst/>
          </a:prstGeom>
        </p:spPr>
        <p:txBody>
          <a:bodyPr lIns="0" tIns="0" rIns="0" bIns="0" rtlCol="0" anchor="t">
            <a:spAutoFit/>
          </a:bodyPr>
          <a:lstStyle/>
          <a:p>
            <a:pPr indent="0" algn="just">
              <a:lnSpc>
                <a:spcPct val="120000"/>
              </a:lnSpc>
              <a:buFont typeface="Arial" panose="020B0604020202020204" pitchFamily="34" charset="0"/>
              <a:buNone/>
            </a:pPr>
            <a:r>
              <a:rPr lang="en-US" sz="3200" dirty="0">
                <a:latin typeface="Times New Roman" panose="02020603050405020304" pitchFamily="18" charset="0"/>
                <a:cs typeface="Times New Roman" panose="02020603050405020304" pitchFamily="18" charset="0"/>
                <a:sym typeface="+mn-ea"/>
              </a:rPr>
              <a:t>The </a:t>
            </a:r>
            <a:r>
              <a:rPr lang="en-US" sz="3200" b="1" dirty="0" err="1">
                <a:latin typeface="Times New Roman" panose="02020603050405020304" pitchFamily="18" charset="0"/>
                <a:cs typeface="Times New Roman" panose="02020603050405020304" pitchFamily="18" charset="0"/>
                <a:sym typeface="+mn-ea"/>
              </a:rPr>
              <a:t>IoT</a:t>
            </a:r>
            <a:r>
              <a:rPr lang="en-US" sz="3200" b="1" dirty="0">
                <a:latin typeface="Times New Roman" panose="02020603050405020304" pitchFamily="18" charset="0"/>
                <a:cs typeface="Times New Roman" panose="02020603050405020304" pitchFamily="18" charset="0"/>
                <a:sym typeface="+mn-ea"/>
              </a:rPr>
              <a:t>-powered Hospital Management System (HMS)</a:t>
            </a:r>
            <a:r>
              <a:rPr lang="en-US" sz="3200" dirty="0">
                <a:latin typeface="Times New Roman" panose="02020603050405020304" pitchFamily="18" charset="0"/>
                <a:cs typeface="Times New Roman" panose="02020603050405020304" pitchFamily="18" charset="0"/>
                <a:sym typeface="+mn-ea"/>
              </a:rPr>
              <a:t> integrates </a:t>
            </a:r>
            <a:r>
              <a:rPr lang="en-US" sz="3200" b="1" dirty="0">
                <a:latin typeface="Times New Roman" panose="02020603050405020304" pitchFamily="18" charset="0"/>
                <a:cs typeface="Times New Roman" panose="02020603050405020304" pitchFamily="18" charset="0"/>
                <a:sym typeface="+mn-ea"/>
              </a:rPr>
              <a:t>AI and </a:t>
            </a:r>
            <a:r>
              <a:rPr lang="en-US" sz="3200" b="1" dirty="0" err="1">
                <a:latin typeface="Times New Roman" panose="02020603050405020304" pitchFamily="18" charset="0"/>
                <a:cs typeface="Times New Roman" panose="02020603050405020304" pitchFamily="18" charset="0"/>
                <a:sym typeface="+mn-ea"/>
              </a:rPr>
              <a:t>IoT</a:t>
            </a:r>
            <a:r>
              <a:rPr lang="en-US" sz="3200" dirty="0">
                <a:latin typeface="Times New Roman" panose="02020603050405020304" pitchFamily="18" charset="0"/>
                <a:cs typeface="Times New Roman" panose="02020603050405020304" pitchFamily="18" charset="0"/>
                <a:sym typeface="+mn-ea"/>
              </a:rPr>
              <a:t> to enhance healthcare efficiency. Traditional hospital management faces issues like </a:t>
            </a:r>
            <a:r>
              <a:rPr lang="en-US" sz="3200" b="1" dirty="0">
                <a:latin typeface="Times New Roman" panose="02020603050405020304" pitchFamily="18" charset="0"/>
                <a:cs typeface="Times New Roman" panose="02020603050405020304" pitchFamily="18" charset="0"/>
                <a:sym typeface="+mn-ea"/>
              </a:rPr>
              <a:t>manual scheduling, resource mismanagement, and long patient wait times</a:t>
            </a:r>
            <a:r>
              <a:rPr lang="en-US" sz="3200" dirty="0">
                <a:latin typeface="Times New Roman" panose="02020603050405020304" pitchFamily="18" charset="0"/>
                <a:cs typeface="Times New Roman" panose="02020603050405020304" pitchFamily="18" charset="0"/>
                <a:sym typeface="+mn-ea"/>
              </a:rPr>
              <a:t>. This system leverages </a:t>
            </a:r>
            <a:r>
              <a:rPr lang="en-US" sz="3200" b="1" dirty="0">
                <a:latin typeface="Times New Roman" panose="02020603050405020304" pitchFamily="18" charset="0"/>
                <a:cs typeface="Times New Roman" panose="02020603050405020304" pitchFamily="18" charset="0"/>
                <a:sym typeface="+mn-ea"/>
              </a:rPr>
              <a:t>real-time tracking, automated scheduling, and predictive analytics</a:t>
            </a:r>
            <a:r>
              <a:rPr lang="en-US" sz="3200" dirty="0">
                <a:latin typeface="Times New Roman" panose="02020603050405020304" pitchFamily="18" charset="0"/>
                <a:cs typeface="Times New Roman" panose="02020603050405020304" pitchFamily="18" charset="0"/>
                <a:sym typeface="+mn-ea"/>
              </a:rPr>
              <a:t> to optimize operations.</a:t>
            </a:r>
          </a:p>
          <a:p>
            <a:pPr indent="0" algn="just">
              <a:lnSpc>
                <a:spcPct val="120000"/>
              </a:lnSpc>
              <a:buFont typeface="Arial" panose="020B0604020202020204" pitchFamily="34" charset="0"/>
              <a:buNone/>
            </a:pPr>
            <a:r>
              <a:rPr lang="en-US" sz="3200" b="1" dirty="0">
                <a:latin typeface="Times New Roman" panose="02020603050405020304" pitchFamily="18" charset="0"/>
                <a:cs typeface="Times New Roman" panose="02020603050405020304" pitchFamily="18" charset="0"/>
                <a:sym typeface="+mn-ea"/>
              </a:rPr>
              <a:t> Key features include:</a:t>
            </a:r>
            <a:endParaRPr lang="en-US" sz="3200" b="1" dirty="0">
              <a:latin typeface="Times New Roman" panose="02020603050405020304" pitchFamily="18" charset="0"/>
              <a:cs typeface="Times New Roman" panose="02020603050405020304" pitchFamily="18" charset="0"/>
            </a:endParaRPr>
          </a:p>
          <a:p>
            <a:pPr marL="457200" indent="-457200" algn="just">
              <a:lnSpc>
                <a:spcPct val="120000"/>
              </a:lnSpc>
              <a:buFont typeface="Arial" panose="020B0604020202020204" pitchFamily="34" charset="0"/>
              <a:buChar char="•"/>
            </a:pPr>
            <a:r>
              <a:rPr lang="en-US" sz="3200" dirty="0" err="1">
                <a:latin typeface="Times New Roman" panose="02020603050405020304" pitchFamily="18" charset="0"/>
                <a:cs typeface="Times New Roman" panose="02020603050405020304" pitchFamily="18" charset="0"/>
                <a:sym typeface="+mn-ea"/>
              </a:rPr>
              <a:t>IoT</a:t>
            </a:r>
            <a:r>
              <a:rPr lang="en-US" sz="3200" dirty="0">
                <a:latin typeface="Times New Roman" panose="02020603050405020304" pitchFamily="18" charset="0"/>
                <a:cs typeface="Times New Roman" panose="02020603050405020304" pitchFamily="18" charset="0"/>
                <a:sym typeface="+mn-ea"/>
              </a:rPr>
              <a:t>-based staff &amp; equipment tracking</a:t>
            </a:r>
            <a:endParaRPr lang="en-US" sz="3200" dirty="0">
              <a:latin typeface="Times New Roman" panose="02020603050405020304" pitchFamily="18" charset="0"/>
              <a:cs typeface="Times New Roman" panose="02020603050405020304" pitchFamily="18" charset="0"/>
            </a:endParaRPr>
          </a:p>
          <a:p>
            <a:pPr marL="457200" indent="-457200" algn="just">
              <a:lnSpc>
                <a:spcPct val="12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sym typeface="+mn-ea"/>
              </a:rPr>
              <a:t>AI-driven appointment &amp; queue management</a:t>
            </a:r>
            <a:endParaRPr lang="en-US" sz="3200" dirty="0">
              <a:latin typeface="Times New Roman" panose="02020603050405020304" pitchFamily="18" charset="0"/>
              <a:cs typeface="Times New Roman" panose="02020603050405020304" pitchFamily="18" charset="0"/>
            </a:endParaRPr>
          </a:p>
          <a:p>
            <a:pPr marL="457200" indent="-457200" algn="just">
              <a:lnSpc>
                <a:spcPct val="12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sym typeface="+mn-ea"/>
              </a:rPr>
              <a:t>Smart resource allocation &amp; inventory control</a:t>
            </a:r>
            <a:endParaRPr lang="en-US" sz="3200" dirty="0">
              <a:latin typeface="Times New Roman" panose="02020603050405020304" pitchFamily="18" charset="0"/>
              <a:cs typeface="Times New Roman" panose="02020603050405020304" pitchFamily="18" charset="0"/>
            </a:endParaRPr>
          </a:p>
          <a:p>
            <a:pPr marL="457200" indent="-457200" algn="just">
              <a:lnSpc>
                <a:spcPct val="12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sym typeface="+mn-ea"/>
              </a:rPr>
              <a:t>Automated emergency response</a:t>
            </a:r>
            <a:endParaRPr lang="en-US" sz="3200" dirty="0">
              <a:solidFill>
                <a:srgbClr val="000000"/>
              </a:solidFill>
              <a:latin typeface="Lora" panose="00000500000000000000"/>
              <a:ea typeface="Lora" panose="00000500000000000000"/>
              <a:cs typeface="Lora" panose="00000500000000000000"/>
              <a:sym typeface="Lora" panose="0000050000000000000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13240418" y="-2441628"/>
            <a:ext cx="8690625" cy="6352057"/>
          </a:xfrm>
          <a:custGeom>
            <a:avLst/>
            <a:gdLst/>
            <a:ahLst/>
            <a:cxnLst/>
            <a:rect l="l" t="t" r="r" b="b"/>
            <a:pathLst>
              <a:path w="8690625" h="6352057">
                <a:moveTo>
                  <a:pt x="0" y="0"/>
                </a:moveTo>
                <a:lnTo>
                  <a:pt x="8690625" y="0"/>
                </a:lnTo>
                <a:lnTo>
                  <a:pt x="8690625" y="6352057"/>
                </a:lnTo>
                <a:lnTo>
                  <a:pt x="0" y="63520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501344" y="8064712"/>
            <a:ext cx="1786588" cy="1676145"/>
          </a:xfrm>
          <a:custGeom>
            <a:avLst/>
            <a:gdLst/>
            <a:ahLst/>
            <a:cxnLst/>
            <a:rect l="l" t="t" r="r" b="b"/>
            <a:pathLst>
              <a:path w="1786588" h="1676145">
                <a:moveTo>
                  <a:pt x="0" y="0"/>
                </a:moveTo>
                <a:lnTo>
                  <a:pt x="1786588" y="0"/>
                </a:lnTo>
                <a:lnTo>
                  <a:pt x="1786588" y="1676145"/>
                </a:lnTo>
                <a:lnTo>
                  <a:pt x="0" y="167614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3733306" y="6547977"/>
            <a:ext cx="8690625" cy="6352057"/>
          </a:xfrm>
          <a:custGeom>
            <a:avLst/>
            <a:gdLst/>
            <a:ahLst/>
            <a:cxnLst/>
            <a:rect l="l" t="t" r="r" b="b"/>
            <a:pathLst>
              <a:path w="8690625" h="6352057">
                <a:moveTo>
                  <a:pt x="0" y="0"/>
                </a:moveTo>
                <a:lnTo>
                  <a:pt x="8690625" y="0"/>
                </a:lnTo>
                <a:lnTo>
                  <a:pt x="8690625" y="6352057"/>
                </a:lnTo>
                <a:lnTo>
                  <a:pt x="0" y="63520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591376" y="1069710"/>
            <a:ext cx="14881336" cy="1183016"/>
          </a:xfrm>
          <a:prstGeom prst="rect">
            <a:avLst/>
          </a:prstGeom>
        </p:spPr>
        <p:txBody>
          <a:bodyPr lIns="0" tIns="0" rIns="0" bIns="0" rtlCol="0" anchor="t">
            <a:spAutoFit/>
          </a:bodyPr>
          <a:lstStyle/>
          <a:p>
            <a:pPr algn="l">
              <a:lnSpc>
                <a:spcPts val="10260"/>
              </a:lnSpc>
            </a:pPr>
            <a:r>
              <a:rPr lang="en-US" sz="6400" dirty="0">
                <a:solidFill>
                  <a:srgbClr val="000000"/>
                </a:solidFill>
                <a:latin typeface="Times New Roman" panose="02020603050405020304" pitchFamily="18" charset="0"/>
                <a:ea typeface="TAN Pearl"/>
                <a:cs typeface="Times New Roman" panose="02020603050405020304" pitchFamily="18" charset="0"/>
                <a:sym typeface="TAN Pearl"/>
              </a:rPr>
              <a:t>PROBLEM STATEMENT</a:t>
            </a:r>
          </a:p>
        </p:txBody>
      </p:sp>
      <p:sp>
        <p:nvSpPr>
          <p:cNvPr id="6" name="TextBox 6"/>
          <p:cNvSpPr txBox="1"/>
          <p:nvPr/>
        </p:nvSpPr>
        <p:spPr>
          <a:xfrm>
            <a:off x="1028700" y="2889159"/>
            <a:ext cx="16230600" cy="5816600"/>
          </a:xfrm>
          <a:prstGeom prst="rect">
            <a:avLst/>
          </a:prstGeom>
        </p:spPr>
        <p:txBody>
          <a:bodyPr lIns="0" tIns="0" rIns="0" bIns="0" rtlCol="0" anchor="t">
            <a:spAutoFit/>
          </a:bodyPr>
          <a:lstStyle/>
          <a:p>
            <a:pPr marL="781050" lvl="1" indent="-390525" algn="just">
              <a:lnSpc>
                <a:spcPct val="150000"/>
              </a:lnSpc>
              <a:buFont typeface="Arial" panose="020B0604020202020204"/>
              <a:buChar char="•"/>
            </a:pPr>
            <a:r>
              <a:rPr lang="en-US" altLang="en-US" sz="3600" dirty="0">
                <a:solidFill>
                  <a:srgbClr val="000000"/>
                </a:solidFill>
                <a:latin typeface="Times New Roman" panose="02020603050405020304" pitchFamily="18" charset="0"/>
                <a:ea typeface="Lora" panose="00000500000000000000"/>
                <a:cs typeface="Times New Roman" panose="02020603050405020304" pitchFamily="18" charset="0"/>
                <a:sym typeface="Lora" panose="00000500000000000000"/>
              </a:rPr>
              <a:t>Traditional hospital management systems suffer from inefficiencies such as manual scheduling, lack of real-time tracking, and poor resource allocation, leading to increased patient wait times and operational bottlenecks. The absence of automated monitoring and predictive analytics results in  delays in patient care, inefficient staff utilization, and under- or over-utilization of hospital resources.</a:t>
            </a:r>
          </a:p>
          <a:p>
            <a:pPr marL="390525" lvl="1" indent="0" algn="just">
              <a:lnSpc>
                <a:spcPct val="150000"/>
              </a:lnSpc>
              <a:buFont typeface="Arial" panose="020B0604020202020204"/>
              <a:buNone/>
            </a:pPr>
            <a:endParaRPr lang="en-US" altLang="en-US" sz="3600" dirty="0">
              <a:solidFill>
                <a:srgbClr val="000000"/>
              </a:solidFill>
              <a:latin typeface="Times New Roman" panose="02020603050405020304" pitchFamily="18" charset="0"/>
              <a:ea typeface="Lora" panose="00000500000000000000"/>
              <a:cs typeface="Times New Roman" panose="02020603050405020304" pitchFamily="18" charset="0"/>
              <a:sym typeface="Lora" panose="00000500000000000000"/>
            </a:endParaRPr>
          </a:p>
          <a:p>
            <a:pPr marL="781050" lvl="1" indent="-390525" algn="just">
              <a:lnSpc>
                <a:spcPct val="150000"/>
              </a:lnSpc>
              <a:buFont typeface="Arial" panose="020B0604020202020204"/>
              <a:buChar char="•"/>
            </a:pPr>
            <a:endParaRPr lang="en-US" altLang="en-US" sz="3600" dirty="0">
              <a:solidFill>
                <a:srgbClr val="000000"/>
              </a:solidFill>
              <a:latin typeface="Times New Roman" panose="02020603050405020304" pitchFamily="18" charset="0"/>
              <a:ea typeface="Lora" panose="00000500000000000000"/>
              <a:cs typeface="Times New Roman" panose="02020603050405020304" pitchFamily="18" charset="0"/>
              <a:sym typeface="Lora" panose="0000050000000000000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0134" y="1357286"/>
            <a:ext cx="15073418" cy="6000750"/>
          </a:xfrm>
          <a:prstGeom prst="rect">
            <a:avLst/>
          </a:prstGeom>
        </p:spPr>
        <p:txBody>
          <a:bodyPr wrap="square">
            <a:spAutoFit/>
          </a:bodyPr>
          <a:lstStyle/>
          <a:p>
            <a:r>
              <a:rPr lang="en-US" sz="6400" dirty="0">
                <a:latin typeface="Times New Roman" panose="02020603050405020304" pitchFamily="18" charset="0"/>
                <a:cs typeface="Times New Roman" panose="02020603050405020304" pitchFamily="18" charset="0"/>
              </a:rPr>
              <a:t>HARDWARE REQUIREMENTS</a:t>
            </a:r>
          </a:p>
          <a:p>
            <a:pPr marL="571500" indent="-57150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sym typeface="+mn-ea"/>
              </a:rPr>
              <a:t> </a:t>
            </a:r>
            <a:r>
              <a:rPr lang="en-US" sz="4000" dirty="0" err="1">
                <a:latin typeface="Times New Roman" panose="02020603050405020304" pitchFamily="18" charset="0"/>
                <a:cs typeface="Times New Roman" panose="02020603050405020304" pitchFamily="18" charset="0"/>
                <a:sym typeface="+mn-ea"/>
              </a:rPr>
              <a:t>IoT</a:t>
            </a:r>
            <a:r>
              <a:rPr lang="en-US" sz="4000" dirty="0">
                <a:latin typeface="Times New Roman" panose="02020603050405020304" pitchFamily="18" charset="0"/>
                <a:cs typeface="Times New Roman" panose="02020603050405020304" pitchFamily="18" charset="0"/>
                <a:sym typeface="+mn-ea"/>
              </a:rPr>
              <a:t> Sensors &amp; Tracking Devices.</a:t>
            </a:r>
            <a:endParaRPr lang="en-US" sz="4000" dirty="0">
              <a:latin typeface="Times New Roman" panose="02020603050405020304" pitchFamily="18" charset="0"/>
              <a:cs typeface="Times New Roman" panose="02020603050405020304" pitchFamily="18" charset="0"/>
            </a:endParaRPr>
          </a:p>
          <a:p>
            <a:pPr marL="571500" indent="-571500">
              <a:lnSpc>
                <a:spcPct val="120000"/>
              </a:lnSpc>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sym typeface="+mn-ea"/>
              </a:rPr>
              <a:t> Biometric Scanners </a:t>
            </a:r>
          </a:p>
          <a:p>
            <a:pPr marL="571500" indent="-571500">
              <a:lnSpc>
                <a:spcPct val="120000"/>
              </a:lnSpc>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sym typeface="+mn-ea"/>
              </a:rPr>
              <a:t> Wearable Health Monitors</a:t>
            </a:r>
            <a:endParaRPr lang="en-US" sz="4000" dirty="0">
              <a:latin typeface="Times New Roman" panose="02020603050405020304" pitchFamily="18" charset="0"/>
              <a:cs typeface="Times New Roman" panose="02020603050405020304" pitchFamily="18" charset="0"/>
            </a:endParaRPr>
          </a:p>
          <a:p>
            <a:pPr marL="571500" indent="-571500">
              <a:lnSpc>
                <a:spcPct val="120000"/>
              </a:lnSpc>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sym typeface="+mn-ea"/>
              </a:rPr>
              <a:t> </a:t>
            </a:r>
            <a:r>
              <a:rPr lang="en-US" sz="4000" dirty="0" err="1">
                <a:latin typeface="Times New Roman" panose="02020603050405020304" pitchFamily="18" charset="0"/>
                <a:cs typeface="Times New Roman" panose="02020603050405020304" pitchFamily="18" charset="0"/>
                <a:sym typeface="+mn-ea"/>
              </a:rPr>
              <a:t>IoT</a:t>
            </a:r>
            <a:r>
              <a:rPr lang="en-US" sz="4000" dirty="0">
                <a:latin typeface="Times New Roman" panose="02020603050405020304" pitchFamily="18" charset="0"/>
                <a:cs typeface="Times New Roman" panose="02020603050405020304" pitchFamily="18" charset="0"/>
                <a:sym typeface="+mn-ea"/>
              </a:rPr>
              <a:t>-Integrated Diagnostic Machines  Communication Modules</a:t>
            </a:r>
          </a:p>
          <a:p>
            <a:pPr marL="571500" indent="-571500">
              <a:lnSpc>
                <a:spcPct val="120000"/>
              </a:lnSpc>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sym typeface="+mn-ea"/>
              </a:rPr>
              <a:t> Edge Computing Devices </a:t>
            </a:r>
            <a:endParaRPr lang="en-US" sz="4000" dirty="0">
              <a:latin typeface="Times New Roman" panose="02020603050405020304" pitchFamily="18" charset="0"/>
              <a:cs typeface="Times New Roman" panose="02020603050405020304" pitchFamily="18" charset="0"/>
            </a:endParaRPr>
          </a:p>
          <a:p>
            <a:pPr marL="571500" indent="-571500">
              <a:lnSpc>
                <a:spcPct val="120000"/>
              </a:lnSpc>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sym typeface="+mn-ea"/>
              </a:rPr>
              <a:t> Cloud Storage &amp; AI Servers 	</a:t>
            </a:r>
            <a:endParaRPr lang="en-US" sz="4000" dirty="0"/>
          </a:p>
          <a:p>
            <a:endParaRPr lang="en-US" sz="4000" dirty="0"/>
          </a:p>
        </p:txBody>
      </p:sp>
      <p:sp>
        <p:nvSpPr>
          <p:cNvPr id="3" name="Freeform 6"/>
          <p:cNvSpPr/>
          <p:nvPr/>
        </p:nvSpPr>
        <p:spPr>
          <a:xfrm>
            <a:off x="12858776" y="-1785986"/>
            <a:ext cx="8690625" cy="6352057"/>
          </a:xfrm>
          <a:custGeom>
            <a:avLst/>
            <a:gdLst/>
            <a:ahLst/>
            <a:cxnLst/>
            <a:rect l="l" t="t" r="r" b="b"/>
            <a:pathLst>
              <a:path w="8690625" h="6352057">
                <a:moveTo>
                  <a:pt x="0" y="0"/>
                </a:moveTo>
                <a:lnTo>
                  <a:pt x="8690625" y="0"/>
                </a:lnTo>
                <a:lnTo>
                  <a:pt x="8690625" y="6352057"/>
                </a:lnTo>
                <a:lnTo>
                  <a:pt x="0" y="63520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6"/>
          <p:cNvSpPr/>
          <p:nvPr/>
        </p:nvSpPr>
        <p:spPr>
          <a:xfrm>
            <a:off x="-3214774" y="6572260"/>
            <a:ext cx="8690625" cy="6352057"/>
          </a:xfrm>
          <a:custGeom>
            <a:avLst/>
            <a:gdLst/>
            <a:ahLst/>
            <a:cxnLst/>
            <a:rect l="l" t="t" r="r" b="b"/>
            <a:pathLst>
              <a:path w="8690625" h="6352057">
                <a:moveTo>
                  <a:pt x="0" y="0"/>
                </a:moveTo>
                <a:lnTo>
                  <a:pt x="8690625" y="0"/>
                </a:lnTo>
                <a:lnTo>
                  <a:pt x="8690625" y="6352057"/>
                </a:lnTo>
                <a:lnTo>
                  <a:pt x="0" y="63520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0134" y="2000228"/>
            <a:ext cx="15216294" cy="7498715"/>
          </a:xfrm>
          <a:prstGeom prst="rect">
            <a:avLst/>
          </a:prstGeom>
        </p:spPr>
        <p:txBody>
          <a:bodyPr wrap="square">
            <a:spAutoFit/>
          </a:bodyPr>
          <a:lstStyle/>
          <a:p>
            <a:r>
              <a:rPr lang="en-US" sz="6400" dirty="0">
                <a:latin typeface="Times New Roman" panose="02020603050405020304" pitchFamily="18" charset="0"/>
                <a:cs typeface="Times New Roman" panose="02020603050405020304" pitchFamily="18" charset="0"/>
              </a:rPr>
              <a:t>SOFTWARE REQUIREMENTS</a:t>
            </a:r>
          </a:p>
          <a:p>
            <a:endParaRPr lang="en-US" sz="3600" b="1" dirty="0"/>
          </a:p>
          <a:p>
            <a:pPr marL="571500" indent="-571500">
              <a:lnSpc>
                <a:spcPct val="120000"/>
              </a:lnSpc>
              <a:buFont typeface="Arial" panose="020B0604020202020204" pitchFamily="34" charset="0"/>
              <a:buChar char="•"/>
            </a:pPr>
            <a:r>
              <a:rPr lang="en-US" sz="3600" b="1" dirty="0">
                <a:latin typeface="Times New Roman" panose="02020603050405020304" pitchFamily="18" charset="0"/>
                <a:cs typeface="Times New Roman" panose="02020603050405020304" pitchFamily="18" charset="0"/>
                <a:sym typeface="+mn-ea"/>
              </a:rPr>
              <a:t> Operating System</a:t>
            </a:r>
            <a:endParaRPr lang="en-US" sz="3600" dirty="0">
              <a:latin typeface="Times New Roman" panose="02020603050405020304" pitchFamily="18" charset="0"/>
              <a:cs typeface="Times New Roman" panose="02020603050405020304" pitchFamily="18" charset="0"/>
            </a:endParaRPr>
          </a:p>
          <a:p>
            <a:pPr marL="571500" indent="-571500">
              <a:lnSpc>
                <a:spcPct val="120000"/>
              </a:lnSpc>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sym typeface="+mn-ea"/>
              </a:rPr>
              <a:t> </a:t>
            </a:r>
            <a:r>
              <a:rPr lang="en-US" sz="3600" b="1" dirty="0">
                <a:latin typeface="Times New Roman" panose="02020603050405020304" pitchFamily="18" charset="0"/>
                <a:cs typeface="Times New Roman" panose="02020603050405020304" pitchFamily="18" charset="0"/>
                <a:sym typeface="+mn-ea"/>
              </a:rPr>
              <a:t>Programming Languages</a:t>
            </a:r>
            <a:r>
              <a:rPr lang="en-US" sz="3600" dirty="0">
                <a:latin typeface="Times New Roman" panose="02020603050405020304" pitchFamily="18" charset="0"/>
                <a:cs typeface="Times New Roman" panose="02020603050405020304" pitchFamily="18" charset="0"/>
                <a:sym typeface="+mn-ea"/>
              </a:rPr>
              <a:t> </a:t>
            </a:r>
          </a:p>
          <a:p>
            <a:pPr indent="0">
              <a:lnSpc>
                <a:spcPct val="120000"/>
              </a:lnSpc>
              <a:buNone/>
            </a:pPr>
            <a:r>
              <a:rPr lang="en-US" sz="3600" dirty="0">
                <a:latin typeface="Times New Roman" panose="02020603050405020304" pitchFamily="18" charset="0"/>
                <a:cs typeface="Times New Roman" panose="02020603050405020304" pitchFamily="18" charset="0"/>
                <a:sym typeface="+mn-ea"/>
              </a:rPr>
              <a:t>       - Python, Java, Node.js for backend</a:t>
            </a:r>
          </a:p>
          <a:p>
            <a:pPr indent="0">
              <a:lnSpc>
                <a:spcPct val="120000"/>
              </a:lnSpc>
              <a:buNone/>
            </a:pPr>
            <a:r>
              <a:rPr lang="en-US" sz="3600" dirty="0">
                <a:latin typeface="Times New Roman" panose="02020603050405020304" pitchFamily="18" charset="0"/>
                <a:cs typeface="Times New Roman" panose="02020603050405020304" pitchFamily="18" charset="0"/>
                <a:sym typeface="+mn-ea"/>
              </a:rPr>
              <a:t>       - React.js, Flutter for frontend.</a:t>
            </a:r>
            <a:endParaRPr lang="en-US" sz="3600" dirty="0">
              <a:latin typeface="Times New Roman" panose="02020603050405020304" pitchFamily="18" charset="0"/>
              <a:cs typeface="Times New Roman" panose="02020603050405020304" pitchFamily="18" charset="0"/>
            </a:endParaRPr>
          </a:p>
          <a:p>
            <a:pPr marL="571500" indent="-571500">
              <a:lnSpc>
                <a:spcPct val="120000"/>
              </a:lnSpc>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sym typeface="+mn-ea"/>
              </a:rPr>
              <a:t> </a:t>
            </a:r>
            <a:r>
              <a:rPr lang="en-US" sz="3600" b="1" dirty="0">
                <a:latin typeface="Times New Roman" panose="02020603050405020304" pitchFamily="18" charset="0"/>
                <a:cs typeface="Times New Roman" panose="02020603050405020304" pitchFamily="18" charset="0"/>
                <a:sym typeface="+mn-ea"/>
              </a:rPr>
              <a:t>Database Management</a:t>
            </a:r>
          </a:p>
          <a:p>
            <a:pPr marL="571500" indent="-571500">
              <a:lnSpc>
                <a:spcPct val="120000"/>
              </a:lnSpc>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sym typeface="+mn-ea"/>
              </a:rPr>
              <a:t> </a:t>
            </a:r>
            <a:r>
              <a:rPr lang="en-US" sz="3600" b="1" dirty="0">
                <a:latin typeface="Times New Roman" panose="02020603050405020304" pitchFamily="18" charset="0"/>
                <a:cs typeface="Times New Roman" panose="02020603050405020304" pitchFamily="18" charset="0"/>
                <a:sym typeface="+mn-ea"/>
              </a:rPr>
              <a:t>AI &amp; </a:t>
            </a:r>
            <a:r>
              <a:rPr lang="en-US" sz="3600" b="1" dirty="0" err="1">
                <a:latin typeface="Times New Roman" panose="02020603050405020304" pitchFamily="18" charset="0"/>
                <a:cs typeface="Times New Roman" panose="02020603050405020304" pitchFamily="18" charset="0"/>
                <a:sym typeface="+mn-ea"/>
              </a:rPr>
              <a:t>IoT</a:t>
            </a:r>
            <a:r>
              <a:rPr lang="en-US" sz="3600" b="1" dirty="0">
                <a:latin typeface="Times New Roman" panose="02020603050405020304" pitchFamily="18" charset="0"/>
                <a:cs typeface="Times New Roman" panose="02020603050405020304" pitchFamily="18" charset="0"/>
                <a:sym typeface="+mn-ea"/>
              </a:rPr>
              <a:t> Integration</a:t>
            </a:r>
          </a:p>
          <a:p>
            <a:pPr marL="571500" indent="-571500">
              <a:lnSpc>
                <a:spcPct val="120000"/>
              </a:lnSpc>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sym typeface="+mn-ea"/>
              </a:rPr>
              <a:t> </a:t>
            </a:r>
            <a:r>
              <a:rPr lang="en-US" sz="3600" b="1" dirty="0">
                <a:latin typeface="Times New Roman" panose="02020603050405020304" pitchFamily="18" charset="0"/>
                <a:cs typeface="Times New Roman" panose="02020603050405020304" pitchFamily="18" charset="0"/>
                <a:sym typeface="+mn-ea"/>
              </a:rPr>
              <a:t>Security &amp; Authentication</a:t>
            </a:r>
            <a:r>
              <a:rPr lang="en-US" sz="3600" dirty="0">
                <a:latin typeface="Times New Roman" panose="02020603050405020304" pitchFamily="18" charset="0"/>
                <a:cs typeface="Times New Roman" panose="02020603050405020304" pitchFamily="18" charset="0"/>
                <a:sym typeface="+mn-ea"/>
              </a:rPr>
              <a:t> </a:t>
            </a:r>
          </a:p>
          <a:p>
            <a:pPr marL="571500" indent="-571500">
              <a:lnSpc>
                <a:spcPct val="120000"/>
              </a:lnSpc>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sym typeface="+mn-ea"/>
              </a:rPr>
              <a:t> </a:t>
            </a:r>
            <a:r>
              <a:rPr lang="en-US" sz="3600" b="1" dirty="0">
                <a:latin typeface="Times New Roman" panose="02020603050405020304" pitchFamily="18" charset="0"/>
                <a:cs typeface="Times New Roman" panose="02020603050405020304" pitchFamily="18" charset="0"/>
                <a:sym typeface="+mn-ea"/>
              </a:rPr>
              <a:t>Cloud Platforms</a:t>
            </a:r>
            <a:endParaRPr lang="en-US" sz="3600" dirty="0"/>
          </a:p>
          <a:p>
            <a:pPr>
              <a:buFont typeface="Arial" panose="020B0604020202020204" pitchFamily="34" charset="0"/>
              <a:buChar char="•"/>
            </a:pPr>
            <a:endParaRPr lang="en-US" sz="3600" dirty="0"/>
          </a:p>
        </p:txBody>
      </p:sp>
      <p:sp>
        <p:nvSpPr>
          <p:cNvPr id="3" name="Freeform 6"/>
          <p:cNvSpPr/>
          <p:nvPr/>
        </p:nvSpPr>
        <p:spPr>
          <a:xfrm>
            <a:off x="12573024" y="-1428796"/>
            <a:ext cx="8690625" cy="6352057"/>
          </a:xfrm>
          <a:custGeom>
            <a:avLst/>
            <a:gdLst/>
            <a:ahLst/>
            <a:cxnLst/>
            <a:rect l="l" t="t" r="r" b="b"/>
            <a:pathLst>
              <a:path w="8690625" h="6352057">
                <a:moveTo>
                  <a:pt x="0" y="0"/>
                </a:moveTo>
                <a:lnTo>
                  <a:pt x="8690625" y="0"/>
                </a:lnTo>
                <a:lnTo>
                  <a:pt x="8690625" y="6352057"/>
                </a:lnTo>
                <a:lnTo>
                  <a:pt x="0" y="63520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6"/>
          <p:cNvSpPr/>
          <p:nvPr/>
        </p:nvSpPr>
        <p:spPr>
          <a:xfrm>
            <a:off x="-2786146" y="6429384"/>
            <a:ext cx="8690625" cy="6352057"/>
          </a:xfrm>
          <a:custGeom>
            <a:avLst/>
            <a:gdLst/>
            <a:ahLst/>
            <a:cxnLst/>
            <a:rect l="l" t="t" r="r" b="b"/>
            <a:pathLst>
              <a:path w="8690625" h="6352057">
                <a:moveTo>
                  <a:pt x="0" y="0"/>
                </a:moveTo>
                <a:lnTo>
                  <a:pt x="8690625" y="0"/>
                </a:lnTo>
                <a:lnTo>
                  <a:pt x="8690625" y="6352057"/>
                </a:lnTo>
                <a:lnTo>
                  <a:pt x="0" y="63520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4848206" cy="10287000"/>
            <a:chOff x="0" y="0"/>
            <a:chExt cx="1276894" cy="2709333"/>
          </a:xfrm>
        </p:grpSpPr>
        <p:sp>
          <p:nvSpPr>
            <p:cNvPr id="3" name="Freeform 3"/>
            <p:cNvSpPr/>
            <p:nvPr/>
          </p:nvSpPr>
          <p:spPr>
            <a:xfrm>
              <a:off x="0" y="0"/>
              <a:ext cx="1276894" cy="2709333"/>
            </a:xfrm>
            <a:custGeom>
              <a:avLst/>
              <a:gdLst/>
              <a:ahLst/>
              <a:cxnLst/>
              <a:rect l="l" t="t" r="r" b="b"/>
              <a:pathLst>
                <a:path w="1276894" h="2709333">
                  <a:moveTo>
                    <a:pt x="0" y="0"/>
                  </a:moveTo>
                  <a:lnTo>
                    <a:pt x="1276894" y="0"/>
                  </a:lnTo>
                  <a:lnTo>
                    <a:pt x="1276894" y="2709333"/>
                  </a:lnTo>
                  <a:lnTo>
                    <a:pt x="0" y="2709333"/>
                  </a:lnTo>
                  <a:close/>
                </a:path>
              </a:pathLst>
            </a:custGeom>
            <a:solidFill>
              <a:srgbClr val="DFD3CA"/>
            </a:solidFill>
          </p:spPr>
        </p:sp>
        <p:sp>
          <p:nvSpPr>
            <p:cNvPr id="4" name="TextBox 4"/>
            <p:cNvSpPr txBox="1"/>
            <p:nvPr/>
          </p:nvSpPr>
          <p:spPr>
            <a:xfrm>
              <a:off x="0" y="-28575"/>
              <a:ext cx="1276894" cy="2737908"/>
            </a:xfrm>
            <a:prstGeom prst="rect">
              <a:avLst/>
            </a:prstGeom>
          </p:spPr>
          <p:txBody>
            <a:bodyPr lIns="50800" tIns="50800" rIns="50800" bIns="50800" rtlCol="0" anchor="ctr"/>
            <a:lstStyle/>
            <a:p>
              <a:pPr algn="ctr">
                <a:lnSpc>
                  <a:spcPts val="2850"/>
                </a:lnSpc>
              </a:pPr>
              <a:endParaRPr/>
            </a:p>
          </p:txBody>
        </p:sp>
      </p:grpSp>
      <p:grpSp>
        <p:nvGrpSpPr>
          <p:cNvPr id="5" name="Group 5"/>
          <p:cNvGrpSpPr/>
          <p:nvPr/>
        </p:nvGrpSpPr>
        <p:grpSpPr>
          <a:xfrm>
            <a:off x="1929245" y="1940950"/>
            <a:ext cx="16358755" cy="8131772"/>
            <a:chOff x="0" y="0"/>
            <a:chExt cx="4694104" cy="1686940"/>
          </a:xfrm>
        </p:grpSpPr>
        <p:sp>
          <p:nvSpPr>
            <p:cNvPr id="6" name="Freeform 6"/>
            <p:cNvSpPr/>
            <p:nvPr/>
          </p:nvSpPr>
          <p:spPr>
            <a:xfrm>
              <a:off x="0" y="0"/>
              <a:ext cx="4694104" cy="1686940"/>
            </a:xfrm>
            <a:custGeom>
              <a:avLst/>
              <a:gdLst/>
              <a:ahLst/>
              <a:cxnLst/>
              <a:rect l="l" t="t" r="r" b="b"/>
              <a:pathLst>
                <a:path w="4694104" h="1686940">
                  <a:moveTo>
                    <a:pt x="0" y="0"/>
                  </a:moveTo>
                  <a:lnTo>
                    <a:pt x="4694104" y="0"/>
                  </a:lnTo>
                  <a:lnTo>
                    <a:pt x="4694104" y="1686940"/>
                  </a:lnTo>
                  <a:lnTo>
                    <a:pt x="0" y="1686940"/>
                  </a:lnTo>
                  <a:close/>
                </a:path>
              </a:pathLst>
            </a:custGeom>
            <a:solidFill>
              <a:srgbClr val="F2F1EB"/>
            </a:solidFill>
          </p:spPr>
        </p:sp>
        <p:sp>
          <p:nvSpPr>
            <p:cNvPr id="7" name="TextBox 7"/>
            <p:cNvSpPr txBox="1"/>
            <p:nvPr/>
          </p:nvSpPr>
          <p:spPr>
            <a:xfrm>
              <a:off x="0" y="-28575"/>
              <a:ext cx="4694104" cy="1715515"/>
            </a:xfrm>
            <a:prstGeom prst="rect">
              <a:avLst/>
            </a:prstGeom>
          </p:spPr>
          <p:txBody>
            <a:bodyPr lIns="50800" tIns="50800" rIns="50800" bIns="50800" rtlCol="0" anchor="ctr"/>
            <a:lstStyle/>
            <a:p>
              <a:pPr algn="ctr">
                <a:lnSpc>
                  <a:spcPts val="2850"/>
                </a:lnSpc>
              </a:pPr>
              <a:endParaRPr/>
            </a:p>
          </p:txBody>
        </p:sp>
      </p:grpSp>
      <p:sp>
        <p:nvSpPr>
          <p:cNvPr id="8" name="TextBox 8"/>
          <p:cNvSpPr txBox="1"/>
          <p:nvPr/>
        </p:nvSpPr>
        <p:spPr>
          <a:xfrm>
            <a:off x="1976036" y="781050"/>
            <a:ext cx="8864671" cy="1009015"/>
          </a:xfrm>
          <a:prstGeom prst="rect">
            <a:avLst/>
          </a:prstGeom>
        </p:spPr>
        <p:txBody>
          <a:bodyPr lIns="0" tIns="0" rIns="0" bIns="0" rtlCol="0" anchor="t">
            <a:spAutoFit/>
          </a:bodyPr>
          <a:lstStyle/>
          <a:p>
            <a:pPr marL="0" lvl="0" indent="0" algn="l">
              <a:lnSpc>
                <a:spcPts val="7870"/>
              </a:lnSpc>
              <a:spcBef>
                <a:spcPct val="0"/>
              </a:spcBef>
            </a:pPr>
            <a:r>
              <a:rPr lang="en-US" sz="6400" b="1" dirty="0">
                <a:latin typeface="Times New Roman" panose="02020603050405020304" pitchFamily="18" charset="0"/>
                <a:cs typeface="Times New Roman" panose="02020603050405020304" pitchFamily="18" charset="0"/>
                <a:sym typeface="+mn-ea"/>
              </a:rPr>
              <a:t>Literature Survey</a:t>
            </a:r>
            <a:endParaRPr lang="en-US" sz="6400" dirty="0">
              <a:solidFill>
                <a:srgbClr val="000000"/>
              </a:solidFill>
              <a:latin typeface="Times New Roman" panose="02020603050405020304" pitchFamily="18" charset="0"/>
              <a:ea typeface="TAN Pearl"/>
              <a:cs typeface="Times New Roman" panose="02020603050405020304" pitchFamily="18" charset="0"/>
              <a:sym typeface="TAN Pearl"/>
            </a:endParaRPr>
          </a:p>
        </p:txBody>
      </p:sp>
      <p:sp>
        <p:nvSpPr>
          <p:cNvPr id="9" name="TextBox 9"/>
          <p:cNvSpPr txBox="1"/>
          <p:nvPr/>
        </p:nvSpPr>
        <p:spPr>
          <a:xfrm>
            <a:off x="2071638" y="2143104"/>
            <a:ext cx="14723312" cy="5314315"/>
          </a:xfrm>
          <a:prstGeom prst="rect">
            <a:avLst/>
          </a:prstGeom>
        </p:spPr>
        <p:txBody>
          <a:bodyPr lIns="0" tIns="0" rIns="0" bIns="0" rtlCol="0" anchor="t">
            <a:spAutoFit/>
          </a:bodyPr>
          <a:lstStyle/>
          <a:p>
            <a:pPr marL="571500" indent="-571500" algn="just">
              <a:lnSpc>
                <a:spcPct val="120000"/>
              </a:lnSpc>
              <a:buFont typeface="Arial" panose="020B0604020202020204" pitchFamily="34" charset="0"/>
              <a:buChar char="•"/>
            </a:pPr>
            <a:r>
              <a:rPr lang="en-US" altLang="en-US" sz="3600" dirty="0">
                <a:latin typeface="Times New Roman" panose="02020603050405020304" pitchFamily="18" charset="0"/>
                <a:cs typeface="Times New Roman" panose="02020603050405020304" pitchFamily="18" charset="0"/>
                <a:sym typeface="+mn-ea"/>
              </a:rPr>
              <a:t>More equitable and patient-centered care, considering socioeconomic factors.</a:t>
            </a:r>
            <a:endParaRPr lang="en-US" altLang="en-US" sz="3600" dirty="0">
              <a:latin typeface="Times New Roman" panose="02020603050405020304" pitchFamily="18" charset="0"/>
              <a:cs typeface="Times New Roman" panose="02020603050405020304" pitchFamily="18" charset="0"/>
            </a:endParaRPr>
          </a:p>
          <a:p>
            <a:pPr marL="571500" indent="-571500" algn="just">
              <a:lnSpc>
                <a:spcPct val="120000"/>
              </a:lnSpc>
              <a:buFont typeface="Arial" panose="020B0604020202020204" pitchFamily="34" charset="0"/>
              <a:buChar char="•"/>
            </a:pPr>
            <a:r>
              <a:rPr lang="en-US" altLang="en-US" sz="3600" dirty="0">
                <a:latin typeface="Times New Roman" panose="02020603050405020304" pitchFamily="18" charset="0"/>
                <a:cs typeface="Times New Roman" panose="02020603050405020304" pitchFamily="18" charset="0"/>
                <a:sym typeface="+mn-ea"/>
              </a:rPr>
              <a:t>Improved communication strategies and training to enhance GP-patient interactions.</a:t>
            </a:r>
            <a:endParaRPr lang="en-US" altLang="en-US" sz="3600" dirty="0">
              <a:latin typeface="Times New Roman" panose="02020603050405020304" pitchFamily="18" charset="0"/>
              <a:cs typeface="Times New Roman" panose="02020603050405020304" pitchFamily="18" charset="0"/>
            </a:endParaRPr>
          </a:p>
          <a:p>
            <a:pPr marL="571500" indent="-571500" algn="just">
              <a:lnSpc>
                <a:spcPct val="120000"/>
              </a:lnSpc>
              <a:buFont typeface="Arial" panose="020B0604020202020204" pitchFamily="34" charset="0"/>
              <a:buChar char="•"/>
            </a:pPr>
            <a:r>
              <a:rPr lang="en-US" altLang="en-US" sz="3600" dirty="0">
                <a:latin typeface="Times New Roman" panose="02020603050405020304" pitchFamily="18" charset="0"/>
                <a:cs typeface="Times New Roman" panose="02020603050405020304" pitchFamily="18" charset="0"/>
                <a:sym typeface="+mn-ea"/>
              </a:rPr>
              <a:t>Enhanced usability and user-centered design of patient guidance systems.</a:t>
            </a:r>
            <a:endParaRPr lang="en-US" altLang="en-US" sz="3600" dirty="0">
              <a:latin typeface="Times New Roman" panose="02020603050405020304" pitchFamily="18" charset="0"/>
              <a:cs typeface="Times New Roman" panose="02020603050405020304" pitchFamily="18" charset="0"/>
            </a:endParaRPr>
          </a:p>
          <a:p>
            <a:pPr marL="571500" indent="-571500" algn="just">
              <a:lnSpc>
                <a:spcPct val="120000"/>
              </a:lnSpc>
              <a:buFont typeface="Arial" panose="020B0604020202020204" pitchFamily="34" charset="0"/>
              <a:buChar char="•"/>
            </a:pPr>
            <a:r>
              <a:rPr lang="en-US" altLang="en-US" sz="3600" dirty="0">
                <a:latin typeface="Times New Roman" panose="02020603050405020304" pitchFamily="18" charset="0"/>
                <a:cs typeface="Times New Roman" panose="02020603050405020304" pitchFamily="18" charset="0"/>
                <a:sym typeface="+mn-ea"/>
              </a:rPr>
              <a:t>More accurate and efficient data analysis and risk recognition for hospital management.</a:t>
            </a:r>
            <a:endParaRPr lang="en-US" altLang="en-US" sz="3600" dirty="0">
              <a:latin typeface="Times New Roman" panose="02020603050405020304" pitchFamily="18" charset="0"/>
              <a:cs typeface="Times New Roman" panose="02020603050405020304" pitchFamily="18" charset="0"/>
            </a:endParaRPr>
          </a:p>
          <a:p>
            <a:pPr marL="571500" indent="-571500" algn="just">
              <a:lnSpc>
                <a:spcPct val="120000"/>
              </a:lnSpc>
              <a:buFont typeface="Arial" panose="020B0604020202020204" pitchFamily="34" charset="0"/>
              <a:buChar char="•"/>
            </a:pPr>
            <a:r>
              <a:rPr lang="en-US" altLang="en-US" sz="3600" dirty="0">
                <a:latin typeface="Times New Roman" panose="02020603050405020304" pitchFamily="18" charset="0"/>
                <a:cs typeface="Times New Roman" panose="02020603050405020304" pitchFamily="18" charset="0"/>
                <a:sym typeface="+mn-ea"/>
              </a:rPr>
              <a:t>Intelligent resource management solutions for hospital information systems on private clouds.</a:t>
            </a:r>
            <a:endParaRPr lang="en-US" altLang="en-US" sz="3600" b="1" dirty="0">
              <a:solidFill>
                <a:srgbClr val="000000"/>
              </a:solidFill>
              <a:latin typeface="Times New Roman" panose="02020603050405020304" pitchFamily="18" charset="0"/>
              <a:ea typeface="Lora" panose="00000500000000000000"/>
              <a:cs typeface="Times New Roman" panose="02020603050405020304" pitchFamily="18"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4848206" cy="10287000"/>
            <a:chOff x="0" y="0"/>
            <a:chExt cx="1276894" cy="2709333"/>
          </a:xfrm>
        </p:grpSpPr>
        <p:sp>
          <p:nvSpPr>
            <p:cNvPr id="3" name="Freeform 3"/>
            <p:cNvSpPr/>
            <p:nvPr/>
          </p:nvSpPr>
          <p:spPr>
            <a:xfrm>
              <a:off x="0" y="0"/>
              <a:ext cx="1276894" cy="2709333"/>
            </a:xfrm>
            <a:custGeom>
              <a:avLst/>
              <a:gdLst/>
              <a:ahLst/>
              <a:cxnLst/>
              <a:rect l="l" t="t" r="r" b="b"/>
              <a:pathLst>
                <a:path w="1276894" h="2709333">
                  <a:moveTo>
                    <a:pt x="0" y="0"/>
                  </a:moveTo>
                  <a:lnTo>
                    <a:pt x="1276894" y="0"/>
                  </a:lnTo>
                  <a:lnTo>
                    <a:pt x="1276894" y="2709333"/>
                  </a:lnTo>
                  <a:lnTo>
                    <a:pt x="0" y="2709333"/>
                  </a:lnTo>
                  <a:close/>
                </a:path>
              </a:pathLst>
            </a:custGeom>
            <a:solidFill>
              <a:srgbClr val="DFD3CA"/>
            </a:solidFill>
          </p:spPr>
        </p:sp>
        <p:sp>
          <p:nvSpPr>
            <p:cNvPr id="4" name="TextBox 4"/>
            <p:cNvSpPr txBox="1"/>
            <p:nvPr/>
          </p:nvSpPr>
          <p:spPr>
            <a:xfrm>
              <a:off x="0" y="-28575"/>
              <a:ext cx="1276894" cy="2737908"/>
            </a:xfrm>
            <a:prstGeom prst="rect">
              <a:avLst/>
            </a:prstGeom>
          </p:spPr>
          <p:txBody>
            <a:bodyPr lIns="50800" tIns="50800" rIns="50800" bIns="50800" rtlCol="0" anchor="ctr"/>
            <a:lstStyle/>
            <a:p>
              <a:pPr algn="ctr">
                <a:lnSpc>
                  <a:spcPts val="2850"/>
                </a:lnSpc>
              </a:pPr>
              <a:endParaRPr/>
            </a:p>
          </p:txBody>
        </p:sp>
      </p:grpSp>
      <p:grpSp>
        <p:nvGrpSpPr>
          <p:cNvPr id="5" name="Group 5"/>
          <p:cNvGrpSpPr/>
          <p:nvPr/>
        </p:nvGrpSpPr>
        <p:grpSpPr>
          <a:xfrm>
            <a:off x="1929245" y="1940950"/>
            <a:ext cx="16358755" cy="8131772"/>
            <a:chOff x="0" y="0"/>
            <a:chExt cx="4694104" cy="1686940"/>
          </a:xfrm>
        </p:grpSpPr>
        <p:sp>
          <p:nvSpPr>
            <p:cNvPr id="6" name="Freeform 6"/>
            <p:cNvSpPr/>
            <p:nvPr/>
          </p:nvSpPr>
          <p:spPr>
            <a:xfrm>
              <a:off x="0" y="0"/>
              <a:ext cx="4694104" cy="1686940"/>
            </a:xfrm>
            <a:custGeom>
              <a:avLst/>
              <a:gdLst/>
              <a:ahLst/>
              <a:cxnLst/>
              <a:rect l="l" t="t" r="r" b="b"/>
              <a:pathLst>
                <a:path w="4694104" h="1686940">
                  <a:moveTo>
                    <a:pt x="0" y="0"/>
                  </a:moveTo>
                  <a:lnTo>
                    <a:pt x="4694104" y="0"/>
                  </a:lnTo>
                  <a:lnTo>
                    <a:pt x="4694104" y="1686940"/>
                  </a:lnTo>
                  <a:lnTo>
                    <a:pt x="0" y="1686940"/>
                  </a:lnTo>
                  <a:close/>
                </a:path>
              </a:pathLst>
            </a:custGeom>
            <a:solidFill>
              <a:srgbClr val="F2F1EB"/>
            </a:solidFill>
          </p:spPr>
        </p:sp>
        <p:sp>
          <p:nvSpPr>
            <p:cNvPr id="7" name="TextBox 7"/>
            <p:cNvSpPr txBox="1"/>
            <p:nvPr/>
          </p:nvSpPr>
          <p:spPr>
            <a:xfrm>
              <a:off x="0" y="-28575"/>
              <a:ext cx="4694104" cy="1715515"/>
            </a:xfrm>
            <a:prstGeom prst="rect">
              <a:avLst/>
            </a:prstGeom>
          </p:spPr>
          <p:txBody>
            <a:bodyPr lIns="50800" tIns="50800" rIns="50800" bIns="50800" rtlCol="0" anchor="ctr"/>
            <a:lstStyle/>
            <a:p>
              <a:pPr algn="ctr">
                <a:lnSpc>
                  <a:spcPts val="2850"/>
                </a:lnSpc>
              </a:pPr>
              <a:endParaRPr/>
            </a:p>
          </p:txBody>
        </p:sp>
      </p:grpSp>
      <p:sp>
        <p:nvSpPr>
          <p:cNvPr id="8" name="TextBox 8"/>
          <p:cNvSpPr txBox="1"/>
          <p:nvPr/>
        </p:nvSpPr>
        <p:spPr>
          <a:xfrm>
            <a:off x="1976036" y="781050"/>
            <a:ext cx="8864671" cy="952184"/>
          </a:xfrm>
          <a:prstGeom prst="rect">
            <a:avLst/>
          </a:prstGeom>
        </p:spPr>
        <p:txBody>
          <a:bodyPr lIns="0" tIns="0" rIns="0" bIns="0" rtlCol="0" anchor="t">
            <a:spAutoFit/>
          </a:bodyPr>
          <a:lstStyle/>
          <a:p>
            <a:pPr marL="0" lvl="0" indent="0" algn="l">
              <a:lnSpc>
                <a:spcPts val="7870"/>
              </a:lnSpc>
              <a:spcBef>
                <a:spcPct val="0"/>
              </a:spcBef>
            </a:pPr>
            <a:r>
              <a:rPr lang="en-US" sz="6400" dirty="0">
                <a:solidFill>
                  <a:srgbClr val="000000"/>
                </a:solidFill>
                <a:latin typeface="Times New Roman" panose="02020603050405020304" pitchFamily="18" charset="0"/>
                <a:ea typeface="TAN Pearl"/>
                <a:cs typeface="Times New Roman" panose="02020603050405020304" pitchFamily="18" charset="0"/>
                <a:sym typeface="TAN Pearl"/>
              </a:rPr>
              <a:t>EXISTING SYSTEM</a:t>
            </a:r>
          </a:p>
        </p:txBody>
      </p:sp>
      <p:sp>
        <p:nvSpPr>
          <p:cNvPr id="9" name="TextBox 9"/>
          <p:cNvSpPr txBox="1"/>
          <p:nvPr/>
        </p:nvSpPr>
        <p:spPr>
          <a:xfrm>
            <a:off x="2071638" y="2143104"/>
            <a:ext cx="14723312" cy="5978525"/>
          </a:xfrm>
          <a:prstGeom prst="rect">
            <a:avLst/>
          </a:prstGeom>
        </p:spPr>
        <p:txBody>
          <a:bodyPr lIns="0" tIns="0" rIns="0" bIns="0" rtlCol="0" anchor="t">
            <a:spAutoFit/>
          </a:bodyPr>
          <a:lstStyle/>
          <a:p>
            <a:pPr algn="just">
              <a:lnSpc>
                <a:spcPct val="120000"/>
              </a:lnSpc>
              <a:buNone/>
            </a:pPr>
            <a:r>
              <a:rPr lang="en-US" sz="3600" dirty="0">
                <a:latin typeface="Times New Roman" panose="02020603050405020304" pitchFamily="18" charset="0"/>
                <a:cs typeface="Times New Roman" panose="02020603050405020304" pitchFamily="18" charset="0"/>
                <a:sym typeface="+mn-ea"/>
              </a:rPr>
              <a:t>Traditional </a:t>
            </a:r>
            <a:r>
              <a:rPr lang="en-US" sz="3600" b="1" dirty="0">
                <a:latin typeface="Times New Roman" panose="02020603050405020304" pitchFamily="18" charset="0"/>
                <a:cs typeface="Times New Roman" panose="02020603050405020304" pitchFamily="18" charset="0"/>
                <a:sym typeface="+mn-ea"/>
              </a:rPr>
              <a:t>Hospital Management Systems (HMS)</a:t>
            </a:r>
            <a:r>
              <a:rPr lang="en-US" sz="3600" dirty="0">
                <a:latin typeface="Times New Roman" panose="02020603050405020304" pitchFamily="18" charset="0"/>
                <a:cs typeface="Times New Roman" panose="02020603050405020304" pitchFamily="18" charset="0"/>
                <a:sym typeface="+mn-ea"/>
              </a:rPr>
              <a:t> rely on </a:t>
            </a:r>
            <a:r>
              <a:rPr lang="en-US" sz="3600" b="1" dirty="0">
                <a:latin typeface="Times New Roman" panose="02020603050405020304" pitchFamily="18" charset="0"/>
                <a:cs typeface="Times New Roman" panose="02020603050405020304" pitchFamily="18" charset="0"/>
                <a:sym typeface="+mn-ea"/>
              </a:rPr>
              <a:t>manual processes</a:t>
            </a:r>
            <a:r>
              <a:rPr lang="en-US" sz="3600" dirty="0">
                <a:latin typeface="Times New Roman" panose="02020603050405020304" pitchFamily="18" charset="0"/>
                <a:cs typeface="Times New Roman" panose="02020603050405020304" pitchFamily="18" charset="0"/>
                <a:sym typeface="+mn-ea"/>
              </a:rPr>
              <a:t>, leading to inefficiencies in </a:t>
            </a:r>
            <a:r>
              <a:rPr lang="en-US" sz="3600" b="1" dirty="0">
                <a:latin typeface="Times New Roman" panose="02020603050405020304" pitchFamily="18" charset="0"/>
                <a:cs typeface="Times New Roman" panose="02020603050405020304" pitchFamily="18" charset="0"/>
                <a:sym typeface="+mn-ea"/>
              </a:rPr>
              <a:t>scheduling, resource management, and patient care</a:t>
            </a:r>
            <a:r>
              <a:rPr lang="en-US" sz="3600" dirty="0">
                <a:latin typeface="Times New Roman" panose="02020603050405020304" pitchFamily="18" charset="0"/>
                <a:cs typeface="Times New Roman" panose="02020603050405020304" pitchFamily="18" charset="0"/>
                <a:sym typeface="+mn-ea"/>
              </a:rPr>
              <a:t>. </a:t>
            </a:r>
            <a:endParaRPr lang="en-US" sz="3600" dirty="0">
              <a:latin typeface="Times New Roman" panose="02020603050405020304" pitchFamily="18" charset="0"/>
              <a:cs typeface="Times New Roman" panose="02020603050405020304" pitchFamily="18" charset="0"/>
            </a:endParaRPr>
          </a:p>
          <a:p>
            <a:pPr algn="just">
              <a:lnSpc>
                <a:spcPct val="120000"/>
              </a:lnSpc>
              <a:buNone/>
            </a:pPr>
            <a:r>
              <a:rPr lang="en-US" sz="3600" dirty="0">
                <a:latin typeface="Times New Roman" panose="02020603050405020304" pitchFamily="18" charset="0"/>
                <a:cs typeface="Times New Roman" panose="02020603050405020304" pitchFamily="18" charset="0"/>
                <a:sym typeface="+mn-ea"/>
              </a:rPr>
              <a:t>Key limitations include:</a:t>
            </a:r>
            <a:endParaRPr lang="en-US" sz="3600" dirty="0">
              <a:latin typeface="Times New Roman" panose="02020603050405020304" pitchFamily="18" charset="0"/>
              <a:cs typeface="Times New Roman" panose="02020603050405020304" pitchFamily="18" charset="0"/>
            </a:endParaRPr>
          </a:p>
          <a:p>
            <a:pPr marL="457200" indent="-457200" algn="just">
              <a:lnSpc>
                <a:spcPct val="120000"/>
              </a:lnSpc>
              <a:buFont typeface="Arial" panose="020B0604020202020204" pitchFamily="34" charset="0"/>
              <a:buChar char="•"/>
            </a:pPr>
            <a:r>
              <a:rPr lang="en-US" sz="3600" b="1" dirty="0">
                <a:latin typeface="Times New Roman" panose="02020603050405020304" pitchFamily="18" charset="0"/>
                <a:cs typeface="Times New Roman" panose="02020603050405020304" pitchFamily="18" charset="0"/>
                <a:sym typeface="+mn-ea"/>
              </a:rPr>
              <a:t>Manual Scheduling &amp; Tracking</a:t>
            </a:r>
            <a:r>
              <a:rPr lang="en-US" sz="3600" dirty="0">
                <a:latin typeface="Times New Roman" panose="02020603050405020304" pitchFamily="18" charset="0"/>
                <a:cs typeface="Times New Roman" panose="02020603050405020304" pitchFamily="18" charset="0"/>
                <a:sym typeface="+mn-ea"/>
              </a:rPr>
              <a:t> </a:t>
            </a:r>
            <a:endParaRPr lang="en-US" sz="3600" dirty="0">
              <a:latin typeface="Times New Roman" panose="02020603050405020304" pitchFamily="18" charset="0"/>
              <a:cs typeface="Times New Roman" panose="02020603050405020304" pitchFamily="18" charset="0"/>
            </a:endParaRPr>
          </a:p>
          <a:p>
            <a:pPr marL="457200" indent="-457200" algn="just">
              <a:lnSpc>
                <a:spcPct val="120000"/>
              </a:lnSpc>
              <a:buFont typeface="Arial" panose="020B0604020202020204" pitchFamily="34" charset="0"/>
              <a:buChar char="•"/>
            </a:pPr>
            <a:r>
              <a:rPr lang="en-US" sz="3600" b="1" dirty="0">
                <a:latin typeface="Times New Roman" panose="02020603050405020304" pitchFamily="18" charset="0"/>
                <a:cs typeface="Times New Roman" panose="02020603050405020304" pitchFamily="18" charset="0"/>
                <a:sym typeface="+mn-ea"/>
              </a:rPr>
              <a:t>Limited Real-Time Monitoring</a:t>
            </a:r>
            <a:endParaRPr lang="en-US" sz="3600" b="1" dirty="0">
              <a:latin typeface="Times New Roman" panose="02020603050405020304" pitchFamily="18" charset="0"/>
              <a:cs typeface="Times New Roman" panose="02020603050405020304" pitchFamily="18" charset="0"/>
            </a:endParaRPr>
          </a:p>
          <a:p>
            <a:pPr marL="457200" indent="-457200" algn="just">
              <a:lnSpc>
                <a:spcPct val="120000"/>
              </a:lnSpc>
              <a:buFont typeface="Arial" panose="020B0604020202020204" pitchFamily="34" charset="0"/>
              <a:buChar char="•"/>
            </a:pPr>
            <a:r>
              <a:rPr lang="en-US" sz="3600" b="1" dirty="0">
                <a:latin typeface="Times New Roman" panose="02020603050405020304" pitchFamily="18" charset="0"/>
                <a:cs typeface="Times New Roman" panose="02020603050405020304" pitchFamily="18" charset="0"/>
                <a:sym typeface="+mn-ea"/>
              </a:rPr>
              <a:t>Inefficient Emergency Response</a:t>
            </a:r>
            <a:r>
              <a:rPr lang="en-US" sz="3600" dirty="0">
                <a:latin typeface="Times New Roman" panose="02020603050405020304" pitchFamily="18" charset="0"/>
                <a:cs typeface="Times New Roman" panose="02020603050405020304" pitchFamily="18" charset="0"/>
                <a:sym typeface="+mn-ea"/>
              </a:rPr>
              <a:t> </a:t>
            </a:r>
            <a:endParaRPr lang="en-US" sz="3600" dirty="0">
              <a:latin typeface="Times New Roman" panose="02020603050405020304" pitchFamily="18" charset="0"/>
              <a:cs typeface="Times New Roman" panose="02020603050405020304" pitchFamily="18" charset="0"/>
            </a:endParaRPr>
          </a:p>
          <a:p>
            <a:pPr marL="457200" indent="-457200" algn="just">
              <a:lnSpc>
                <a:spcPct val="120000"/>
              </a:lnSpc>
              <a:buFont typeface="Arial" panose="020B0604020202020204" pitchFamily="34" charset="0"/>
              <a:buChar char="•"/>
            </a:pPr>
            <a:r>
              <a:rPr lang="en-US" sz="3600" b="1" dirty="0">
                <a:latin typeface="Times New Roman" panose="02020603050405020304" pitchFamily="18" charset="0"/>
                <a:cs typeface="Times New Roman" panose="02020603050405020304" pitchFamily="18" charset="0"/>
                <a:sym typeface="+mn-ea"/>
              </a:rPr>
              <a:t>Resource Mismanagement</a:t>
            </a:r>
            <a:r>
              <a:rPr lang="en-US" sz="3600" dirty="0">
                <a:latin typeface="Times New Roman" panose="02020603050405020304" pitchFamily="18" charset="0"/>
                <a:cs typeface="Times New Roman" panose="02020603050405020304" pitchFamily="18" charset="0"/>
                <a:sym typeface="+mn-ea"/>
              </a:rPr>
              <a:t> </a:t>
            </a:r>
            <a:endParaRPr lang="en-US" sz="3600" dirty="0">
              <a:latin typeface="Times New Roman" panose="02020603050405020304" pitchFamily="18" charset="0"/>
              <a:cs typeface="Times New Roman" panose="02020603050405020304" pitchFamily="18" charset="0"/>
            </a:endParaRPr>
          </a:p>
          <a:p>
            <a:pPr marL="457200" indent="-457200" algn="just">
              <a:lnSpc>
                <a:spcPct val="120000"/>
              </a:lnSpc>
              <a:buFont typeface="Arial" panose="020B0604020202020204" pitchFamily="34" charset="0"/>
              <a:buChar char="•"/>
            </a:pPr>
            <a:r>
              <a:rPr lang="en-US" sz="3600" b="1" dirty="0">
                <a:latin typeface="Times New Roman" panose="02020603050405020304" pitchFamily="18" charset="0"/>
                <a:cs typeface="Times New Roman" panose="02020603050405020304" pitchFamily="18" charset="0"/>
                <a:sym typeface="+mn-ea"/>
              </a:rPr>
              <a:t>No Predictive Analytics</a:t>
            </a:r>
            <a:endParaRPr lang="en-US" sz="3600" b="1" dirty="0">
              <a:solidFill>
                <a:srgbClr val="000000"/>
              </a:solidFill>
              <a:latin typeface="Times New Roman" panose="02020603050405020304" pitchFamily="18" charset="0"/>
              <a:ea typeface="Lora" panose="00000500000000000000"/>
              <a:cs typeface="Times New Roman" panose="02020603050405020304" pitchFamily="18"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1028700" y="905329"/>
            <a:ext cx="10070460" cy="1077218"/>
          </a:xfrm>
          <a:prstGeom prst="rect">
            <a:avLst/>
          </a:prstGeom>
        </p:spPr>
        <p:txBody>
          <a:bodyPr lIns="0" tIns="0" rIns="0" bIns="0" rtlCol="0" anchor="t">
            <a:spAutoFit/>
          </a:bodyPr>
          <a:lstStyle/>
          <a:p>
            <a:pPr marL="0" lvl="0" indent="0" algn="l">
              <a:lnSpc>
                <a:spcPts val="9185"/>
              </a:lnSpc>
              <a:spcBef>
                <a:spcPct val="0"/>
              </a:spcBef>
            </a:pPr>
            <a:r>
              <a:rPr lang="en-US" sz="6400" dirty="0">
                <a:solidFill>
                  <a:srgbClr val="000000"/>
                </a:solidFill>
                <a:latin typeface="Times New Roman" panose="02020603050405020304" pitchFamily="18" charset="0"/>
                <a:ea typeface="TAN Pearl"/>
                <a:cs typeface="Times New Roman" panose="02020603050405020304" pitchFamily="18" charset="0"/>
                <a:sym typeface="TAN Pearl"/>
              </a:rPr>
              <a:t>PROPOSED SYSTEM</a:t>
            </a:r>
          </a:p>
        </p:txBody>
      </p:sp>
      <p:sp>
        <p:nvSpPr>
          <p:cNvPr id="3" name="Freeform 3"/>
          <p:cNvSpPr/>
          <p:nvPr/>
        </p:nvSpPr>
        <p:spPr>
          <a:xfrm>
            <a:off x="13240418" y="-2441628"/>
            <a:ext cx="8690625" cy="6352057"/>
          </a:xfrm>
          <a:custGeom>
            <a:avLst/>
            <a:gdLst/>
            <a:ahLst/>
            <a:cxnLst/>
            <a:rect l="l" t="t" r="r" b="b"/>
            <a:pathLst>
              <a:path w="8690625" h="6352057">
                <a:moveTo>
                  <a:pt x="0" y="0"/>
                </a:moveTo>
                <a:lnTo>
                  <a:pt x="8690625" y="0"/>
                </a:lnTo>
                <a:lnTo>
                  <a:pt x="8690625" y="6352057"/>
                </a:lnTo>
                <a:lnTo>
                  <a:pt x="0" y="63520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810260" y="2038350"/>
            <a:ext cx="15982315" cy="7680960"/>
          </a:xfrm>
          <a:prstGeom prst="rect">
            <a:avLst/>
          </a:prstGeom>
        </p:spPr>
        <p:txBody>
          <a:bodyPr lIns="0" tIns="0" rIns="0" bIns="0" rtlCol="0" anchor="t">
            <a:noAutofit/>
          </a:bodyPr>
          <a:lstStyle/>
          <a:p>
            <a:pPr algn="just">
              <a:lnSpc>
                <a:spcPct val="120000"/>
              </a:lnSpc>
              <a:buNone/>
            </a:pPr>
            <a:r>
              <a:rPr lang="en-US" sz="3600" dirty="0">
                <a:latin typeface="Times New Roman" panose="02020603050405020304" pitchFamily="18" charset="0"/>
                <a:cs typeface="Times New Roman" panose="02020603050405020304" pitchFamily="18" charset="0"/>
                <a:sym typeface="+mn-ea"/>
              </a:rPr>
              <a:t>The </a:t>
            </a:r>
            <a:r>
              <a:rPr lang="en-US" sz="3600" b="1" dirty="0" err="1">
                <a:latin typeface="Times New Roman" panose="02020603050405020304" pitchFamily="18" charset="0"/>
                <a:cs typeface="Times New Roman" panose="02020603050405020304" pitchFamily="18" charset="0"/>
                <a:sym typeface="+mn-ea"/>
              </a:rPr>
              <a:t>IoT</a:t>
            </a:r>
            <a:r>
              <a:rPr lang="en-US" sz="3600" b="1" dirty="0">
                <a:latin typeface="Times New Roman" panose="02020603050405020304" pitchFamily="18" charset="0"/>
                <a:cs typeface="Times New Roman" panose="02020603050405020304" pitchFamily="18" charset="0"/>
                <a:sym typeface="+mn-ea"/>
              </a:rPr>
              <a:t>-powered AI-driven Hospital Management System</a:t>
            </a:r>
            <a:r>
              <a:rPr lang="en-US" sz="3600" dirty="0">
                <a:latin typeface="Times New Roman" panose="02020603050405020304" pitchFamily="18" charset="0"/>
                <a:cs typeface="Times New Roman" panose="02020603050405020304" pitchFamily="18" charset="0"/>
                <a:sym typeface="+mn-ea"/>
              </a:rPr>
              <a:t> enhances healthcare operations by integrating </a:t>
            </a:r>
            <a:r>
              <a:rPr lang="en-US" sz="3600" b="1" dirty="0">
                <a:latin typeface="Times New Roman" panose="02020603050405020304" pitchFamily="18" charset="0"/>
                <a:cs typeface="Times New Roman" panose="02020603050405020304" pitchFamily="18" charset="0"/>
                <a:sym typeface="+mn-ea"/>
              </a:rPr>
              <a:t>real-time tracking, automated resource management, and AI-driven analytics</a:t>
            </a:r>
            <a:r>
              <a:rPr lang="en-US" sz="3600" dirty="0">
                <a:latin typeface="Times New Roman" panose="02020603050405020304" pitchFamily="18" charset="0"/>
                <a:cs typeface="Times New Roman" panose="02020603050405020304" pitchFamily="18" charset="0"/>
                <a:sym typeface="+mn-ea"/>
              </a:rPr>
              <a:t> for smarter decision-making.</a:t>
            </a:r>
            <a:endParaRPr lang="en-US" sz="3600" dirty="0">
              <a:latin typeface="Times New Roman" panose="02020603050405020304" pitchFamily="18" charset="0"/>
              <a:cs typeface="Times New Roman" panose="02020603050405020304" pitchFamily="18" charset="0"/>
            </a:endParaRPr>
          </a:p>
          <a:p>
            <a:pPr algn="just">
              <a:lnSpc>
                <a:spcPct val="120000"/>
              </a:lnSpc>
              <a:buNone/>
            </a:pPr>
            <a:r>
              <a:rPr lang="en-US" sz="3600" b="1" dirty="0">
                <a:latin typeface="Times New Roman" panose="02020603050405020304" pitchFamily="18" charset="0"/>
                <a:cs typeface="Times New Roman" panose="02020603050405020304" pitchFamily="18" charset="0"/>
                <a:sym typeface="+mn-ea"/>
              </a:rPr>
              <a:t>Key Features:</a:t>
            </a:r>
            <a:endParaRPr lang="en-US" sz="3600" b="1" dirty="0">
              <a:latin typeface="Times New Roman" panose="02020603050405020304" pitchFamily="18" charset="0"/>
              <a:cs typeface="Times New Roman" panose="02020603050405020304" pitchFamily="18" charset="0"/>
            </a:endParaRPr>
          </a:p>
          <a:p>
            <a:pPr marL="457200" indent="-457200" algn="just">
              <a:lnSpc>
                <a:spcPct val="120000"/>
              </a:lnSpc>
              <a:buFont typeface="Arial" panose="020B0604020202020204" pitchFamily="34" charset="0"/>
              <a:buChar char="•"/>
            </a:pPr>
            <a:r>
              <a:rPr lang="en-US" sz="3600" b="1" dirty="0" err="1">
                <a:latin typeface="Times New Roman" panose="02020603050405020304" pitchFamily="18" charset="0"/>
                <a:cs typeface="Times New Roman" panose="02020603050405020304" pitchFamily="18" charset="0"/>
                <a:sym typeface="+mn-ea"/>
              </a:rPr>
              <a:t>IoT</a:t>
            </a:r>
            <a:r>
              <a:rPr lang="en-US" sz="3600" b="1" dirty="0">
                <a:latin typeface="Times New Roman" panose="02020603050405020304" pitchFamily="18" charset="0"/>
                <a:cs typeface="Times New Roman" panose="02020603050405020304" pitchFamily="18" charset="0"/>
                <a:sym typeface="+mn-ea"/>
              </a:rPr>
              <a:t>-Enabled Tracking</a:t>
            </a:r>
            <a:endParaRPr lang="en-US" sz="3600" dirty="0">
              <a:latin typeface="Times New Roman" panose="02020603050405020304" pitchFamily="18" charset="0"/>
              <a:cs typeface="Times New Roman" panose="02020603050405020304" pitchFamily="18" charset="0"/>
            </a:endParaRPr>
          </a:p>
          <a:p>
            <a:pPr marL="457200" indent="-457200" algn="just">
              <a:lnSpc>
                <a:spcPct val="120000"/>
              </a:lnSpc>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sym typeface="+mn-ea"/>
              </a:rPr>
              <a:t> </a:t>
            </a:r>
            <a:r>
              <a:rPr lang="en-US" sz="3600" b="1" dirty="0">
                <a:latin typeface="Times New Roman" panose="02020603050405020304" pitchFamily="18" charset="0"/>
                <a:cs typeface="Times New Roman" panose="02020603050405020304" pitchFamily="18" charset="0"/>
                <a:sym typeface="+mn-ea"/>
              </a:rPr>
              <a:t>AI-Driven Scheduling</a:t>
            </a:r>
            <a:r>
              <a:rPr lang="en-US" sz="3600" dirty="0">
                <a:latin typeface="Times New Roman" panose="02020603050405020304" pitchFamily="18" charset="0"/>
                <a:cs typeface="Times New Roman" panose="02020603050405020304" pitchFamily="18" charset="0"/>
                <a:sym typeface="+mn-ea"/>
              </a:rPr>
              <a:t> </a:t>
            </a:r>
            <a:endParaRPr lang="en-US" sz="3600" dirty="0">
              <a:latin typeface="Times New Roman" panose="02020603050405020304" pitchFamily="18" charset="0"/>
              <a:cs typeface="Times New Roman" panose="02020603050405020304" pitchFamily="18" charset="0"/>
            </a:endParaRPr>
          </a:p>
          <a:p>
            <a:pPr marL="457200" indent="-457200" algn="just">
              <a:lnSpc>
                <a:spcPct val="120000"/>
              </a:lnSpc>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sym typeface="+mn-ea"/>
              </a:rPr>
              <a:t> </a:t>
            </a:r>
            <a:r>
              <a:rPr lang="en-US" sz="3600" b="1" dirty="0">
                <a:latin typeface="Times New Roman" panose="02020603050405020304" pitchFamily="18" charset="0"/>
                <a:cs typeface="Times New Roman" panose="02020603050405020304" pitchFamily="18" charset="0"/>
                <a:sym typeface="+mn-ea"/>
              </a:rPr>
              <a:t>Automated Emergency Handling</a:t>
            </a:r>
            <a:r>
              <a:rPr lang="en-US" sz="3600" dirty="0">
                <a:latin typeface="Times New Roman" panose="02020603050405020304" pitchFamily="18" charset="0"/>
                <a:cs typeface="Times New Roman" panose="02020603050405020304" pitchFamily="18" charset="0"/>
                <a:sym typeface="+mn-ea"/>
              </a:rPr>
              <a:t> </a:t>
            </a:r>
            <a:endParaRPr lang="en-US" sz="3600" dirty="0">
              <a:latin typeface="Times New Roman" panose="02020603050405020304" pitchFamily="18" charset="0"/>
              <a:cs typeface="Times New Roman" panose="02020603050405020304" pitchFamily="18" charset="0"/>
            </a:endParaRPr>
          </a:p>
          <a:p>
            <a:pPr marL="457200" indent="-457200" algn="just">
              <a:lnSpc>
                <a:spcPct val="120000"/>
              </a:lnSpc>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sym typeface="+mn-ea"/>
              </a:rPr>
              <a:t> </a:t>
            </a:r>
            <a:r>
              <a:rPr lang="en-US" sz="3600" b="1" dirty="0">
                <a:latin typeface="Times New Roman" panose="02020603050405020304" pitchFamily="18" charset="0"/>
                <a:cs typeface="Times New Roman" panose="02020603050405020304" pitchFamily="18" charset="0"/>
                <a:sym typeface="+mn-ea"/>
              </a:rPr>
              <a:t>Smart Resource Management</a:t>
            </a:r>
            <a:r>
              <a:rPr lang="en-US" sz="3600" dirty="0">
                <a:latin typeface="Times New Roman" panose="02020603050405020304" pitchFamily="18" charset="0"/>
                <a:cs typeface="Times New Roman" panose="02020603050405020304" pitchFamily="18" charset="0"/>
                <a:sym typeface="+mn-ea"/>
              </a:rPr>
              <a:t> </a:t>
            </a:r>
          </a:p>
          <a:p>
            <a:pPr marL="457200" indent="-457200" algn="just">
              <a:lnSpc>
                <a:spcPct val="120000"/>
              </a:lnSpc>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sym typeface="+mn-ea"/>
              </a:rPr>
              <a:t> </a:t>
            </a:r>
            <a:r>
              <a:rPr lang="en-US" sz="3600" b="1" dirty="0">
                <a:latin typeface="Times New Roman" panose="02020603050405020304" pitchFamily="18" charset="0"/>
                <a:cs typeface="Times New Roman" panose="02020603050405020304" pitchFamily="18" charset="0"/>
                <a:sym typeface="+mn-ea"/>
              </a:rPr>
              <a:t>Predictive Maintenance</a:t>
            </a:r>
            <a:r>
              <a:rPr lang="en-US" sz="3600" dirty="0">
                <a:latin typeface="Times New Roman" panose="02020603050405020304" pitchFamily="18" charset="0"/>
                <a:cs typeface="Times New Roman" panose="02020603050405020304" pitchFamily="18" charset="0"/>
                <a:sym typeface="+mn-ea"/>
              </a:rPr>
              <a:t> </a:t>
            </a:r>
            <a:endParaRPr lang="en-US" sz="3600" dirty="0">
              <a:latin typeface="Times New Roman" panose="02020603050405020304" pitchFamily="18" charset="0"/>
              <a:cs typeface="Times New Roman" panose="02020603050405020304" pitchFamily="18" charset="0"/>
            </a:endParaRPr>
          </a:p>
          <a:p>
            <a:pPr marL="457200" indent="-457200" algn="just">
              <a:lnSpc>
                <a:spcPct val="120000"/>
              </a:lnSpc>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sym typeface="+mn-ea"/>
              </a:rPr>
              <a:t> </a:t>
            </a:r>
            <a:r>
              <a:rPr lang="en-US" sz="3600" b="1" dirty="0">
                <a:latin typeface="Times New Roman" panose="02020603050405020304" pitchFamily="18" charset="0"/>
                <a:cs typeface="Times New Roman" panose="02020603050405020304" pitchFamily="18" charset="0"/>
                <a:sym typeface="+mn-ea"/>
              </a:rPr>
              <a:t>Seamless Integration</a:t>
            </a:r>
            <a:r>
              <a:rPr lang="en-US" sz="3600" dirty="0">
                <a:latin typeface="Times New Roman" panose="02020603050405020304" pitchFamily="18" charset="0"/>
                <a:cs typeface="Times New Roman" panose="02020603050405020304" pitchFamily="18" charset="0"/>
                <a:sym typeface="+mn-ea"/>
              </a:rPr>
              <a:t> </a:t>
            </a:r>
            <a:r>
              <a:rPr lang="en-US" sz="2800" dirty="0">
                <a:latin typeface="Times New Roman" panose="02020603050405020304" pitchFamily="18" charset="0"/>
                <a:cs typeface="Times New Roman" panose="02020603050405020304" pitchFamily="18" charset="0"/>
                <a:sym typeface="+mn-ea"/>
              </a:rPr>
              <a:t>	</a:t>
            </a:r>
            <a:endParaRPr lang="en-US" sz="2800" dirty="0">
              <a:solidFill>
                <a:srgbClr val="000000"/>
              </a:solidFill>
              <a:latin typeface="Times New Roman" panose="02020603050405020304" pitchFamily="18" charset="0"/>
              <a:ea typeface="Lora" panose="00000500000000000000"/>
              <a:cs typeface="Times New Roman" panose="02020603050405020304" pitchFamily="18" charset="0"/>
              <a:sym typeface="Lora" panose="0000050000000000000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1072" y="318964"/>
            <a:ext cx="10605864" cy="1143000"/>
          </a:xfrm>
        </p:spPr>
        <p:txBody>
          <a:bodyPr>
            <a:normAutofit/>
          </a:bodyPr>
          <a:lstStyle/>
          <a:p>
            <a:r>
              <a:rPr lang="en-US" sz="6000" dirty="0">
                <a:latin typeface="Times New Roman" panose="02020603050405020304" pitchFamily="18" charset="0"/>
                <a:cs typeface="Times New Roman" panose="02020603050405020304" pitchFamily="18" charset="0"/>
              </a:rPr>
              <a:t>ARCHITECTURE DIAGRAM</a:t>
            </a:r>
          </a:p>
        </p:txBody>
      </p:sp>
      <p:sp>
        <p:nvSpPr>
          <p:cNvPr id="4" name="Freeform 6"/>
          <p:cNvSpPr/>
          <p:nvPr/>
        </p:nvSpPr>
        <p:spPr>
          <a:xfrm>
            <a:off x="12287272" y="-1785986"/>
            <a:ext cx="8690625" cy="6352057"/>
          </a:xfrm>
          <a:custGeom>
            <a:avLst/>
            <a:gdLst/>
            <a:ahLst/>
            <a:cxnLst/>
            <a:rect l="l" t="t" r="r" b="b"/>
            <a:pathLst>
              <a:path w="8690625" h="6352057">
                <a:moveTo>
                  <a:pt x="0" y="0"/>
                </a:moveTo>
                <a:lnTo>
                  <a:pt x="8690625" y="0"/>
                </a:lnTo>
                <a:lnTo>
                  <a:pt x="8690625" y="6352057"/>
                </a:lnTo>
                <a:lnTo>
                  <a:pt x="0" y="63520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3" name="Picture 2" descr="architect"/>
          <p:cNvPicPr>
            <a:picLocks noChangeAspect="1"/>
          </p:cNvPicPr>
          <p:nvPr/>
        </p:nvPicPr>
        <p:blipFill>
          <a:blip r:embed="rId4"/>
          <a:stretch>
            <a:fillRect/>
          </a:stretch>
        </p:blipFill>
        <p:spPr>
          <a:xfrm>
            <a:off x="3191510" y="2117090"/>
            <a:ext cx="11062335" cy="63747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526061" y="263948"/>
            <a:ext cx="17519534" cy="9317778"/>
            <a:chOff x="0" y="0"/>
            <a:chExt cx="4614198" cy="2454065"/>
          </a:xfrm>
        </p:grpSpPr>
        <p:sp>
          <p:nvSpPr>
            <p:cNvPr id="3" name="Freeform 3"/>
            <p:cNvSpPr/>
            <p:nvPr/>
          </p:nvSpPr>
          <p:spPr>
            <a:xfrm>
              <a:off x="0" y="0"/>
              <a:ext cx="4614198" cy="2454065"/>
            </a:xfrm>
            <a:custGeom>
              <a:avLst/>
              <a:gdLst/>
              <a:ahLst/>
              <a:cxnLst/>
              <a:rect l="l" t="t" r="r" b="b"/>
              <a:pathLst>
                <a:path w="4614198" h="2454065">
                  <a:moveTo>
                    <a:pt x="0" y="0"/>
                  </a:moveTo>
                  <a:lnTo>
                    <a:pt x="4614198" y="0"/>
                  </a:lnTo>
                  <a:lnTo>
                    <a:pt x="4614198" y="2454065"/>
                  </a:lnTo>
                  <a:lnTo>
                    <a:pt x="0" y="2454065"/>
                  </a:lnTo>
                  <a:close/>
                </a:path>
              </a:pathLst>
            </a:custGeom>
            <a:solidFill>
              <a:srgbClr val="000000">
                <a:alpha val="0"/>
              </a:srgbClr>
            </a:solidFill>
            <a:ln w="19050" cap="sq">
              <a:solidFill>
                <a:srgbClr val="000000"/>
              </a:solidFill>
              <a:prstDash val="solid"/>
              <a:miter/>
            </a:ln>
          </p:spPr>
        </p:sp>
        <p:sp>
          <p:nvSpPr>
            <p:cNvPr id="4" name="TextBox 4"/>
            <p:cNvSpPr txBox="1"/>
            <p:nvPr/>
          </p:nvSpPr>
          <p:spPr>
            <a:xfrm>
              <a:off x="0" y="-66675"/>
              <a:ext cx="4614198" cy="2520740"/>
            </a:xfrm>
            <a:prstGeom prst="rect">
              <a:avLst/>
            </a:prstGeom>
          </p:spPr>
          <p:txBody>
            <a:bodyPr lIns="50800" tIns="50800" rIns="50800" bIns="50800" rtlCol="0" anchor="ctr"/>
            <a:lstStyle/>
            <a:p>
              <a:pPr algn="ctr">
                <a:lnSpc>
                  <a:spcPts val="3150"/>
                </a:lnSpc>
              </a:pPr>
              <a:endParaRPr/>
            </a:p>
          </p:txBody>
        </p:sp>
      </p:grpSp>
      <p:sp>
        <p:nvSpPr>
          <p:cNvPr id="5" name="TextBox 5"/>
          <p:cNvSpPr txBox="1"/>
          <p:nvPr/>
        </p:nvSpPr>
        <p:spPr>
          <a:xfrm>
            <a:off x="1214382" y="785782"/>
            <a:ext cx="6962598" cy="1019510"/>
          </a:xfrm>
          <a:prstGeom prst="rect">
            <a:avLst/>
          </a:prstGeom>
        </p:spPr>
        <p:txBody>
          <a:bodyPr lIns="0" tIns="0" rIns="0" bIns="0" rtlCol="0" anchor="t">
            <a:spAutoFit/>
          </a:bodyPr>
          <a:lstStyle/>
          <a:p>
            <a:pPr marL="0" lvl="0" indent="0" algn="just">
              <a:lnSpc>
                <a:spcPts val="8630"/>
              </a:lnSpc>
              <a:spcBef>
                <a:spcPct val="0"/>
              </a:spcBef>
            </a:pPr>
            <a:r>
              <a:rPr lang="en-US" sz="6400" dirty="0">
                <a:solidFill>
                  <a:srgbClr val="000000"/>
                </a:solidFill>
                <a:latin typeface="Times New Roman" panose="02020603050405020304" pitchFamily="18" charset="0"/>
                <a:ea typeface="TAN Pearl"/>
                <a:cs typeface="Times New Roman" panose="02020603050405020304" pitchFamily="18" charset="0"/>
                <a:sym typeface="TAN Pearl"/>
              </a:rPr>
              <a:t>MODULES</a:t>
            </a:r>
          </a:p>
        </p:txBody>
      </p:sp>
      <p:sp>
        <p:nvSpPr>
          <p:cNvPr id="6" name="Freeform 6"/>
          <p:cNvSpPr/>
          <p:nvPr/>
        </p:nvSpPr>
        <p:spPr>
          <a:xfrm flipH="1">
            <a:off x="16878297" y="9244366"/>
            <a:ext cx="762005" cy="674721"/>
          </a:xfrm>
          <a:custGeom>
            <a:avLst/>
            <a:gdLst/>
            <a:ahLst/>
            <a:cxnLst/>
            <a:rect l="l" t="t" r="r" b="b"/>
            <a:pathLst>
              <a:path w="762005" h="674721">
                <a:moveTo>
                  <a:pt x="762006" y="0"/>
                </a:moveTo>
                <a:lnTo>
                  <a:pt x="0" y="0"/>
                </a:lnTo>
                <a:lnTo>
                  <a:pt x="0" y="674721"/>
                </a:lnTo>
                <a:lnTo>
                  <a:pt x="762006" y="674721"/>
                </a:lnTo>
                <a:lnTo>
                  <a:pt x="762006" y="0"/>
                </a:lnTo>
                <a:close/>
              </a:path>
            </a:pathLst>
          </a:custGeom>
          <a:blipFill>
            <a:blip r:embed="rId2" cstate="print">
              <a:extLst>
                <a:ext uri="{96DAC541-7B7A-43D3-8B79-37D633B846F1}">
                  <asvg:svgBlip xmlns:asvg="http://schemas.microsoft.com/office/drawing/2016/SVG/main" r:embed="rId3"/>
                </a:ext>
              </a:extLst>
            </a:blip>
            <a:stretch>
              <a:fillRect/>
            </a:stretch>
          </a:blipFill>
        </p:spPr>
      </p:sp>
      <p:sp>
        <p:nvSpPr>
          <p:cNvPr id="7" name="Freeform 7"/>
          <p:cNvSpPr/>
          <p:nvPr/>
        </p:nvSpPr>
        <p:spPr>
          <a:xfrm>
            <a:off x="233774" y="681407"/>
            <a:ext cx="762005" cy="674721"/>
          </a:xfrm>
          <a:custGeom>
            <a:avLst/>
            <a:gdLst/>
            <a:ahLst/>
            <a:cxnLst/>
            <a:rect l="l" t="t" r="r" b="b"/>
            <a:pathLst>
              <a:path w="762005" h="674721">
                <a:moveTo>
                  <a:pt x="0" y="0"/>
                </a:moveTo>
                <a:lnTo>
                  <a:pt x="762005" y="0"/>
                </a:lnTo>
                <a:lnTo>
                  <a:pt x="762005" y="674721"/>
                </a:lnTo>
                <a:lnTo>
                  <a:pt x="0" y="674721"/>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777738" y="2313389"/>
            <a:ext cx="16862565" cy="5167630"/>
          </a:xfrm>
          <a:prstGeom prst="rect">
            <a:avLst/>
          </a:prstGeom>
        </p:spPr>
        <p:txBody>
          <a:bodyPr lIns="0" tIns="0" rIns="0" bIns="0" rtlCol="0" anchor="t">
            <a:spAutoFit/>
          </a:bodyPr>
          <a:lstStyle/>
          <a:p>
            <a:pPr marL="457200" indent="-457200" algn="just">
              <a:lnSpc>
                <a:spcPct val="120000"/>
              </a:lnSpc>
              <a:buFont typeface="Wingdings" panose="05000000000000000000" charset="0"/>
              <a:buChar char="v"/>
            </a:pPr>
            <a:r>
              <a:rPr lang="en-US" sz="2800" b="1" dirty="0">
                <a:latin typeface="Times New Roman" panose="02020603050405020304" pitchFamily="18" charset="0"/>
                <a:cs typeface="Times New Roman" panose="02020603050405020304" pitchFamily="18" charset="0"/>
                <a:sym typeface="+mn-ea"/>
              </a:rPr>
              <a:t>User Management Module</a:t>
            </a:r>
            <a:endParaRPr lang="en-US" sz="2800" dirty="0">
              <a:latin typeface="Times New Roman" panose="02020603050405020304" pitchFamily="18" charset="0"/>
              <a:cs typeface="Times New Roman" panose="02020603050405020304" pitchFamily="18" charset="0"/>
            </a:endParaRPr>
          </a:p>
          <a:p>
            <a:pPr marL="457200" indent="-457200" algn="just">
              <a:lnSpc>
                <a:spcPct val="120000"/>
              </a:lnSpc>
              <a:buFont typeface="Wingdings" panose="05000000000000000000" charset="0"/>
              <a:buChar char="v"/>
            </a:pPr>
            <a:r>
              <a:rPr lang="en-US" sz="2800" b="1" dirty="0">
                <a:latin typeface="Times New Roman" panose="02020603050405020304" pitchFamily="18" charset="0"/>
                <a:cs typeface="Times New Roman" panose="02020603050405020304" pitchFamily="18" charset="0"/>
                <a:sym typeface="+mn-ea"/>
              </a:rPr>
              <a:t>Appointment Scheduling</a:t>
            </a:r>
            <a:r>
              <a:rPr lang="en-US" sz="2800" dirty="0">
                <a:latin typeface="Times New Roman" panose="02020603050405020304" pitchFamily="18" charset="0"/>
                <a:cs typeface="Times New Roman" panose="02020603050405020304" pitchFamily="18" charset="0"/>
                <a:sym typeface="+mn-ea"/>
              </a:rPr>
              <a:t> </a:t>
            </a:r>
            <a:r>
              <a:rPr lang="en-US" sz="2800" b="1" dirty="0">
                <a:latin typeface="Times New Roman" panose="02020603050405020304" pitchFamily="18" charset="0"/>
                <a:cs typeface="Times New Roman" panose="02020603050405020304" pitchFamily="18" charset="0"/>
                <a:sym typeface="+mn-ea"/>
              </a:rPr>
              <a:t>Module</a:t>
            </a:r>
            <a:endParaRPr lang="en-US" sz="2800" dirty="0">
              <a:latin typeface="Times New Roman" panose="02020603050405020304" pitchFamily="18" charset="0"/>
              <a:cs typeface="Times New Roman" panose="02020603050405020304" pitchFamily="18" charset="0"/>
            </a:endParaRPr>
          </a:p>
          <a:p>
            <a:pPr marL="457200" indent="-457200" algn="just">
              <a:lnSpc>
                <a:spcPct val="120000"/>
              </a:lnSpc>
              <a:buFont typeface="Wingdings" panose="05000000000000000000" charset="0"/>
              <a:buChar char="v"/>
            </a:pPr>
            <a:r>
              <a:rPr lang="en-US" sz="2800" b="1" dirty="0">
                <a:solidFill>
                  <a:srgbClr val="000000"/>
                </a:solidFill>
                <a:latin typeface="Times New Roman" panose="02020603050405020304" pitchFamily="18" charset="0"/>
                <a:ea typeface="Lora Bold" panose="00000800000000000000"/>
                <a:cs typeface="Times New Roman" panose="02020603050405020304" pitchFamily="18" charset="0"/>
                <a:sym typeface="Lora Bold" panose="00000800000000000000"/>
              </a:rPr>
              <a:t>Patient Management Module</a:t>
            </a:r>
            <a:endParaRPr lang="en-US" sz="2800" b="1" dirty="0">
              <a:latin typeface="Times New Roman" panose="02020603050405020304" pitchFamily="18" charset="0"/>
              <a:cs typeface="Times New Roman" panose="02020603050405020304" pitchFamily="18" charset="0"/>
            </a:endParaRPr>
          </a:p>
          <a:p>
            <a:pPr marL="457200" indent="-457200" algn="just">
              <a:lnSpc>
                <a:spcPct val="120000"/>
              </a:lnSpc>
              <a:buFont typeface="Wingdings" panose="05000000000000000000" charset="0"/>
              <a:buChar char="v"/>
            </a:pPr>
            <a:r>
              <a:rPr lang="en-US" sz="2800" b="1" dirty="0">
                <a:latin typeface="Times New Roman" panose="02020603050405020304" pitchFamily="18" charset="0"/>
                <a:cs typeface="Times New Roman" panose="02020603050405020304" pitchFamily="18" charset="0"/>
                <a:sym typeface="+mn-ea"/>
              </a:rPr>
              <a:t> Real-Time Tracking</a:t>
            </a:r>
            <a:r>
              <a:rPr lang="en-US" sz="2800" dirty="0">
                <a:latin typeface="Times New Roman" panose="02020603050405020304" pitchFamily="18" charset="0"/>
                <a:cs typeface="Times New Roman" panose="02020603050405020304" pitchFamily="18" charset="0"/>
                <a:sym typeface="+mn-ea"/>
              </a:rPr>
              <a:t> </a:t>
            </a:r>
            <a:r>
              <a:rPr lang="en-US" sz="2800" b="1" dirty="0">
                <a:latin typeface="Times New Roman" panose="02020603050405020304" pitchFamily="18" charset="0"/>
                <a:cs typeface="Times New Roman" panose="02020603050405020304" pitchFamily="18" charset="0"/>
                <a:sym typeface="+mn-ea"/>
              </a:rPr>
              <a:t>Module</a:t>
            </a:r>
            <a:endParaRPr lang="en-US" sz="2800" dirty="0">
              <a:latin typeface="Times New Roman" panose="02020603050405020304" pitchFamily="18" charset="0"/>
              <a:cs typeface="Times New Roman" panose="02020603050405020304" pitchFamily="18" charset="0"/>
            </a:endParaRPr>
          </a:p>
          <a:p>
            <a:pPr marL="457200" indent="-457200" algn="just">
              <a:lnSpc>
                <a:spcPct val="120000"/>
              </a:lnSpc>
              <a:buFont typeface="Wingdings" panose="05000000000000000000" charset="0"/>
              <a:buChar char="v"/>
            </a:pPr>
            <a:r>
              <a:rPr lang="en-US" sz="2800" dirty="0">
                <a:latin typeface="Times New Roman" panose="02020603050405020304" pitchFamily="18" charset="0"/>
                <a:cs typeface="Times New Roman" panose="02020603050405020304" pitchFamily="18" charset="0"/>
                <a:sym typeface="+mn-ea"/>
              </a:rPr>
              <a:t> </a:t>
            </a:r>
            <a:r>
              <a:rPr lang="en-US" sz="2800" b="1" dirty="0">
                <a:latin typeface="Times New Roman" panose="02020603050405020304" pitchFamily="18" charset="0"/>
                <a:cs typeface="Times New Roman" panose="02020603050405020304" pitchFamily="18" charset="0"/>
                <a:sym typeface="+mn-ea"/>
              </a:rPr>
              <a:t>Queue Management Module</a:t>
            </a:r>
            <a:endParaRPr lang="en-US" sz="2800" dirty="0">
              <a:latin typeface="Times New Roman" panose="02020603050405020304" pitchFamily="18" charset="0"/>
              <a:cs typeface="Times New Roman" panose="02020603050405020304" pitchFamily="18" charset="0"/>
            </a:endParaRPr>
          </a:p>
          <a:p>
            <a:pPr marL="457200" indent="-457200" algn="just">
              <a:lnSpc>
                <a:spcPct val="120000"/>
              </a:lnSpc>
              <a:buFont typeface="Wingdings" panose="05000000000000000000" charset="0"/>
              <a:buChar char="v"/>
            </a:pPr>
            <a:r>
              <a:rPr lang="en-US" sz="2800" dirty="0">
                <a:latin typeface="Times New Roman" panose="02020603050405020304" pitchFamily="18" charset="0"/>
                <a:cs typeface="Times New Roman" panose="02020603050405020304" pitchFamily="18" charset="0"/>
                <a:sym typeface="+mn-ea"/>
              </a:rPr>
              <a:t> </a:t>
            </a:r>
            <a:r>
              <a:rPr lang="en-US" sz="2800" b="1" dirty="0">
                <a:latin typeface="Times New Roman" panose="02020603050405020304" pitchFamily="18" charset="0"/>
                <a:cs typeface="Times New Roman" panose="02020603050405020304" pitchFamily="18" charset="0"/>
                <a:sym typeface="+mn-ea"/>
              </a:rPr>
              <a:t>Resource Management</a:t>
            </a:r>
            <a:r>
              <a:rPr lang="en-US" sz="2800" dirty="0">
                <a:latin typeface="Times New Roman" panose="02020603050405020304" pitchFamily="18" charset="0"/>
                <a:cs typeface="Times New Roman" panose="02020603050405020304" pitchFamily="18" charset="0"/>
                <a:sym typeface="+mn-ea"/>
              </a:rPr>
              <a:t> </a:t>
            </a:r>
            <a:r>
              <a:rPr lang="en-US" sz="2800" b="1" dirty="0">
                <a:latin typeface="Times New Roman" panose="02020603050405020304" pitchFamily="18" charset="0"/>
                <a:cs typeface="Times New Roman" panose="02020603050405020304" pitchFamily="18" charset="0"/>
                <a:sym typeface="+mn-ea"/>
              </a:rPr>
              <a:t>Module</a:t>
            </a:r>
            <a:endParaRPr lang="en-US" sz="2800" dirty="0">
              <a:latin typeface="Times New Roman" panose="02020603050405020304" pitchFamily="18" charset="0"/>
              <a:cs typeface="Times New Roman" panose="02020603050405020304" pitchFamily="18" charset="0"/>
            </a:endParaRPr>
          </a:p>
          <a:p>
            <a:pPr marL="457200" indent="-457200" algn="just">
              <a:lnSpc>
                <a:spcPct val="120000"/>
              </a:lnSpc>
              <a:buFont typeface="Wingdings" panose="05000000000000000000" charset="0"/>
              <a:buChar char="v"/>
            </a:pPr>
            <a:r>
              <a:rPr lang="en-US" sz="2800" dirty="0">
                <a:latin typeface="Times New Roman" panose="02020603050405020304" pitchFamily="18" charset="0"/>
                <a:cs typeface="Times New Roman" panose="02020603050405020304" pitchFamily="18" charset="0"/>
                <a:sym typeface="+mn-ea"/>
              </a:rPr>
              <a:t> </a:t>
            </a:r>
            <a:r>
              <a:rPr lang="en-US" sz="2800" b="1" dirty="0">
                <a:latin typeface="Times New Roman" panose="02020603050405020304" pitchFamily="18" charset="0"/>
                <a:cs typeface="Times New Roman" panose="02020603050405020304" pitchFamily="18" charset="0"/>
                <a:sym typeface="+mn-ea"/>
              </a:rPr>
              <a:t>Emergency Handling</a:t>
            </a:r>
            <a:r>
              <a:rPr lang="en-US" sz="2800" dirty="0">
                <a:latin typeface="Times New Roman" panose="02020603050405020304" pitchFamily="18" charset="0"/>
                <a:cs typeface="Times New Roman" panose="02020603050405020304" pitchFamily="18" charset="0"/>
                <a:sym typeface="+mn-ea"/>
              </a:rPr>
              <a:t>  </a:t>
            </a:r>
            <a:r>
              <a:rPr lang="en-US" sz="2800" b="1" dirty="0">
                <a:latin typeface="Times New Roman" panose="02020603050405020304" pitchFamily="18" charset="0"/>
                <a:cs typeface="Times New Roman" panose="02020603050405020304" pitchFamily="18" charset="0"/>
                <a:sym typeface="+mn-ea"/>
              </a:rPr>
              <a:t>Module</a:t>
            </a:r>
            <a:endParaRPr lang="en-US" sz="2800" dirty="0">
              <a:latin typeface="Times New Roman" panose="02020603050405020304" pitchFamily="18" charset="0"/>
              <a:cs typeface="Times New Roman" panose="02020603050405020304" pitchFamily="18" charset="0"/>
            </a:endParaRPr>
          </a:p>
          <a:p>
            <a:pPr marL="457200" indent="-457200" algn="just">
              <a:lnSpc>
                <a:spcPct val="120000"/>
              </a:lnSpc>
              <a:buFont typeface="Wingdings" panose="05000000000000000000" charset="0"/>
              <a:buChar char="v"/>
            </a:pPr>
            <a:r>
              <a:rPr lang="en-US" sz="2800" dirty="0">
                <a:latin typeface="Times New Roman" panose="02020603050405020304" pitchFamily="18" charset="0"/>
                <a:cs typeface="Times New Roman" panose="02020603050405020304" pitchFamily="18" charset="0"/>
                <a:sym typeface="+mn-ea"/>
              </a:rPr>
              <a:t> </a:t>
            </a:r>
            <a:r>
              <a:rPr lang="en-US" sz="2800" b="1" dirty="0">
                <a:latin typeface="Times New Roman" panose="02020603050405020304" pitchFamily="18" charset="0"/>
                <a:cs typeface="Times New Roman" panose="02020603050405020304" pitchFamily="18" charset="0"/>
                <a:sym typeface="+mn-ea"/>
              </a:rPr>
              <a:t>Integration </a:t>
            </a:r>
            <a:r>
              <a:rPr lang="en-US" sz="2800" b="1">
                <a:latin typeface="Times New Roman" panose="02020603050405020304" pitchFamily="18" charset="0"/>
                <a:cs typeface="Times New Roman" panose="02020603050405020304" pitchFamily="18" charset="0"/>
                <a:sym typeface="+mn-ea"/>
              </a:rPr>
              <a:t>Module </a:t>
            </a:r>
            <a:endParaRPr lang="en-US" sz="2800" dirty="0">
              <a:latin typeface="Times New Roman" panose="02020603050405020304" pitchFamily="18" charset="0"/>
              <a:cs typeface="Times New Roman" panose="02020603050405020304" pitchFamily="18" charset="0"/>
            </a:endParaRPr>
          </a:p>
          <a:p>
            <a:pPr marL="457200" indent="-457200" algn="just">
              <a:lnSpc>
                <a:spcPct val="120000"/>
              </a:lnSpc>
              <a:buFont typeface="Wingdings" panose="05000000000000000000" charset="0"/>
              <a:buChar char="v"/>
            </a:pPr>
            <a:r>
              <a:rPr lang="en-US" sz="2800" dirty="0">
                <a:latin typeface="Times New Roman" panose="02020603050405020304" pitchFamily="18" charset="0"/>
                <a:cs typeface="Times New Roman" panose="02020603050405020304" pitchFamily="18" charset="0"/>
                <a:sym typeface="+mn-ea"/>
              </a:rPr>
              <a:t> </a:t>
            </a:r>
            <a:r>
              <a:rPr lang="en-US" sz="2800" b="1" dirty="0">
                <a:latin typeface="Times New Roman" panose="02020603050405020304" pitchFamily="18" charset="0"/>
                <a:cs typeface="Times New Roman" panose="02020603050405020304" pitchFamily="18" charset="0"/>
                <a:sym typeface="+mn-ea"/>
              </a:rPr>
              <a:t>Data Analytics &amp; Reporting</a:t>
            </a:r>
            <a:r>
              <a:rPr lang="en-US" sz="2800" dirty="0">
                <a:latin typeface="Times New Roman" panose="02020603050405020304" pitchFamily="18" charset="0"/>
                <a:cs typeface="Times New Roman" panose="02020603050405020304" pitchFamily="18" charset="0"/>
                <a:sym typeface="+mn-ea"/>
              </a:rPr>
              <a:t>  </a:t>
            </a:r>
            <a:r>
              <a:rPr lang="en-US" sz="2800" b="1" dirty="0">
                <a:latin typeface="Times New Roman" panose="02020603050405020304" pitchFamily="18" charset="0"/>
                <a:cs typeface="Times New Roman" panose="02020603050405020304" pitchFamily="18" charset="0"/>
                <a:sym typeface="+mn-ea"/>
              </a:rPr>
              <a:t>Module</a:t>
            </a:r>
            <a:endParaRPr lang="en-US" sz="2800" dirty="0">
              <a:latin typeface="Times New Roman" panose="02020603050405020304" pitchFamily="18" charset="0"/>
              <a:cs typeface="Times New Roman" panose="02020603050405020304" pitchFamily="18" charset="0"/>
            </a:endParaRPr>
          </a:p>
          <a:p>
            <a:pPr marL="0" indent="0" algn="just">
              <a:lnSpc>
                <a:spcPct val="120000"/>
              </a:lnSpc>
              <a:buNone/>
            </a:pPr>
            <a:endParaRPr lang="en-US" sz="2800" dirty="0">
              <a:solidFill>
                <a:srgbClr val="000000"/>
              </a:solidFill>
              <a:latin typeface="Times New Roman" panose="02020603050405020304" pitchFamily="18" charset="0"/>
              <a:ea typeface="Lora" panose="00000500000000000000"/>
              <a:cs typeface="Times New Roman" panose="02020603050405020304" pitchFamily="18" charset="0"/>
              <a:sym typeface="Lora" panose="0000050000000000000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FD3CA"/>
        </a:solidFill>
        <a:effectLst/>
      </p:bgPr>
    </p:bg>
    <p:spTree>
      <p:nvGrpSpPr>
        <p:cNvPr id="1" name=""/>
        <p:cNvGrpSpPr/>
        <p:nvPr/>
      </p:nvGrpSpPr>
      <p:grpSpPr>
        <a:xfrm>
          <a:off x="0" y="0"/>
          <a:ext cx="0" cy="0"/>
          <a:chOff x="0" y="0"/>
          <a:chExt cx="0" cy="0"/>
        </a:xfrm>
      </p:grpSpPr>
      <p:sp>
        <p:nvSpPr>
          <p:cNvPr id="2" name="AutoShape 2"/>
          <p:cNvSpPr/>
          <p:nvPr/>
        </p:nvSpPr>
        <p:spPr>
          <a:xfrm>
            <a:off x="9831362" y="1028700"/>
            <a:ext cx="10380725" cy="0"/>
          </a:xfrm>
          <a:prstGeom prst="line">
            <a:avLst/>
          </a:prstGeom>
          <a:ln w="19050" cap="flat">
            <a:solidFill>
              <a:srgbClr val="100F0D"/>
            </a:solidFill>
            <a:prstDash val="solid"/>
            <a:headEnd type="none" w="sm" len="sm"/>
            <a:tailEnd type="none" w="sm" len="sm"/>
          </a:ln>
        </p:spPr>
      </p:sp>
      <p:sp>
        <p:nvSpPr>
          <p:cNvPr id="3" name="AutoShape 3"/>
          <p:cNvSpPr/>
          <p:nvPr/>
        </p:nvSpPr>
        <p:spPr>
          <a:xfrm>
            <a:off x="-4139590" y="9277350"/>
            <a:ext cx="10380725" cy="0"/>
          </a:xfrm>
          <a:prstGeom prst="line">
            <a:avLst/>
          </a:prstGeom>
          <a:ln w="19050" cap="flat">
            <a:solidFill>
              <a:srgbClr val="100F0D"/>
            </a:solidFill>
            <a:prstDash val="solid"/>
            <a:headEnd type="none" w="sm" len="sm"/>
            <a:tailEnd type="none" w="sm" len="sm"/>
          </a:ln>
        </p:spPr>
      </p:sp>
      <p:pic>
        <p:nvPicPr>
          <p:cNvPr id="5" name="Picture 4" descr="Screenshot 2025-03-23 232516"/>
          <p:cNvPicPr>
            <a:picLocks noChangeAspect="1"/>
          </p:cNvPicPr>
          <p:nvPr/>
        </p:nvPicPr>
        <p:blipFill>
          <a:blip r:embed="rId2"/>
          <a:stretch>
            <a:fillRect/>
          </a:stretch>
        </p:blipFill>
        <p:spPr>
          <a:xfrm>
            <a:off x="5575935" y="788670"/>
            <a:ext cx="5015230" cy="90970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15498611" y="564547"/>
            <a:ext cx="1786588" cy="1676145"/>
          </a:xfrm>
          <a:custGeom>
            <a:avLst/>
            <a:gdLst/>
            <a:ahLst/>
            <a:cxnLst/>
            <a:rect l="l" t="t" r="r" b="b"/>
            <a:pathLst>
              <a:path w="1786588" h="1676145">
                <a:moveTo>
                  <a:pt x="0" y="0"/>
                </a:moveTo>
                <a:lnTo>
                  <a:pt x="1786589" y="0"/>
                </a:lnTo>
                <a:lnTo>
                  <a:pt x="1786589" y="1676145"/>
                </a:lnTo>
                <a:lnTo>
                  <a:pt x="0" y="1676145"/>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p:spPr>
      </p:sp>
      <p:sp>
        <p:nvSpPr>
          <p:cNvPr id="3" name="Freeform 3"/>
          <p:cNvSpPr/>
          <p:nvPr/>
        </p:nvSpPr>
        <p:spPr>
          <a:xfrm>
            <a:off x="13212862" y="2473339"/>
            <a:ext cx="8178165" cy="8229600"/>
          </a:xfrm>
          <a:custGeom>
            <a:avLst/>
            <a:gdLst/>
            <a:ahLst/>
            <a:cxnLst/>
            <a:rect l="l" t="t" r="r" b="b"/>
            <a:pathLst>
              <a:path w="8178165" h="8229600">
                <a:moveTo>
                  <a:pt x="0" y="0"/>
                </a:moveTo>
                <a:lnTo>
                  <a:pt x="8178165" y="0"/>
                </a:lnTo>
                <a:lnTo>
                  <a:pt x="8178165" y="8229600"/>
                </a:lnTo>
                <a:lnTo>
                  <a:pt x="0" y="8229600"/>
                </a:lnTo>
                <a:lnTo>
                  <a:pt x="0" y="0"/>
                </a:lnTo>
                <a:close/>
              </a:path>
            </a:pathLst>
          </a:custGeom>
          <a:blipFill>
            <a:blip r:embed="rId4">
              <a:alphaModFix amt="18000"/>
            </a:blip>
            <a:stretch>
              <a:fillRect/>
            </a:stretch>
          </a:blipFill>
        </p:spPr>
      </p:sp>
      <p:sp>
        <p:nvSpPr>
          <p:cNvPr id="4" name="TextBox 4"/>
          <p:cNvSpPr txBox="1"/>
          <p:nvPr/>
        </p:nvSpPr>
        <p:spPr>
          <a:xfrm>
            <a:off x="1296245" y="1135919"/>
            <a:ext cx="6758015" cy="1019510"/>
          </a:xfrm>
          <a:prstGeom prst="rect">
            <a:avLst/>
          </a:prstGeom>
        </p:spPr>
        <p:txBody>
          <a:bodyPr lIns="0" tIns="0" rIns="0" bIns="0" rtlCol="0" anchor="t">
            <a:spAutoFit/>
          </a:bodyPr>
          <a:lstStyle/>
          <a:p>
            <a:pPr marL="0" lvl="0" indent="0" algn="l">
              <a:lnSpc>
                <a:spcPts val="8630"/>
              </a:lnSpc>
              <a:spcBef>
                <a:spcPct val="0"/>
              </a:spcBef>
            </a:pPr>
            <a:r>
              <a:rPr lang="en-US" sz="6400" dirty="0">
                <a:solidFill>
                  <a:srgbClr val="000000"/>
                </a:solidFill>
                <a:latin typeface="Times New Roman" panose="02020603050405020304" pitchFamily="18" charset="0"/>
                <a:ea typeface="TAN Pearl"/>
                <a:cs typeface="Times New Roman" panose="02020603050405020304" pitchFamily="18" charset="0"/>
                <a:sym typeface="TAN Pearl"/>
              </a:rPr>
              <a:t>CONCLUSION</a:t>
            </a:r>
          </a:p>
        </p:txBody>
      </p:sp>
      <p:grpSp>
        <p:nvGrpSpPr>
          <p:cNvPr id="5" name="Group 5"/>
          <p:cNvGrpSpPr/>
          <p:nvPr/>
        </p:nvGrpSpPr>
        <p:grpSpPr>
          <a:xfrm rot="1759167">
            <a:off x="13994960" y="7149495"/>
            <a:ext cx="7154125" cy="9032594"/>
            <a:chOff x="0" y="0"/>
            <a:chExt cx="660400" cy="833802"/>
          </a:xfrm>
        </p:grpSpPr>
        <p:sp>
          <p:nvSpPr>
            <p:cNvPr id="6" name="Freeform 6"/>
            <p:cNvSpPr/>
            <p:nvPr/>
          </p:nvSpPr>
          <p:spPr>
            <a:xfrm>
              <a:off x="0" y="0"/>
              <a:ext cx="660400" cy="833802"/>
            </a:xfrm>
            <a:custGeom>
              <a:avLst/>
              <a:gdLst/>
              <a:ahLst/>
              <a:cxnLst/>
              <a:rect l="l" t="t" r="r" b="b"/>
              <a:pathLst>
                <a:path w="660400" h="833802">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969"/>
                  </a:cubicBezTo>
                  <a:lnTo>
                    <a:pt x="660400" y="833802"/>
                  </a:lnTo>
                  <a:lnTo>
                    <a:pt x="0" y="833802"/>
                  </a:lnTo>
                  <a:lnTo>
                    <a:pt x="0" y="329343"/>
                  </a:lnTo>
                  <a:cubicBezTo>
                    <a:pt x="1782" y="185660"/>
                    <a:pt x="93019" y="64045"/>
                    <a:pt x="220252" y="19070"/>
                  </a:cubicBezTo>
                  <a:close/>
                </a:path>
              </a:pathLst>
            </a:custGeom>
            <a:solidFill>
              <a:srgbClr val="DFD3CA"/>
            </a:solidFill>
          </p:spPr>
        </p:sp>
        <p:sp>
          <p:nvSpPr>
            <p:cNvPr id="7" name="TextBox 7"/>
            <p:cNvSpPr txBox="1"/>
            <p:nvPr/>
          </p:nvSpPr>
          <p:spPr>
            <a:xfrm>
              <a:off x="0" y="98425"/>
              <a:ext cx="660400" cy="735377"/>
            </a:xfrm>
            <a:prstGeom prst="rect">
              <a:avLst/>
            </a:prstGeom>
          </p:spPr>
          <p:txBody>
            <a:bodyPr lIns="50800" tIns="50800" rIns="50800" bIns="50800" rtlCol="0" anchor="ctr"/>
            <a:lstStyle/>
            <a:p>
              <a:pPr algn="ctr">
                <a:lnSpc>
                  <a:spcPts val="2850"/>
                </a:lnSpc>
              </a:pPr>
              <a:endParaRPr/>
            </a:p>
          </p:txBody>
        </p:sp>
      </p:grpSp>
      <p:sp>
        <p:nvSpPr>
          <p:cNvPr id="8" name="TextBox 8"/>
          <p:cNvSpPr txBox="1"/>
          <p:nvPr/>
        </p:nvSpPr>
        <p:spPr>
          <a:xfrm>
            <a:off x="819304" y="3402753"/>
            <a:ext cx="14469911" cy="5909310"/>
          </a:xfrm>
          <a:prstGeom prst="rect">
            <a:avLst/>
          </a:prstGeom>
        </p:spPr>
        <p:txBody>
          <a:bodyPr lIns="0" tIns="0" rIns="0" bIns="0" rtlCol="0" anchor="t">
            <a:spAutoFit/>
          </a:bodyPr>
          <a:lstStyle/>
          <a:p>
            <a:pPr algn="just">
              <a:lnSpc>
                <a:spcPct val="120000"/>
              </a:lnSpc>
              <a:buNone/>
            </a:pPr>
            <a:r>
              <a:rPr lang="en-US" sz="4000" dirty="0">
                <a:latin typeface="Times New Roman" panose="02020603050405020304" pitchFamily="18" charset="0"/>
                <a:cs typeface="Times New Roman" panose="02020603050405020304" pitchFamily="18" charset="0"/>
                <a:sym typeface="+mn-ea"/>
              </a:rPr>
              <a:t>The </a:t>
            </a:r>
            <a:r>
              <a:rPr lang="en-US" sz="4000" b="1" dirty="0" err="1">
                <a:latin typeface="Times New Roman" panose="02020603050405020304" pitchFamily="18" charset="0"/>
                <a:cs typeface="Times New Roman" panose="02020603050405020304" pitchFamily="18" charset="0"/>
                <a:sym typeface="+mn-ea"/>
              </a:rPr>
              <a:t>IoT</a:t>
            </a:r>
            <a:r>
              <a:rPr lang="en-US" sz="4000" b="1" dirty="0">
                <a:latin typeface="Times New Roman" panose="02020603050405020304" pitchFamily="18" charset="0"/>
                <a:cs typeface="Times New Roman" panose="02020603050405020304" pitchFamily="18" charset="0"/>
                <a:sym typeface="+mn-ea"/>
              </a:rPr>
              <a:t>-powered AI-driven Hospital Management System</a:t>
            </a:r>
            <a:r>
              <a:rPr lang="en-US" sz="4000" dirty="0">
                <a:latin typeface="Times New Roman" panose="02020603050405020304" pitchFamily="18" charset="0"/>
                <a:cs typeface="Times New Roman" panose="02020603050405020304" pitchFamily="18" charset="0"/>
                <a:sym typeface="+mn-ea"/>
              </a:rPr>
              <a:t> enhances </a:t>
            </a:r>
            <a:r>
              <a:rPr lang="en-US" sz="4000" b="1" dirty="0">
                <a:latin typeface="Times New Roman" panose="02020603050405020304" pitchFamily="18" charset="0"/>
                <a:cs typeface="Times New Roman" panose="02020603050405020304" pitchFamily="18" charset="0"/>
                <a:sym typeface="+mn-ea"/>
              </a:rPr>
              <a:t>hospital efficiency, resource utilization, and patient care</a:t>
            </a:r>
            <a:r>
              <a:rPr lang="en-US" sz="4000" dirty="0">
                <a:latin typeface="Times New Roman" panose="02020603050405020304" pitchFamily="18" charset="0"/>
                <a:cs typeface="Times New Roman" panose="02020603050405020304" pitchFamily="18" charset="0"/>
                <a:sym typeface="+mn-ea"/>
              </a:rPr>
              <a:t> through </a:t>
            </a:r>
            <a:r>
              <a:rPr lang="en-US" sz="4000" b="1" dirty="0">
                <a:latin typeface="Times New Roman" panose="02020603050405020304" pitchFamily="18" charset="0"/>
                <a:cs typeface="Times New Roman" panose="02020603050405020304" pitchFamily="18" charset="0"/>
                <a:sym typeface="+mn-ea"/>
              </a:rPr>
              <a:t>real-time tracking, automated scheduling, and AI-driven analytics</a:t>
            </a:r>
            <a:r>
              <a:rPr lang="en-US" sz="4000" dirty="0">
                <a:latin typeface="Times New Roman" panose="02020603050405020304" pitchFamily="18" charset="0"/>
                <a:cs typeface="Times New Roman" panose="02020603050405020304" pitchFamily="18" charset="0"/>
                <a:sym typeface="+mn-ea"/>
              </a:rPr>
              <a:t>.</a:t>
            </a:r>
            <a:endParaRPr lang="en-US" sz="4000" dirty="0">
              <a:latin typeface="Times New Roman" panose="02020603050405020304" pitchFamily="18" charset="0"/>
              <a:cs typeface="Times New Roman" panose="02020603050405020304" pitchFamily="18" charset="0"/>
            </a:endParaRPr>
          </a:p>
          <a:p>
            <a:pPr marL="457200" indent="-457200" algn="just">
              <a:lnSpc>
                <a:spcPct val="120000"/>
              </a:lnSpc>
              <a:buFont typeface="Wingdings" panose="05000000000000000000" charset="0"/>
              <a:buChar char="v"/>
            </a:pPr>
            <a:r>
              <a:rPr lang="en-US" sz="4000" dirty="0">
                <a:latin typeface="Times New Roman" panose="02020603050405020304" pitchFamily="18" charset="0"/>
                <a:cs typeface="Times New Roman" panose="02020603050405020304" pitchFamily="18" charset="0"/>
                <a:sym typeface="+mn-ea"/>
              </a:rPr>
              <a:t> Optimized Patient Care </a:t>
            </a:r>
            <a:endParaRPr lang="en-US" sz="4000" dirty="0">
              <a:latin typeface="Times New Roman" panose="02020603050405020304" pitchFamily="18" charset="0"/>
              <a:cs typeface="Times New Roman" panose="02020603050405020304" pitchFamily="18" charset="0"/>
            </a:endParaRPr>
          </a:p>
          <a:p>
            <a:pPr marL="457200" indent="-457200" algn="just">
              <a:lnSpc>
                <a:spcPct val="120000"/>
              </a:lnSpc>
              <a:buFont typeface="Wingdings" panose="05000000000000000000" charset="0"/>
              <a:buChar char="v"/>
            </a:pPr>
            <a:r>
              <a:rPr lang="en-US" sz="4000" dirty="0">
                <a:latin typeface="Times New Roman" panose="02020603050405020304" pitchFamily="18" charset="0"/>
                <a:cs typeface="Times New Roman" panose="02020603050405020304" pitchFamily="18" charset="0"/>
                <a:sym typeface="+mn-ea"/>
              </a:rPr>
              <a:t> Smart Resource Management</a:t>
            </a:r>
            <a:endParaRPr lang="en-US" sz="4000" dirty="0">
              <a:latin typeface="Times New Roman" panose="02020603050405020304" pitchFamily="18" charset="0"/>
              <a:cs typeface="Times New Roman" panose="02020603050405020304" pitchFamily="18" charset="0"/>
            </a:endParaRPr>
          </a:p>
          <a:p>
            <a:pPr marL="457200" indent="-457200" algn="just">
              <a:lnSpc>
                <a:spcPct val="120000"/>
              </a:lnSpc>
              <a:buFont typeface="Wingdings" panose="05000000000000000000" charset="0"/>
              <a:buChar char="v"/>
            </a:pPr>
            <a:r>
              <a:rPr lang="en-US" sz="4000" dirty="0">
                <a:latin typeface="Times New Roman" panose="02020603050405020304" pitchFamily="18" charset="0"/>
                <a:cs typeface="Times New Roman" panose="02020603050405020304" pitchFamily="18" charset="0"/>
                <a:sym typeface="+mn-ea"/>
              </a:rPr>
              <a:t> Automated Workflows </a:t>
            </a:r>
            <a:endParaRPr lang="en-US" sz="4000" dirty="0">
              <a:latin typeface="Times New Roman" panose="02020603050405020304" pitchFamily="18" charset="0"/>
              <a:cs typeface="Times New Roman" panose="02020603050405020304" pitchFamily="18" charset="0"/>
            </a:endParaRPr>
          </a:p>
          <a:p>
            <a:pPr marL="457200" indent="-457200" algn="just">
              <a:lnSpc>
                <a:spcPct val="120000"/>
              </a:lnSpc>
              <a:buFont typeface="Wingdings" panose="05000000000000000000" charset="0"/>
              <a:buChar char="v"/>
            </a:pPr>
            <a:r>
              <a:rPr lang="en-US" sz="4000" dirty="0">
                <a:latin typeface="Times New Roman" panose="02020603050405020304" pitchFamily="18" charset="0"/>
                <a:cs typeface="Times New Roman" panose="02020603050405020304" pitchFamily="18" charset="0"/>
                <a:sym typeface="+mn-ea"/>
              </a:rPr>
              <a:t> AI-Driven Decision Making </a:t>
            </a:r>
            <a:endParaRPr lang="en-US" sz="4000" dirty="0">
              <a:solidFill>
                <a:srgbClr val="000000"/>
              </a:solidFill>
              <a:latin typeface="Times New Roman" panose="02020603050405020304" pitchFamily="18" charset="0"/>
              <a:ea typeface="Lora" panose="00000500000000000000"/>
              <a:cs typeface="Times New Roman" panose="02020603050405020304" pitchFamily="18" charset="0"/>
              <a:sym typeface="+mn-e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569</Words>
  <Application>Microsoft Office PowerPoint</Application>
  <PresentationFormat>Custom</PresentationFormat>
  <Paragraphs>73</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Lora</vt:lpstr>
      <vt:lpstr>Calibri</vt:lpstr>
      <vt:lpstr>Wingdings</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ARCHITECTURE DIAGRAM</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MANAGEMENT SYSTEM</dc:title>
  <dc:creator>admin</dc:creator>
  <cp:lastModifiedBy>pranathi reddy</cp:lastModifiedBy>
  <cp:revision>17</cp:revision>
  <dcterms:created xsi:type="dcterms:W3CDTF">2006-08-16T00:00:00Z</dcterms:created>
  <dcterms:modified xsi:type="dcterms:W3CDTF">2025-07-07T07:44:09Z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DA0DD728C5BC49A5BCF15B81DB277D3B_13</vt:lpwstr>
  </property>
  <property fmtid="{D5CDD505-2E9C-101B-9397-08002B2CF9AE}" pid="3" name="KSOProductBuildVer">
    <vt:lpwstr>1033-12.2.0.20326</vt:lpwstr>
  </property>
</Properties>
</file>